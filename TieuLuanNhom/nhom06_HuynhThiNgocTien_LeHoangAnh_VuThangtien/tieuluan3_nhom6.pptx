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2-->
<p:presentation xmlns:r="http://schemas.openxmlformats.org/officeDocument/2006/relationships" xmlns:a="http://schemas.openxmlformats.org/drawingml/2006/main"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23" r:id="rId56"/>
    <p:sldId id="322"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Lst>
  <p:sldSz cx="18288000" cy="10287000"/>
  <p:notesSz cx="6858000" cy="9144000"/>
  <p:embeddedFontLst>
    <p:embeddedFont>
      <p:font typeface="Calistoga" panose="020B0604020202020204" charset="0"/>
      <p:regular r:id="rId71"/>
    </p:embeddedFont>
    <p:embeddedFont>
      <p:font typeface="DM Serif Display" pitchFamily="2" charset="0"/>
      <p:regular r:id="rId72"/>
    </p:embeddedFont>
    <p:embeddedFont>
      <p:font typeface="Literata" panose="020B0604020202020204" charset="0"/>
      <p:regular r:id="rId73"/>
    </p:embeddedFont>
    <p:embeddedFont>
      <p:font typeface="Literata Bold" panose="020B0604020202020204" charset="0"/>
      <p:regular r:id="rId74"/>
    </p:embeddedFont>
    <p:embeddedFont>
      <p:font typeface="Literata Italics" panose="020B0604020202020204" charset="0"/>
      <p:regular r:id="rId75"/>
    </p:embeddedFont>
    <p:embeddedFont>
      <p:font typeface="Open Sauce" panose="020B0604020202020204" charset="0"/>
      <p:regular r:id="rId76"/>
    </p:embeddedFont>
    <p:embeddedFont>
      <p:font typeface="Open Sauce Bold" panose="020B0604020202020204" charset="0"/>
      <p:regular r:id="rId77"/>
    </p:embeddedFont>
  </p:embeddedFontLst>
  <p:custDataLst>
    <p:tags r:id="rId7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 Type="http://schemas.openxmlformats.org/officeDocument/2006/relationships/slide" Target="slides/slide4.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 Type="http://schemas.openxmlformats.org/officeDocument/2006/relationships/slide" Target="slides/slide5.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 Type="http://schemas.openxmlformats.org/officeDocument/2006/relationships/slide" Target="slides/slide6.xml" /><Relationship Id="rId70" Type="http://schemas.openxmlformats.org/officeDocument/2006/relationships/tags" Target="tags/tag1.xml" /><Relationship Id="rId71" Type="http://schemas.openxmlformats.org/officeDocument/2006/relationships/font" Target="fonts/font1.fntdata" /><Relationship Id="rId72" Type="http://schemas.openxmlformats.org/officeDocument/2006/relationships/font" Target="fonts/font2.fntdata" /><Relationship Id="rId73" Type="http://schemas.openxmlformats.org/officeDocument/2006/relationships/font" Target="fonts/font3.fntdata" /><Relationship Id="rId74" Type="http://schemas.openxmlformats.org/officeDocument/2006/relationships/font" Target="fonts/font4.fntdata" /><Relationship Id="rId75" Type="http://schemas.openxmlformats.org/officeDocument/2006/relationships/font" Target="fonts/font5.fntdata" /><Relationship Id="rId76" Type="http://schemas.openxmlformats.org/officeDocument/2006/relationships/font" Target="fonts/font6.fntdata" /><Relationship Id="rId77" Type="http://schemas.openxmlformats.org/officeDocument/2006/relationships/font" Target="fonts/font7.fntdata" /><Relationship Id="rId78" Type="http://schemas.openxmlformats.org/officeDocument/2006/relationships/presProps" Target="presProps.xml" /><Relationship Id="rId79" Type="http://schemas.openxmlformats.org/officeDocument/2006/relationships/viewProps" Target="viewProps.xml" /><Relationship Id="rId8" Type="http://schemas.openxmlformats.org/officeDocument/2006/relationships/slide" Target="slides/slide7.xml" /><Relationship Id="rId80" Type="http://schemas.openxmlformats.org/officeDocument/2006/relationships/theme" Target="theme/theme1.xml" /><Relationship Id="rId81" Type="http://schemas.openxmlformats.org/officeDocument/2006/relationships/tableStyles" Target="tableStyles.xml" /><Relationship Id="rId9" Type="http://schemas.openxmlformats.org/officeDocument/2006/relationships/slide" Target="slides/slide8.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1D8BD707-D9CF-40AE-B4C6-C98DA3205C09}" type="datetimeFigureOut">
              <a:rPr lang="en-US" smtClean="0"/>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 Id="rId5" Type="http://schemas.openxmlformats.org/officeDocument/2006/relationships/image" Target="../media/image5.jpe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5.jpe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jpeg" /><Relationship Id="rId4" Type="http://schemas.openxmlformats.org/officeDocument/2006/relationships/image" Target="../media/image4.jpe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6.jpe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7.jpe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8.jpe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9.jpe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0.jpeg"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1.jpe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2.jpe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3.jpe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4.jpe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5.jpe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6.jpe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7.jpeg"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8.jpeg"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19.jpeg"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0.jpeg" /><Relationship Id="rId4" Type="http://schemas.openxmlformats.org/officeDocument/2006/relationships/image" Target="../media/image21.jpeg"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2.jpeg"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3.jpeg" /><Relationship Id="rId4" Type="http://schemas.openxmlformats.org/officeDocument/2006/relationships/image" Target="../media/image24.jpeg"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5.jpeg"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6.jpeg"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7.jpeg"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7.jpeg" /><Relationship Id="rId4" Type="http://schemas.openxmlformats.org/officeDocument/2006/relationships/image" Target="../media/image28.jpeg"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29.jpeg"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0.jpeg"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1.png" /><Relationship Id="rId4" Type="http://schemas.openxmlformats.org/officeDocument/2006/relationships/image" Target="../media/image32.svg" /><Relationship Id="rId5" Type="http://schemas.openxmlformats.org/officeDocument/2006/relationships/image" Target="../media/image33.png" /><Relationship Id="rId6" Type="http://schemas.openxmlformats.org/officeDocument/2006/relationships/image" Target="../media/image34.svg" /><Relationship Id="rId7" Type="http://schemas.openxmlformats.org/officeDocument/2006/relationships/image" Target="../media/image35.png" /><Relationship Id="rId8" Type="http://schemas.openxmlformats.org/officeDocument/2006/relationships/image" Target="../media/image36.svg"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1.png" /><Relationship Id="rId4" Type="http://schemas.openxmlformats.org/officeDocument/2006/relationships/image" Target="../media/image37.svg" /><Relationship Id="rId5" Type="http://schemas.openxmlformats.org/officeDocument/2006/relationships/image" Target="../media/image33.png" /><Relationship Id="rId6" Type="http://schemas.openxmlformats.org/officeDocument/2006/relationships/image" Target="../media/image38.svg" /><Relationship Id="rId7" Type="http://schemas.openxmlformats.org/officeDocument/2006/relationships/image" Target="../media/image35.png" /><Relationship Id="rId8" Type="http://schemas.openxmlformats.org/officeDocument/2006/relationships/image" Target="../media/image39.svg"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jpeg" /><Relationship Id="rId3" Type="http://schemas.openxmlformats.org/officeDocument/2006/relationships/image" Target="../media/image31.png" /><Relationship Id="rId4" Type="http://schemas.openxmlformats.org/officeDocument/2006/relationships/image" Target="../media/image40.svg" /><Relationship Id="rId5" Type="http://schemas.openxmlformats.org/officeDocument/2006/relationships/image" Target="../media/image33.png" /><Relationship Id="rId6" Type="http://schemas.openxmlformats.org/officeDocument/2006/relationships/image" Target="../media/image41.svg" /><Relationship Id="rId7" Type="http://schemas.openxmlformats.org/officeDocument/2006/relationships/image" Target="../media/image35.png" /><Relationship Id="rId8" Type="http://schemas.openxmlformats.org/officeDocument/2006/relationships/image" Target="../media/image42.svg"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jpe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4485814" y="2752679"/>
            <a:ext cx="9316373" cy="2463165"/>
          </a:xfrm>
          <a:prstGeom prst="rect">
            <a:avLst/>
          </a:prstGeom>
        </p:spPr>
        <p:txBody>
          <a:bodyPr lIns="0" tIns="0" rIns="0" bIns="0" rtlCol="0" anchor="t">
            <a:spAutoFit/>
          </a:bodyPr>
          <a:lstStyle/>
          <a:p>
            <a:pPr algn="ctr">
              <a:lnSpc>
                <a:spcPts val="20160"/>
              </a:lnSpc>
            </a:pPr>
            <a:r>
              <a:rPr lang="en-US" sz="14400">
                <a:solidFill>
                  <a:srgbClr val="000000"/>
                </a:solidFill>
                <a:latin typeface="Literata"/>
                <a:ea typeface="Literata"/>
                <a:cs typeface="Literata"/>
                <a:sym typeface="Literata"/>
              </a:rPr>
              <a:t>Xử lí ảnh</a:t>
            </a:r>
          </a:p>
        </p:txBody>
      </p:sp>
      <p:sp>
        <p:nvSpPr>
          <p:cNvPr id="4" name="TextBox 4"/>
          <p:cNvSpPr txBox="1"/>
          <p:nvPr/>
        </p:nvSpPr>
        <p:spPr>
          <a:xfrm>
            <a:off x="3875273" y="5859133"/>
            <a:ext cx="9926914" cy="1019177"/>
          </a:xfrm>
          <a:prstGeom prst="rect">
            <a:avLst/>
          </a:prstGeom>
        </p:spPr>
        <p:txBody>
          <a:bodyPr lIns="0" tIns="0" rIns="0" bIns="0" rtlCol="0" anchor="t">
            <a:spAutoFit/>
          </a:bodyPr>
          <a:lstStyle/>
          <a:p>
            <a:pPr algn="ctr">
              <a:lnSpc>
                <a:spcPts val="8399"/>
              </a:lnSpc>
              <a:spcBef>
                <a:spcPct val="0"/>
              </a:spcBef>
            </a:pPr>
            <a:r>
              <a:rPr lang="en-US" sz="5999" spc="599">
                <a:solidFill>
                  <a:srgbClr val="000000"/>
                </a:solidFill>
                <a:latin typeface="Arial" pitchFamily="34" charset="0"/>
                <a:ea typeface="Open Sauce"/>
                <a:cs typeface="Arial" pitchFamily="34" charset="0"/>
                <a:sym typeface="Open Sauce"/>
              </a:rPr>
              <a:t>TIỂU LUẬN 3</a:t>
            </a:r>
          </a:p>
        </p:txBody>
      </p:sp>
      <p:sp>
        <p:nvSpPr>
          <p:cNvPr id="5" name="TextBox 5"/>
          <p:cNvSpPr txBox="1"/>
          <p:nvPr/>
        </p:nvSpPr>
        <p:spPr>
          <a:xfrm>
            <a:off x="7671329" y="8442325"/>
            <a:ext cx="2945342" cy="854076"/>
          </a:xfrm>
          <a:prstGeom prst="rect">
            <a:avLst/>
          </a:prstGeom>
        </p:spPr>
        <p:txBody>
          <a:bodyPr lIns="0" tIns="0" rIns="0" bIns="0" rtlCol="0" anchor="t">
            <a:spAutoFit/>
          </a:bodyPr>
          <a:lstStyle/>
          <a:p>
            <a:pPr algn="ctr">
              <a:lnSpc>
                <a:spcPts val="6999"/>
              </a:lnSpc>
              <a:spcBef>
                <a:spcPct val="0"/>
              </a:spcBef>
            </a:pPr>
            <a:r>
              <a:rPr lang="en-US" sz="4999">
                <a:solidFill>
                  <a:srgbClr val="000000">
                    <a:alpha val="49804"/>
                  </a:srgbClr>
                </a:solidFill>
                <a:latin typeface="DM Serif Display"/>
                <a:ea typeface="DM Serif Display"/>
                <a:cs typeface="DM Serif Display"/>
                <a:sym typeface="DM Serif Display"/>
              </a:rPr>
              <a:t>Nhóm 6</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448299" y="419417"/>
            <a:ext cx="7154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Mục lục và báo cáo</a:t>
            </a:r>
          </a:p>
        </p:txBody>
      </p:sp>
      <p:sp>
        <p:nvSpPr>
          <p:cNvPr id="4" name="TextBox 4"/>
          <p:cNvSpPr txBox="1"/>
          <p:nvPr/>
        </p:nvSpPr>
        <p:spPr>
          <a:xfrm>
            <a:off x="-2496397" y="9142095"/>
            <a:ext cx="4246190" cy="273685"/>
          </a:xfrm>
          <a:prstGeom prst="rect">
            <a:avLst/>
          </a:prstGeom>
        </p:spPr>
        <p:txBody>
          <a:bodyPr lIns="0" tIns="0" rIns="0" bIns="0" rtlCol="0" anchor="t">
            <a:spAutoFit/>
          </a:bodyPr>
          <a:lstStyle/>
          <a:p>
            <a:pPr marL="0" lvl="0" indent="0" algn="l">
              <a:lnSpc>
                <a:spcPts val="2239"/>
              </a:lnSpc>
              <a:spcBef>
                <a:spcPct val="0"/>
              </a:spcBef>
            </a:pPr>
            <a:r>
              <a:rPr lang="en-US" sz="1599" u="none" strike="noStrike" spc="159">
                <a:solidFill>
                  <a:srgbClr val="000000">
                    <a:alpha val="49804"/>
                  </a:srgbClr>
                </a:solidFill>
                <a:latin typeface="Open Sauce"/>
                <a:ea typeface="Open Sauce"/>
                <a:cs typeface="Open Sauce"/>
                <a:sym typeface="Open Sauce"/>
              </a:rPr>
              <a:t>STUDIO SHODWE</a:t>
            </a:r>
          </a:p>
        </p:txBody>
      </p:sp>
      <p:sp>
        <p:nvSpPr>
          <p:cNvPr id="5" name="AutoShape 5"/>
          <p:cNvSpPr/>
          <p:nvPr/>
        </p:nvSpPr>
        <p:spPr>
          <a:xfrm flipV="1">
            <a:off x="448299" y="1877839"/>
            <a:ext cx="6913660" cy="0"/>
          </a:xfrm>
          <a:prstGeom prst="line">
            <a:avLst/>
          </a:prstGeom>
          <a:ln w="762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2655652" y="2958687"/>
            <a:ext cx="3652156"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Thông tin chung</a:t>
            </a:r>
          </a:p>
        </p:txBody>
      </p:sp>
      <p:sp>
        <p:nvSpPr>
          <p:cNvPr id="7" name="TextBox 7"/>
          <p:cNvSpPr txBox="1"/>
          <p:nvPr/>
        </p:nvSpPr>
        <p:spPr>
          <a:xfrm>
            <a:off x="2655652" y="2276495"/>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1</a:t>
            </a:r>
          </a:p>
        </p:txBody>
      </p:sp>
      <p:sp>
        <p:nvSpPr>
          <p:cNvPr id="8" name="TextBox 8"/>
          <p:cNvSpPr txBox="1"/>
          <p:nvPr/>
        </p:nvSpPr>
        <p:spPr>
          <a:xfrm>
            <a:off x="7770747" y="2958687"/>
            <a:ext cx="4825736"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Giới thiệu project</a:t>
            </a:r>
          </a:p>
        </p:txBody>
      </p:sp>
      <p:sp>
        <p:nvSpPr>
          <p:cNvPr id="9" name="TextBox 9"/>
          <p:cNvSpPr txBox="1"/>
          <p:nvPr/>
        </p:nvSpPr>
        <p:spPr>
          <a:xfrm>
            <a:off x="7770747" y="2276495"/>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2</a:t>
            </a:r>
          </a:p>
        </p:txBody>
      </p:sp>
      <p:sp>
        <p:nvSpPr>
          <p:cNvPr id="10" name="TextBox 10"/>
          <p:cNvSpPr txBox="1"/>
          <p:nvPr/>
        </p:nvSpPr>
        <p:spPr>
          <a:xfrm>
            <a:off x="12885842" y="2958687"/>
            <a:ext cx="4163642"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Cơ sở lý thuyết</a:t>
            </a:r>
          </a:p>
        </p:txBody>
      </p:sp>
      <p:sp>
        <p:nvSpPr>
          <p:cNvPr id="11" name="TextBox 11"/>
          <p:cNvSpPr txBox="1"/>
          <p:nvPr/>
        </p:nvSpPr>
        <p:spPr>
          <a:xfrm>
            <a:off x="12885842" y="2276495"/>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3</a:t>
            </a:r>
          </a:p>
        </p:txBody>
      </p:sp>
      <p:sp>
        <p:nvSpPr>
          <p:cNvPr id="12" name="TextBox 12"/>
          <p:cNvSpPr txBox="1"/>
          <p:nvPr/>
        </p:nvSpPr>
        <p:spPr>
          <a:xfrm>
            <a:off x="2655652" y="5505966"/>
            <a:ext cx="4946990"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Thiết kế &amp; Phương pháp</a:t>
            </a:r>
          </a:p>
        </p:txBody>
      </p:sp>
      <p:sp>
        <p:nvSpPr>
          <p:cNvPr id="13" name="TextBox 13"/>
          <p:cNvSpPr txBox="1"/>
          <p:nvPr/>
        </p:nvSpPr>
        <p:spPr>
          <a:xfrm>
            <a:off x="2655652" y="4823774"/>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4</a:t>
            </a:r>
          </a:p>
        </p:txBody>
      </p:sp>
      <p:sp>
        <p:nvSpPr>
          <p:cNvPr id="14" name="TextBox 14"/>
          <p:cNvSpPr txBox="1"/>
          <p:nvPr/>
        </p:nvSpPr>
        <p:spPr>
          <a:xfrm>
            <a:off x="7770747" y="5505966"/>
            <a:ext cx="4119747"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Cài đặt &amp; Minh họa</a:t>
            </a:r>
          </a:p>
        </p:txBody>
      </p:sp>
      <p:sp>
        <p:nvSpPr>
          <p:cNvPr id="15" name="TextBox 15"/>
          <p:cNvSpPr txBox="1"/>
          <p:nvPr/>
        </p:nvSpPr>
        <p:spPr>
          <a:xfrm>
            <a:off x="7770747" y="4823774"/>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5</a:t>
            </a:r>
          </a:p>
        </p:txBody>
      </p:sp>
      <p:sp>
        <p:nvSpPr>
          <p:cNvPr id="16" name="TextBox 16"/>
          <p:cNvSpPr txBox="1"/>
          <p:nvPr/>
        </p:nvSpPr>
        <p:spPr>
          <a:xfrm>
            <a:off x="12885842" y="5505966"/>
            <a:ext cx="4163642"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Kết quả &amp; Đánh giá</a:t>
            </a:r>
          </a:p>
        </p:txBody>
      </p:sp>
      <p:sp>
        <p:nvSpPr>
          <p:cNvPr id="17" name="TextBox 17"/>
          <p:cNvSpPr txBox="1"/>
          <p:nvPr/>
        </p:nvSpPr>
        <p:spPr>
          <a:xfrm>
            <a:off x="12885842" y="4823774"/>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6</a:t>
            </a:r>
          </a:p>
        </p:txBody>
      </p:sp>
      <p:sp>
        <p:nvSpPr>
          <p:cNvPr id="18" name="TextBox 18"/>
          <p:cNvSpPr txBox="1"/>
          <p:nvPr/>
        </p:nvSpPr>
        <p:spPr>
          <a:xfrm>
            <a:off x="2655652" y="8266268"/>
            <a:ext cx="4093770" cy="618151"/>
          </a:xfrm>
          <a:prstGeom prst="rect">
            <a:avLst/>
          </a:prstGeom>
        </p:spPr>
        <p:txBody>
          <a:bodyPr lIns="0" tIns="0" rIns="0" bIns="0" rtlCol="0" anchor="t">
            <a:spAutoFit/>
          </a:bodyPr>
          <a:lstStyle/>
          <a:p>
            <a:pPr algn="l">
              <a:lnSpc>
                <a:spcPts val="5130"/>
              </a:lnSpc>
            </a:pPr>
            <a:r>
              <a:rPr lang="en-US" sz="3206" b="1">
                <a:solidFill>
                  <a:srgbClr val="000000"/>
                </a:solidFill>
                <a:latin typeface="Literata Bold"/>
                <a:ea typeface="Literata Bold"/>
                <a:cs typeface="Literata Bold"/>
                <a:sym typeface="Literata Bold"/>
              </a:rPr>
              <a:t>Kết luận &amp; Đề xuất</a:t>
            </a:r>
          </a:p>
        </p:txBody>
      </p:sp>
      <p:sp>
        <p:nvSpPr>
          <p:cNvPr id="19" name="TextBox 19"/>
          <p:cNvSpPr txBox="1"/>
          <p:nvPr/>
        </p:nvSpPr>
        <p:spPr>
          <a:xfrm>
            <a:off x="2655652" y="7581442"/>
            <a:ext cx="3652156" cy="608626"/>
          </a:xfrm>
          <a:prstGeom prst="rect">
            <a:avLst/>
          </a:prstGeom>
        </p:spPr>
        <p:txBody>
          <a:bodyPr lIns="0" tIns="0" rIns="0" bIns="0" rtlCol="0" anchor="t">
            <a:spAutoFit/>
          </a:bodyPr>
          <a:lstStyle/>
          <a:p>
            <a:pPr algn="l">
              <a:lnSpc>
                <a:spcPts val="5130"/>
              </a:lnSpc>
            </a:pPr>
            <a:r>
              <a:rPr lang="en-US" sz="3206">
                <a:solidFill>
                  <a:srgbClr val="000000"/>
                </a:solidFill>
                <a:latin typeface="Open Sauce"/>
                <a:ea typeface="Open Sauce"/>
                <a:cs typeface="Open Sauce"/>
                <a:sym typeface="Open Sauce"/>
              </a:rPr>
              <a:t>7</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4" name="TextBox 4"/>
          <p:cNvSpPr txBox="1"/>
          <p:nvPr/>
        </p:nvSpPr>
        <p:spPr>
          <a:xfrm>
            <a:off x="473360" y="419417"/>
            <a:ext cx="7907684"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1. Thông tin chung</a:t>
            </a:r>
          </a:p>
        </p:txBody>
      </p:sp>
      <p:sp>
        <p:nvSpPr>
          <p:cNvPr id="5" name="TextBox 5"/>
          <p:cNvSpPr txBox="1"/>
          <p:nvPr/>
        </p:nvSpPr>
        <p:spPr>
          <a:xfrm>
            <a:off x="4343400" y="4281898"/>
            <a:ext cx="16048948" cy="845712"/>
          </a:xfrm>
          <a:prstGeom prst="rect">
            <a:avLst/>
          </a:prstGeom>
        </p:spPr>
        <p:txBody>
          <a:bodyPr lIns="0" tIns="0" rIns="0" bIns="0" rtlCol="0" anchor="t">
            <a:spAutoFit/>
          </a:bodyPr>
          <a:lstStyle/>
          <a:p>
            <a:pPr marL="0" lvl="0" indent="0" algn="l">
              <a:lnSpc>
                <a:spcPts val="6935"/>
              </a:lnSpc>
              <a:spcBef>
                <a:spcPct val="0"/>
              </a:spcBef>
            </a:pPr>
            <a:r>
              <a:rPr lang="en-US" sz="4954">
                <a:solidFill>
                  <a:srgbClr val="000000"/>
                </a:solidFill>
                <a:latin typeface="Literata"/>
                <a:ea typeface="Literata"/>
                <a:cs typeface="Literata"/>
                <a:sym typeface="Literata"/>
              </a:rPr>
              <a:t>Huỳnh Thị Ngọc Tiên - 23681811</a:t>
            </a:r>
            <a:endParaRPr lang="en-US" sz="4954" i="1">
              <a:solidFill>
                <a:srgbClr val="000000"/>
              </a:solidFill>
              <a:latin typeface="Literata Italics"/>
              <a:ea typeface="Literata Italics"/>
              <a:cs typeface="Literata Italics"/>
              <a:sym typeface="Literata Italics"/>
            </a:endParaRPr>
          </a:p>
        </p:txBody>
      </p:sp>
      <p:sp>
        <p:nvSpPr>
          <p:cNvPr id="6" name="TextBox 6"/>
          <p:cNvSpPr txBox="1"/>
          <p:nvPr/>
        </p:nvSpPr>
        <p:spPr>
          <a:xfrm>
            <a:off x="4343400" y="2857500"/>
            <a:ext cx="7620018" cy="845712"/>
          </a:xfrm>
          <a:prstGeom prst="rect">
            <a:avLst/>
          </a:prstGeom>
        </p:spPr>
        <p:txBody>
          <a:bodyPr wrap="square" lIns="0" tIns="0" rIns="0" bIns="0" rtlCol="0" anchor="t">
            <a:spAutoFit/>
          </a:bodyPr>
          <a:lstStyle/>
          <a:p>
            <a:pPr marL="0" lvl="0" indent="0" algn="l">
              <a:lnSpc>
                <a:spcPts val="6935"/>
              </a:lnSpc>
              <a:spcBef>
                <a:spcPct val="0"/>
              </a:spcBef>
            </a:pPr>
            <a:r>
              <a:rPr lang="en-US" sz="4954">
                <a:solidFill>
                  <a:srgbClr val="000000"/>
                </a:solidFill>
                <a:latin typeface="Literata"/>
                <a:ea typeface="Literata"/>
                <a:cs typeface="Literata"/>
                <a:sym typeface="Literata"/>
              </a:rPr>
              <a:t>Lê Hoàng Anh - 23676671</a:t>
            </a:r>
            <a:endParaRPr lang="en-US" sz="4954" i="1">
              <a:solidFill>
                <a:srgbClr val="000000"/>
              </a:solidFill>
              <a:latin typeface="Literata Italics"/>
              <a:ea typeface="Literata Italics"/>
              <a:cs typeface="Literata Italics"/>
              <a:sym typeface="Literata Italics"/>
            </a:endParaRPr>
          </a:p>
        </p:txBody>
      </p:sp>
      <p:sp>
        <p:nvSpPr>
          <p:cNvPr id="7" name="TextBox 7"/>
          <p:cNvSpPr txBox="1"/>
          <p:nvPr/>
        </p:nvSpPr>
        <p:spPr>
          <a:xfrm>
            <a:off x="4328615" y="5706296"/>
            <a:ext cx="16010865" cy="845712"/>
          </a:xfrm>
          <a:prstGeom prst="rect">
            <a:avLst/>
          </a:prstGeom>
        </p:spPr>
        <p:txBody>
          <a:bodyPr lIns="0" tIns="0" rIns="0" bIns="0" rtlCol="0" anchor="t">
            <a:spAutoFit/>
          </a:bodyPr>
          <a:lstStyle/>
          <a:p>
            <a:pPr marL="0" lvl="0" indent="0" algn="l">
              <a:lnSpc>
                <a:spcPts val="6935"/>
              </a:lnSpc>
              <a:spcBef>
                <a:spcPct val="0"/>
              </a:spcBef>
            </a:pPr>
            <a:r>
              <a:rPr lang="en-US" sz="4954">
                <a:solidFill>
                  <a:srgbClr val="000000"/>
                </a:solidFill>
                <a:latin typeface="Literata"/>
                <a:ea typeface="Literata"/>
                <a:cs typeface="Literata"/>
                <a:sym typeface="Literata"/>
              </a:rPr>
              <a:t>Vũ Thăng Tiến - 23709521</a:t>
            </a:r>
            <a:endParaRPr lang="en-US" sz="4954" i="1">
              <a:solidFill>
                <a:srgbClr val="000000"/>
              </a:solidFill>
              <a:latin typeface="Literata Italics"/>
              <a:ea typeface="Literata Italics"/>
              <a:cs typeface="Literata Italics"/>
              <a:sym typeface="Literata Italics"/>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768881" y="2309927"/>
            <a:ext cx="15010011" cy="1752600"/>
          </a:xfrm>
          <a:prstGeom prst="rect">
            <a:avLst/>
          </a:prstGeom>
        </p:spPr>
        <p:txBody>
          <a:bodyPr lIns="0" tIns="0" rIns="0" bIns="0" rtlCol="0" anchor="t">
            <a:spAutoFit/>
          </a:bodyPr>
          <a:lstStyle/>
          <a:p>
            <a:pPr marL="0" lvl="0" indent="0" algn="l">
              <a:lnSpc>
                <a:spcPts val="4799"/>
              </a:lnSpc>
            </a:pPr>
            <a:r>
              <a:rPr lang="en-US" sz="2999">
                <a:solidFill>
                  <a:srgbClr val="000000"/>
                </a:solidFill>
                <a:latin typeface="Literata"/>
                <a:ea typeface="Literata"/>
                <a:cs typeface="Literata"/>
                <a:sym typeface="Literata"/>
              </a:rPr>
              <a:t>+ Bài toá</a:t>
            </a:r>
            <a:r>
              <a:rPr lang="en-US" sz="2999" u="none" strike="noStrike">
                <a:solidFill>
                  <a:srgbClr val="000000"/>
                </a:solidFill>
                <a:latin typeface="Literata"/>
                <a:ea typeface="Literata"/>
                <a:cs typeface="Literata"/>
                <a:sym typeface="Literata"/>
              </a:rPr>
              <a:t>n segmentation được ứng dụng trong phân đoạn ảnh y tế, chẳng hạn xác định vùng khối u trong ảnh MRI não để hỗ trợ chẩn đoán. Ngoài ra, còn dùng trong xe tự lái, ảnh vệ tinh, kiểm tra sản phẩm công nghiệp, và nhận dạng đối tượng.</a:t>
            </a:r>
          </a:p>
        </p:txBody>
      </p:sp>
      <p:grpSp>
        <p:nvGrpSpPr>
          <p:cNvPr id="4" name="Group 4"/>
          <p:cNvGrpSpPr/>
          <p:nvPr/>
        </p:nvGrpSpPr>
        <p:grpSpPr>
          <a:xfrm>
            <a:off x="545146" y="1784896"/>
            <a:ext cx="909958" cy="909958"/>
            <a:chExt cx="812800" cy="812800"/>
          </a:xfrm>
        </p:grpSpPr>
        <p:sp>
          <p:nvSpPr>
            <p:cNvPr id="5" name="Freeform 5"/>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txBody>
            <a:bodyPr/>
            <a:lstStyle/>
            <a:p>
              <a:endParaRPr lang="en-US"/>
            </a:p>
          </p:txBody>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591613" y="1873480"/>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1</a:t>
            </a:r>
          </a:p>
        </p:txBody>
      </p:sp>
      <p:sp>
        <p:nvSpPr>
          <p:cNvPr id="8" name="TextBox 8"/>
          <p:cNvSpPr txBox="1"/>
          <p:nvPr/>
        </p:nvSpPr>
        <p:spPr>
          <a:xfrm>
            <a:off x="1759782" y="5140422"/>
            <a:ext cx="15490419" cy="3009900"/>
          </a:xfrm>
          <a:prstGeom prst="rect">
            <a:avLst/>
          </a:prstGeom>
        </p:spPr>
        <p:txBody>
          <a:bodyPr lIns="0" tIns="0" rIns="0" bIns="0" rtlCol="0" anchor="t">
            <a:spAutoFit/>
          </a:bodyPr>
          <a:lstStyle/>
          <a:p>
            <a:pPr algn="l">
              <a:lnSpc>
                <a:spcPts val="4800"/>
              </a:lnSpc>
            </a:pPr>
            <a:r>
              <a:rPr lang="en-US" sz="3000">
                <a:solidFill>
                  <a:srgbClr val="000000"/>
                </a:solidFill>
                <a:latin typeface="Literata"/>
                <a:ea typeface="Literata"/>
                <a:cs typeface="Literata"/>
                <a:sym typeface="Literata"/>
              </a:rPr>
              <a:t>+ Ý nghĩa: Giúp chia ảnh thành các vùng có ý nghĩ</a:t>
            </a:r>
            <a:r>
              <a:rPr lang="en-US" sz="3000" u="none" strike="noStrike" err="1">
                <a:solidFill>
                  <a:srgbClr val="000000"/>
                </a:solidFill>
                <a:latin typeface="Literata"/>
                <a:ea typeface="Literata"/>
                <a:cs typeface="Literata"/>
                <a:sym typeface="Literata"/>
              </a:rPr>
              <a:t>a, hỗ trợ máy tính hiểu rõ nội dung ảnh.</a:t>
            </a:r>
          </a:p>
          <a:p>
            <a:pPr algn="l">
              <a:lnSpc>
                <a:spcPts val="4800"/>
              </a:lnSpc>
            </a:pPr>
            <a:r>
              <a:rPr lang="en-US" sz="3000" u="none" strike="noStrike">
                <a:solidFill>
                  <a:srgbClr val="000000"/>
                </a:solidFill>
                <a:latin typeface="Literata"/>
                <a:ea typeface="Literata"/>
                <a:cs typeface="Literata"/>
                <a:sym typeface="Literata"/>
              </a:rPr>
              <a:t>+ Ứng dụng:</a:t>
            </a:r>
          </a:p>
          <a:p>
            <a:pPr marL="647700" lvl="1" indent="-323850" algn="l">
              <a:lnSpc>
                <a:spcPts val="4800"/>
              </a:lnSpc>
              <a:buFont typeface="Arial"/>
              <a:buChar char="•"/>
            </a:pPr>
            <a:r>
              <a:rPr lang="en-US" sz="3000" u="none" strike="noStrike">
                <a:solidFill>
                  <a:srgbClr val="000000"/>
                </a:solidFill>
                <a:latin typeface="Literata"/>
                <a:ea typeface="Literata"/>
                <a:cs typeface="Literata"/>
                <a:sym typeface="Literata"/>
              </a:rPr>
              <a:t>Y tế: Tách khối u, mô bệnh.</a:t>
            </a:r>
          </a:p>
          <a:p>
            <a:pPr marL="647700" lvl="1" indent="-323850" algn="l">
              <a:lnSpc>
                <a:spcPts val="4800"/>
              </a:lnSpc>
              <a:buFont typeface="Arial"/>
              <a:buChar char="•"/>
            </a:pPr>
            <a:r>
              <a:rPr lang="en-US" sz="3000" u="none" strike="noStrike">
                <a:solidFill>
                  <a:srgbClr val="000000"/>
                </a:solidFill>
                <a:latin typeface="Literata"/>
                <a:ea typeface="Literata"/>
                <a:cs typeface="Literata"/>
                <a:sym typeface="Literata"/>
              </a:rPr>
              <a:t>Xe tự hành: Xác định làn đường, vật cản.</a:t>
            </a:r>
          </a:p>
        </p:txBody>
      </p:sp>
      <p:grpSp>
        <p:nvGrpSpPr>
          <p:cNvPr id="9" name="Group 9"/>
          <p:cNvGrpSpPr/>
          <p:nvPr/>
        </p:nvGrpSpPr>
        <p:grpSpPr>
          <a:xfrm>
            <a:off x="573721" y="4390604"/>
            <a:ext cx="909958" cy="909958"/>
            <a:chExt cx="812800" cy="812800"/>
          </a:xfrm>
        </p:grpSpPr>
        <p:sp>
          <p:nvSpPr>
            <p:cNvPr id="10" name="Freeform 10"/>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657131" y="4479189"/>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2</a:t>
            </a:r>
          </a:p>
        </p:txBody>
      </p:sp>
      <p:sp>
        <p:nvSpPr>
          <p:cNvPr id="13" name="TextBox 13"/>
          <p:cNvSpPr txBox="1"/>
          <p:nvPr/>
        </p:nvSpPr>
        <p:spPr>
          <a:xfrm>
            <a:off x="1829608" y="8733708"/>
            <a:ext cx="15867261" cy="1119505"/>
          </a:xfrm>
          <a:prstGeom prst="rect">
            <a:avLst/>
          </a:prstGeom>
        </p:spPr>
        <p:txBody>
          <a:bodyPr lIns="0" tIns="0" rIns="0" bIns="0" rtlCol="0" anchor="t">
            <a:spAutoFit/>
          </a:bodyPr>
          <a:lstStyle/>
          <a:p>
            <a:pPr marL="0" lvl="0" indent="0" algn="l">
              <a:lnSpc>
                <a:spcPts val="4479"/>
              </a:lnSpc>
            </a:pPr>
            <a:r>
              <a:rPr lang="en-US" sz="2799">
                <a:solidFill>
                  <a:srgbClr val="000000"/>
                </a:solidFill>
                <a:latin typeface="Literata"/>
                <a:ea typeface="Literata"/>
                <a:cs typeface="Literata"/>
                <a:sym typeface="Literata"/>
              </a:rPr>
              <a:t>+ Tìm hiểu và áp dụ</a:t>
            </a:r>
            <a:r>
              <a:rPr lang="en-US" sz="2799" u="none" strike="noStrike">
                <a:solidFill>
                  <a:srgbClr val="000000"/>
                </a:solidFill>
                <a:latin typeface="Literata"/>
                <a:ea typeface="Literata"/>
                <a:cs typeface="Literata"/>
                <a:sym typeface="Literata"/>
              </a:rPr>
              <a:t>ng các kỹ thuật phân đoạn ảnh (Thresholding, Region Growing</a:t>
            </a:r>
          </a:p>
          <a:p>
            <a:pPr marL="0" lvl="0" indent="0" algn="l">
              <a:lnSpc>
                <a:spcPts val="4799"/>
              </a:lnSpc>
            </a:pPr>
            <a:r>
              <a:rPr lang="en-US" sz="2999" u="none" strike="noStrike">
                <a:solidFill>
                  <a:srgbClr val="000000"/>
                </a:solidFill>
                <a:latin typeface="Literata"/>
                <a:ea typeface="Literata"/>
                <a:cs typeface="Literata"/>
                <a:sym typeface="Literata"/>
              </a:rPr>
              <a:t> Connected Components và Contour, Boundary Representation).</a:t>
            </a:r>
          </a:p>
        </p:txBody>
      </p:sp>
      <p:grpSp>
        <p:nvGrpSpPr>
          <p:cNvPr id="14" name="Group 14"/>
          <p:cNvGrpSpPr/>
          <p:nvPr/>
        </p:nvGrpSpPr>
        <p:grpSpPr>
          <a:xfrm>
            <a:off x="610663" y="8031078"/>
            <a:ext cx="909958" cy="909958"/>
            <a:chExt cx="812800" cy="812800"/>
          </a:xfrm>
        </p:grpSpPr>
        <p:sp>
          <p:nvSpPr>
            <p:cNvPr id="15" name="Freeform 15"/>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txBody>
            <a:bodyPr/>
            <a:lstStyle/>
            <a:p>
              <a:endParaRPr lang="en-US"/>
            </a:p>
          </p:txBody>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7" name="TextBox 17"/>
          <p:cNvSpPr txBox="1"/>
          <p:nvPr/>
        </p:nvSpPr>
        <p:spPr>
          <a:xfrm>
            <a:off x="638081" y="8129188"/>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3</a:t>
            </a:r>
          </a:p>
        </p:txBody>
      </p:sp>
      <p:sp>
        <p:nvSpPr>
          <p:cNvPr id="18" name="TextBox 1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19" name="TextBox 19"/>
          <p:cNvSpPr txBox="1"/>
          <p:nvPr/>
        </p:nvSpPr>
        <p:spPr>
          <a:xfrm>
            <a:off x="473360" y="419417"/>
            <a:ext cx="7907684"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2. Giới thiệu project</a:t>
            </a:r>
          </a:p>
        </p:txBody>
      </p:sp>
      <p:sp>
        <p:nvSpPr>
          <p:cNvPr id="20" name="TextBox 20"/>
          <p:cNvSpPr txBox="1"/>
          <p:nvPr/>
        </p:nvSpPr>
        <p:spPr>
          <a:xfrm>
            <a:off x="1334308" y="1722755"/>
            <a:ext cx="4418792" cy="592855"/>
          </a:xfrm>
          <a:prstGeom prst="rect">
            <a:avLst/>
          </a:prstGeom>
        </p:spPr>
        <p:txBody>
          <a:bodyPr wrap="square" lIns="0" tIns="0" rIns="0" bIns="0" rtlCol="0" anchor="t">
            <a:spAutoFit/>
          </a:bodyPr>
          <a:lstStyle/>
          <a:p>
            <a:pPr algn="ctr">
              <a:lnSpc>
                <a:spcPts val="5130"/>
              </a:lnSpc>
              <a:spcBef>
                <a:spcPct val="0"/>
              </a:spcBef>
            </a:pPr>
            <a:r>
              <a:rPr lang="en-US" sz="3206" b="1" err="1">
                <a:solidFill>
                  <a:srgbClr val="000000"/>
                </a:solidFill>
                <a:latin typeface="Literata Bold"/>
                <a:ea typeface="Literata Bold"/>
                <a:cs typeface="Literata Bold"/>
                <a:sym typeface="Literata Bold"/>
              </a:rPr>
              <a:t>Bài toán thực tế</a:t>
            </a:r>
            <a:endParaRPr lang="en-US" sz="3206" b="1">
              <a:solidFill>
                <a:srgbClr val="000000"/>
              </a:solidFill>
              <a:latin typeface="Literata Bold"/>
              <a:ea typeface="Literata Bold"/>
              <a:cs typeface="Literata Bold"/>
              <a:sym typeface="Literata Bold"/>
            </a:endParaRPr>
          </a:p>
        </p:txBody>
      </p:sp>
      <p:sp>
        <p:nvSpPr>
          <p:cNvPr id="21" name="TextBox 21"/>
          <p:cNvSpPr txBox="1"/>
          <p:nvPr/>
        </p:nvSpPr>
        <p:spPr>
          <a:xfrm>
            <a:off x="1334308" y="4542584"/>
            <a:ext cx="5409392" cy="592855"/>
          </a:xfrm>
          <a:prstGeom prst="rect">
            <a:avLst/>
          </a:prstGeom>
        </p:spPr>
        <p:txBody>
          <a:bodyPr wrap="square" lIns="0" tIns="0" rIns="0" bIns="0" rtlCol="0" anchor="t">
            <a:spAutoFit/>
          </a:bodyPr>
          <a:lstStyle/>
          <a:p>
            <a:pPr algn="ctr">
              <a:lnSpc>
                <a:spcPts val="5130"/>
              </a:lnSpc>
              <a:spcBef>
                <a:spcPct val="0"/>
              </a:spcBef>
            </a:pPr>
            <a:r>
              <a:rPr lang="en-US" sz="3206" b="1">
                <a:solidFill>
                  <a:srgbClr val="000000"/>
                </a:solidFill>
                <a:latin typeface="Literata Bold"/>
                <a:ea typeface="Literata Bold"/>
                <a:cs typeface="Literata Bold"/>
                <a:sym typeface="Literata Bold"/>
              </a:rPr>
              <a:t>Ý nghĩa &amp; Ứng dụng</a:t>
            </a:r>
            <a:endParaRPr lang="en-US" sz="3206" b="1">
              <a:solidFill>
                <a:srgbClr val="000000"/>
              </a:solidFill>
              <a:latin typeface="Literata Bold"/>
              <a:ea typeface="Literata Bold"/>
              <a:cs typeface="Literata Bold"/>
              <a:sym typeface="Literata Bold"/>
            </a:endParaRPr>
          </a:p>
        </p:txBody>
      </p:sp>
      <p:sp>
        <p:nvSpPr>
          <p:cNvPr id="22" name="TextBox 22"/>
          <p:cNvSpPr txBox="1"/>
          <p:nvPr/>
        </p:nvSpPr>
        <p:spPr>
          <a:xfrm>
            <a:off x="1858041" y="8150322"/>
            <a:ext cx="3447013" cy="618151"/>
          </a:xfrm>
          <a:prstGeom prst="rect">
            <a:avLst/>
          </a:prstGeom>
        </p:spPr>
        <p:txBody>
          <a:bodyPr lIns="0" tIns="0" rIns="0" bIns="0" rtlCol="0" anchor="t">
            <a:spAutoFit/>
          </a:bodyPr>
          <a:lstStyle/>
          <a:p>
            <a:pPr algn="ctr">
              <a:lnSpc>
                <a:spcPts val="5130"/>
              </a:lnSpc>
              <a:spcBef>
                <a:spcPct val="0"/>
              </a:spcBef>
            </a:pPr>
            <a:r>
              <a:rPr lang="en-US" sz="3206" b="1" err="1">
                <a:solidFill>
                  <a:srgbClr val="000000"/>
                </a:solidFill>
                <a:latin typeface="Literata Bold"/>
                <a:ea typeface="Literata Bold"/>
                <a:cs typeface="Literata Bold"/>
                <a:sym typeface="Literata Bold"/>
              </a:rPr>
              <a:t>Mục tiêu project</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7907684"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Cơ sở lí thuyết</a:t>
            </a:r>
          </a:p>
        </p:txBody>
      </p:sp>
      <p:sp>
        <p:nvSpPr>
          <p:cNvPr id="5" name="TextBox 5"/>
          <p:cNvSpPr txBox="1"/>
          <p:nvPr/>
        </p:nvSpPr>
        <p:spPr>
          <a:xfrm>
            <a:off x="921790" y="1806340"/>
            <a:ext cx="16724367" cy="3856651"/>
          </a:xfrm>
          <a:prstGeom prst="rect">
            <a:avLst/>
          </a:prstGeom>
        </p:spPr>
        <p:txBody>
          <a:bodyPr lIns="0" tIns="0" rIns="0" bIns="0" rtlCol="0" anchor="t">
            <a:spAutoFit/>
          </a:bodyPr>
          <a:lstStyle/>
          <a:p>
            <a:pPr algn="l">
              <a:lnSpc>
                <a:spcPts val="5130"/>
              </a:lnSpc>
              <a:spcBef>
                <a:spcPct val="0"/>
              </a:spcBef>
            </a:pPr>
            <a:r>
              <a:rPr lang="en-US" sz="3206" b="1">
                <a:solidFill>
                  <a:srgbClr val="000000"/>
                </a:solidFill>
                <a:latin typeface="Literata Bold"/>
                <a:ea typeface="Literata Bold"/>
                <a:cs typeface="Literata Bold"/>
                <a:sym typeface="Literata Bold"/>
              </a:rPr>
              <a:t>Kiến thức xử lí ảnh:</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Dilation (Giãn nở): Mở rộng vùng sáng (1) trong ảnh, dùng để nối các điểm đứt.</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Erosion (Co): Thu nhỏ vùng sáng, loại bỏ nhiễu nhỏ.</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Opening = Erosion + Dilation: Làm mượt biên, loại bỏ chi tiết nhỏ.</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Closing = Dilation + Erosion: Lấp lỗ nhỏ và nối các vùng gần nhau.</a:t>
            </a:r>
          </a:p>
          <a:p>
            <a:pPr algn="ctr">
              <a:lnSpc>
                <a:spcPts val="5130"/>
              </a:lnSpc>
              <a:spcBef>
                <a:spcPct val="0"/>
              </a:spcBef>
            </a:pPr>
            <a:endParaRPr lang="en-US" sz="3206">
              <a:solidFill>
                <a:srgbClr val="000000"/>
              </a:solidFill>
              <a:latin typeface="Literata"/>
              <a:ea typeface="Literata"/>
              <a:cs typeface="Literata"/>
              <a:sym typeface="Literata"/>
            </a:endParaRPr>
          </a:p>
        </p:txBody>
      </p:sp>
      <p:sp>
        <p:nvSpPr>
          <p:cNvPr id="6" name="TextBox 6"/>
          <p:cNvSpPr txBox="1"/>
          <p:nvPr/>
        </p:nvSpPr>
        <p:spPr>
          <a:xfrm>
            <a:off x="921790" y="5529641"/>
            <a:ext cx="16444421" cy="3208951"/>
          </a:xfrm>
          <a:prstGeom prst="rect">
            <a:avLst/>
          </a:prstGeom>
        </p:spPr>
        <p:txBody>
          <a:bodyPr lIns="0" tIns="0" rIns="0" bIns="0" rtlCol="0" anchor="t">
            <a:spAutoFit/>
          </a:bodyPr>
          <a:lstStyle/>
          <a:p>
            <a:pPr algn="l">
              <a:lnSpc>
                <a:spcPts val="5130"/>
              </a:lnSpc>
              <a:spcBef>
                <a:spcPct val="0"/>
              </a:spcBef>
            </a:pPr>
            <a:r>
              <a:rPr lang="en-US" sz="3206" b="1">
                <a:solidFill>
                  <a:srgbClr val="000000"/>
                </a:solidFill>
                <a:latin typeface="Literata Bold"/>
                <a:ea typeface="Literata Bold"/>
                <a:cs typeface="Literata Bold"/>
                <a:sym typeface="Literata Bold"/>
              </a:rPr>
              <a:t>Lý thuyết công cụ:</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OpenCV (cv2): Đọc/ghi ảnh, xử lý pixel.</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NumPy: Tính toán log, gamma, xây dựng hàm LUT.</a:t>
            </a:r>
          </a:p>
          <a:p>
            <a:pPr marL="692320" lvl="1" indent="-346160" algn="l">
              <a:lnSpc>
                <a:spcPts val="5130"/>
              </a:lnSpc>
              <a:spcBef>
                <a:spcPct val="0"/>
              </a:spcBef>
              <a:buFont typeface="Arial"/>
              <a:buChar char="•"/>
            </a:pPr>
            <a:r>
              <a:rPr lang="en-US" sz="3206">
                <a:solidFill>
                  <a:srgbClr val="000000"/>
                </a:solidFill>
                <a:latin typeface="Literata"/>
                <a:ea typeface="Literata"/>
                <a:cs typeface="Literata"/>
                <a:sym typeface="Literata"/>
              </a:rPr>
              <a:t>Matplotlib: Hiển thị ảnh và vẽ đồ thị biến đổi.</a:t>
            </a:r>
          </a:p>
          <a:p>
            <a:pPr algn="ctr">
              <a:lnSpc>
                <a:spcPts val="5130"/>
              </a:lnSpc>
              <a:spcBef>
                <a:spcPct val="0"/>
              </a:spcBef>
            </a:pPr>
            <a:endParaRPr lang="en-US" sz="3206">
              <a:solidFill>
                <a:srgbClr val="000000"/>
              </a:solidFill>
              <a:latin typeface="Literata"/>
              <a:ea typeface="Literata"/>
              <a:cs typeface="Literata"/>
              <a:sym typeface="Literata"/>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538927" y="2892492"/>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Freeform 4"/>
          <p:cNvSpPr/>
          <p:nvPr/>
        </p:nvSpPr>
        <p:spPr>
          <a:xfrm>
            <a:off x="469896" y="5786893"/>
            <a:ext cx="5873451" cy="1080057"/>
          </a:xfrm>
          <a:custGeom>
            <a:rect l="l" t="t" r="r" b="b"/>
            <a:pathLst>
              <a:path w="5873451" h="1080057">
                <a:moveTo>
                  <a:pt x="0" y="0"/>
                </a:moveTo>
                <a:lnTo>
                  <a:pt x="5873451" y="0"/>
                </a:lnTo>
                <a:lnTo>
                  <a:pt x="5873451" y="1080056"/>
                </a:lnTo>
                <a:lnTo>
                  <a:pt x="0" y="1080056"/>
                </a:lnTo>
                <a:lnTo>
                  <a:pt x="0" y="0"/>
                </a:lnTo>
                <a:close/>
              </a:path>
            </a:pathLst>
          </a:custGeom>
          <a:blipFill>
            <a:blip r:embed="rId4"/>
            <a:stretch>
              <a:fillRect/>
            </a:stretch>
          </a:blipFill>
        </p:spPr>
        <p:txBody>
          <a:bodyPr/>
          <a:lstStyle/>
          <a:p>
            <a:endParaRPr lang="en-US"/>
          </a:p>
        </p:txBody>
      </p:sp>
      <p:sp>
        <p:nvSpPr>
          <p:cNvPr id="5" name="Freeform 5"/>
          <p:cNvSpPr/>
          <p:nvPr/>
        </p:nvSpPr>
        <p:spPr>
          <a:xfrm>
            <a:off x="672345" y="827087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7" name="TextBox 7"/>
          <p:cNvSpPr txBox="1"/>
          <p:nvPr/>
        </p:nvSpPr>
        <p:spPr>
          <a:xfrm>
            <a:off x="469896" y="419417"/>
            <a:ext cx="160655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1</a:t>
            </a:r>
          </a:p>
        </p:txBody>
      </p:sp>
      <p:sp>
        <p:nvSpPr>
          <p:cNvPr id="8" name="TextBox 8"/>
          <p:cNvSpPr txBox="1"/>
          <p:nvPr/>
        </p:nvSpPr>
        <p:spPr>
          <a:xfrm>
            <a:off x="7514392" y="2385377"/>
            <a:ext cx="9602562" cy="1581150"/>
          </a:xfrm>
          <a:prstGeom prst="rect">
            <a:avLst/>
          </a:prstGeom>
        </p:spPr>
        <p:txBody>
          <a:bodyPr lIns="0" tIns="0" rIns="0" bIns="0" rtlCol="0" anchor="t">
            <a:spAutoFit/>
          </a:bodyPr>
          <a:lstStyle/>
          <a:p>
            <a:pPr algn="l">
              <a:lnSpc>
                <a:spcPts val="4200"/>
              </a:lnSpc>
              <a:spcBef>
                <a:spcPct val="0"/>
              </a:spcBef>
            </a:pPr>
            <a:r>
              <a:rPr lang="en-US" sz="3000" spc="300" err="1">
                <a:solidFill>
                  <a:srgbClr val="000000"/>
                </a:solidFill>
                <a:latin typeface="Literata"/>
                <a:ea typeface="Literata"/>
                <a:cs typeface="Literata"/>
                <a:sym typeface="Literata"/>
              </a:rPr>
              <a:t>Ảnh đầu vào → Chuyển ảnh xám → Phân ngưỡng (Global / Otsu / Adaptive) → Đánh giá kết quả</a:t>
            </a:r>
            <a:endParaRPr lang="en-US" sz="3000" spc="300">
              <a:solidFill>
                <a:srgbClr val="000000"/>
              </a:solidFill>
              <a:latin typeface="Literata"/>
              <a:ea typeface="Literata"/>
              <a:cs typeface="Literata"/>
              <a:sym typeface="Literata"/>
            </a:endParaRPr>
          </a:p>
        </p:txBody>
      </p:sp>
      <p:sp>
        <p:nvSpPr>
          <p:cNvPr id="9" name="TextBox 9"/>
          <p:cNvSpPr txBox="1"/>
          <p:nvPr/>
        </p:nvSpPr>
        <p:spPr>
          <a:xfrm>
            <a:off x="7924800" y="4845215"/>
            <a:ext cx="9602562" cy="2114550"/>
          </a:xfrm>
          <a:prstGeom prst="rect">
            <a:avLst/>
          </a:prstGeom>
        </p:spPr>
        <p:txBody>
          <a:bodyPr lIns="0" tIns="0" rIns="0" bIns="0" rtlCol="0" anchor="t">
            <a:spAutoFit/>
          </a:bodyPr>
          <a:lstStyle/>
          <a:p>
            <a:pPr algn="just">
              <a:lnSpc>
                <a:spcPts val="4200"/>
              </a:lnSpc>
              <a:spcBef>
                <a:spcPct val="0"/>
              </a:spcBef>
            </a:pPr>
            <a:r>
              <a:rPr lang="en-US" sz="3000" spc="300" err="1">
                <a:solidFill>
                  <a:srgbClr val="000000"/>
                </a:solidFill>
                <a:latin typeface="Literata"/>
                <a:ea typeface="Literata"/>
                <a:cs typeface="Literata"/>
                <a:sym typeface="Literata"/>
              </a:rPr>
              <a:t>Áp dụng 3 kỹ thuật phân ngưỡng:</a:t>
            </a:r>
          </a:p>
          <a:p>
            <a:pPr algn="just">
              <a:lnSpc>
                <a:spcPts val="4200"/>
              </a:lnSpc>
              <a:spcBef>
                <a:spcPct val="0"/>
              </a:spcBef>
            </a:pPr>
            <a:r>
              <a:rPr lang="en-US" sz="3000" spc="300">
                <a:solidFill>
                  <a:srgbClr val="000000"/>
                </a:solidFill>
                <a:latin typeface="Literata"/>
                <a:ea typeface="Literata"/>
                <a:cs typeface="Literata"/>
                <a:sym typeface="Literata"/>
              </a:rPr>
              <a:t>Global Thresholding</a:t>
            </a:r>
          </a:p>
          <a:p>
            <a:pPr algn="just">
              <a:lnSpc>
                <a:spcPts val="4200"/>
              </a:lnSpc>
              <a:spcBef>
                <a:spcPct val="0"/>
              </a:spcBef>
            </a:pPr>
            <a:r>
              <a:rPr lang="en-US" sz="3000" spc="300">
                <a:solidFill>
                  <a:srgbClr val="000000"/>
                </a:solidFill>
                <a:latin typeface="Literata"/>
                <a:ea typeface="Literata"/>
                <a:cs typeface="Literata"/>
                <a:sym typeface="Literata"/>
              </a:rPr>
              <a:t>Otsu’s Method</a:t>
            </a:r>
          </a:p>
          <a:p>
            <a:pPr algn="just">
              <a:lnSpc>
                <a:spcPts val="4200"/>
              </a:lnSpc>
              <a:spcBef>
                <a:spcPct val="0"/>
              </a:spcBef>
            </a:pPr>
            <a:r>
              <a:rPr lang="en-US" sz="3000" spc="300">
                <a:solidFill>
                  <a:srgbClr val="000000"/>
                </a:solidFill>
                <a:latin typeface="Literata"/>
                <a:ea typeface="Literata"/>
                <a:cs typeface="Literata"/>
                <a:sym typeface="Literata"/>
              </a:rPr>
              <a:t>Adaptive Thresholding</a:t>
            </a:r>
          </a:p>
        </p:txBody>
      </p:sp>
      <p:sp>
        <p:nvSpPr>
          <p:cNvPr id="10" name="TextBox 10"/>
          <p:cNvSpPr txBox="1"/>
          <p:nvPr/>
        </p:nvSpPr>
        <p:spPr>
          <a:xfrm>
            <a:off x="6813243" y="8270875"/>
            <a:ext cx="8418227" cy="1038298"/>
          </a:xfrm>
          <a:prstGeom prst="rect">
            <a:avLst/>
          </a:prstGeom>
        </p:spPr>
        <p:txBody>
          <a:bodyPr wrap="square" lIns="0" tIns="0" rIns="0" bIns="0" rtlCol="0" anchor="t">
            <a:spAutoFit/>
          </a:bodyPr>
          <a:lstStyle/>
          <a:p>
            <a:pPr algn="ctr">
              <a:lnSpc>
                <a:spcPts val="4200"/>
              </a:lnSpc>
              <a:spcBef>
                <a:spcPct val="0"/>
              </a:spcBef>
            </a:pPr>
            <a:r>
              <a:rPr lang="en-US" sz="3000" spc="300" err="1">
                <a:solidFill>
                  <a:srgbClr val="000000"/>
                </a:solidFill>
                <a:latin typeface="Literata"/>
                <a:ea typeface="Literata"/>
                <a:cs typeface="Literata"/>
                <a:sym typeface="Literata"/>
              </a:rPr>
              <a:t>Ảnh văn bản (OCR)</a:t>
            </a:r>
          </a:p>
          <a:p>
            <a:pPr algn="ctr">
              <a:lnSpc>
                <a:spcPts val="4200"/>
              </a:lnSpc>
              <a:spcBef>
                <a:spcPct val="0"/>
              </a:spcBef>
            </a:pPr>
            <a:r>
              <a:rPr lang="en-US" sz="3000" spc="300" err="1">
                <a:solidFill>
                  <a:srgbClr val="000000"/>
                </a:solidFill>
                <a:latin typeface="Literata"/>
                <a:ea typeface="Literata"/>
                <a:cs typeface="Literata"/>
                <a:sym typeface="Literata"/>
              </a:rPr>
              <a:t>Ảnh X-ray (y tế)</a:t>
            </a:r>
          </a:p>
        </p:txBody>
      </p:sp>
      <p:sp>
        <p:nvSpPr>
          <p:cNvPr id="12" name="TextBox 12"/>
          <p:cNvSpPr txBox="1"/>
          <p:nvPr/>
        </p:nvSpPr>
        <p:spPr>
          <a:xfrm>
            <a:off x="968728" y="7581900"/>
            <a:ext cx="5204016"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So sánh kết quả trên:</a:t>
            </a:r>
          </a:p>
        </p:txBody>
      </p:sp>
      <p:sp>
        <p:nvSpPr>
          <p:cNvPr id="13" name="TextBox 13"/>
          <p:cNvSpPr txBox="1"/>
          <p:nvPr/>
        </p:nvSpPr>
        <p:spPr>
          <a:xfrm>
            <a:off x="500603" y="4893879"/>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endParaRPr lang="en-US" sz="3299" spc="329">
              <a:solidFill>
                <a:srgbClr val="000000"/>
              </a:solidFill>
              <a:latin typeface="Literata"/>
              <a:ea typeface="Literata"/>
              <a:cs typeface="Literata"/>
              <a:sym typeface="Literata"/>
            </a:endParaRPr>
          </a:p>
        </p:txBody>
      </p:sp>
      <p:sp>
        <p:nvSpPr>
          <p:cNvPr id="14" name="TextBox 14"/>
          <p:cNvSpPr txBox="1"/>
          <p:nvPr/>
        </p:nvSpPr>
        <p:spPr>
          <a:xfrm>
            <a:off x="815690" y="2134677"/>
            <a:ext cx="5181862" cy="547714"/>
          </a:xfrm>
          <a:prstGeom prst="rect">
            <a:avLst/>
          </a:prstGeom>
        </p:spPr>
        <p:txBody>
          <a:bodyPr wrap="square" lIns="0" tIns="0" rIns="0" bIns="0" rtlCol="0" anchor="t">
            <a:spAutoFit/>
          </a:bodyPr>
          <a:lstStyle/>
          <a:p>
            <a:pPr algn="ctr">
              <a:lnSpc>
                <a:spcPts val="4619"/>
              </a:lnSpc>
              <a:spcBef>
                <a:spcPct val="0"/>
              </a:spcBef>
            </a:pPr>
            <a:r>
              <a:rPr lang="en-US" sz="3299" spc="329" err="1">
                <a:solidFill>
                  <a:srgbClr val="000000"/>
                </a:solidFill>
                <a:latin typeface="Literata"/>
                <a:ea typeface="Literata"/>
                <a:cs typeface="Literata"/>
                <a:sym typeface="Literata"/>
              </a:rPr>
              <a:t>Sơ đồ tổng quan</a:t>
            </a:r>
            <a:endParaRPr lang="en-US" sz="3299" spc="329">
              <a:solidFill>
                <a:srgbClr val="000000"/>
              </a:solidFill>
              <a:latin typeface="Literata"/>
              <a:ea typeface="Literata"/>
              <a:cs typeface="Literata"/>
              <a:sym typeface="Literata"/>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61417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1</a:t>
            </a:r>
          </a:p>
        </p:txBody>
      </p:sp>
      <p:sp>
        <p:nvSpPr>
          <p:cNvPr id="5" name="TextBox 5"/>
          <p:cNvSpPr txBox="1"/>
          <p:nvPr/>
        </p:nvSpPr>
        <p:spPr>
          <a:xfrm>
            <a:off x="1028701" y="2783204"/>
            <a:ext cx="15125700" cy="4975080"/>
          </a:xfrm>
          <a:prstGeom prst="rect">
            <a:avLst/>
          </a:prstGeom>
        </p:spPr>
        <p:txBody>
          <a:bodyPr wrap="square" lIns="0" tIns="0" rIns="0" bIns="0" rtlCol="0" anchor="t">
            <a:spAutoFit/>
          </a:bodyPr>
          <a:lstStyle/>
          <a:p>
            <a:pPr algn="l">
              <a:lnSpc>
                <a:spcPts val="5599"/>
              </a:lnSpc>
              <a:spcBef>
                <a:spcPct val="0"/>
              </a:spcBef>
            </a:pPr>
            <a:r>
              <a:rPr lang="en-US" sz="3999" spc="399">
                <a:solidFill>
                  <a:srgbClr val="000000"/>
                </a:solidFill>
                <a:latin typeface="Literata"/>
                <a:ea typeface="Literata"/>
                <a:cs typeface="Literata"/>
                <a:sym typeface="Literata"/>
              </a:rPr>
              <a:t>Tiến trình xử lý</a:t>
            </a:r>
            <a:endParaRPr lang="en-US" sz="3999" spc="399">
              <a:solidFill>
                <a:srgbClr val="000000"/>
              </a:solidFill>
              <a:latin typeface="Literata"/>
              <a:ea typeface="Literata"/>
              <a:cs typeface="Literata"/>
              <a:sym typeface="Literata"/>
            </a:endParaRPr>
          </a:p>
          <a:p>
            <a:pPr algn="l">
              <a:lnSpc>
                <a:spcPts val="5599"/>
              </a:lnSpc>
              <a:spcBef>
                <a:spcPct val="0"/>
              </a:spcBef>
            </a:pPr>
            <a:endParaRPr lang="en-US" sz="3999" spc="399">
              <a:solidFill>
                <a:srgbClr val="000000"/>
              </a:solidFill>
              <a:latin typeface="Literata"/>
              <a:ea typeface="Literata"/>
              <a:cs typeface="Literata"/>
              <a:sym typeface="Literata"/>
            </a:endParaRPr>
          </a:p>
          <a:p>
            <a:pPr algn="l">
              <a:lnSpc>
                <a:spcPts val="5599"/>
              </a:lnSpc>
              <a:spcBef>
                <a:spcPct val="0"/>
              </a:spcBef>
            </a:pPr>
            <a:r>
              <a:rPr lang="en-US" sz="3999" spc="399">
                <a:solidFill>
                  <a:srgbClr val="000000"/>
                </a:solidFill>
                <a:latin typeface="Literata"/>
                <a:ea typeface="Literata"/>
                <a:cs typeface="Literata"/>
                <a:sym typeface="Literata"/>
              </a:rPr>
              <a:t>1 Đọc ảnh → chuyển sang ảnh xám</a:t>
            </a:r>
            <a:endParaRPr lang="en-US" sz="3999" spc="399">
              <a:solidFill>
                <a:srgbClr val="000000"/>
              </a:solidFill>
              <a:latin typeface="Literata"/>
              <a:ea typeface="Literata"/>
              <a:cs typeface="Literata"/>
              <a:sym typeface="Literata"/>
            </a:endParaRPr>
          </a:p>
          <a:p>
            <a:pPr algn="l">
              <a:lnSpc>
                <a:spcPts val="5599"/>
              </a:lnSpc>
              <a:spcBef>
                <a:spcPct val="0"/>
              </a:spcBef>
            </a:pPr>
            <a:r>
              <a:rPr lang="en-US" sz="3999" spc="399">
                <a:solidFill>
                  <a:srgbClr val="000000"/>
                </a:solidFill>
                <a:latin typeface="Literata"/>
                <a:ea typeface="Literata"/>
                <a:cs typeface="Literata"/>
                <a:sym typeface="Literata"/>
              </a:rPr>
              <a:t>2 Tiền xử lý (lọc nhiễu nếu cần)</a:t>
            </a:r>
          </a:p>
          <a:p>
            <a:pPr algn="l">
              <a:lnSpc>
                <a:spcPts val="5599"/>
              </a:lnSpc>
              <a:spcBef>
                <a:spcPct val="0"/>
              </a:spcBef>
            </a:pPr>
            <a:r>
              <a:rPr lang="en-US" sz="3999" spc="399">
                <a:solidFill>
                  <a:srgbClr val="000000"/>
                </a:solidFill>
                <a:latin typeface="Literata"/>
                <a:ea typeface="Literata"/>
                <a:cs typeface="Literata"/>
                <a:sym typeface="Literata"/>
              </a:rPr>
              <a:t>3 Áp dụng các phương pháp phân ngưỡng</a:t>
            </a:r>
            <a:endParaRPr lang="en-US" sz="3999" spc="399">
              <a:solidFill>
                <a:srgbClr val="000000"/>
              </a:solidFill>
              <a:latin typeface="Literata"/>
              <a:ea typeface="Literata"/>
              <a:cs typeface="Literata"/>
              <a:sym typeface="Literata"/>
            </a:endParaRPr>
          </a:p>
          <a:p>
            <a:pPr algn="l">
              <a:lnSpc>
                <a:spcPts val="5599"/>
              </a:lnSpc>
              <a:spcBef>
                <a:spcPct val="0"/>
              </a:spcBef>
            </a:pPr>
            <a:r>
              <a:rPr lang="en-US" sz="3999" spc="399">
                <a:solidFill>
                  <a:srgbClr val="000000"/>
                </a:solidFill>
                <a:latin typeface="Literata"/>
                <a:ea typeface="Literata"/>
                <a:cs typeface="Literata"/>
                <a:sym typeface="Literata"/>
              </a:rPr>
              <a:t>4 So sánh và đánh giá kết quả (IoU nếu có Ground Truth)</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08791" y="3374212"/>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Freeform 4"/>
          <p:cNvSpPr/>
          <p:nvPr/>
        </p:nvSpPr>
        <p:spPr>
          <a:xfrm>
            <a:off x="573534" y="6669467"/>
            <a:ext cx="5873451" cy="1080057"/>
          </a:xfrm>
          <a:custGeom>
            <a:rect l="l" t="t" r="r" b="b"/>
            <a:pathLst>
              <a:path w="5873451" h="1080057">
                <a:moveTo>
                  <a:pt x="0" y="0"/>
                </a:moveTo>
                <a:lnTo>
                  <a:pt x="5873451" y="0"/>
                </a:lnTo>
                <a:lnTo>
                  <a:pt x="5873451" y="1080056"/>
                </a:lnTo>
                <a:lnTo>
                  <a:pt x="0" y="1080056"/>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6" name="TextBox 6"/>
          <p:cNvSpPr txBox="1"/>
          <p:nvPr/>
        </p:nvSpPr>
        <p:spPr>
          <a:xfrm>
            <a:off x="469896" y="419417"/>
            <a:ext cx="154559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2</a:t>
            </a:r>
          </a:p>
        </p:txBody>
      </p:sp>
      <p:sp>
        <p:nvSpPr>
          <p:cNvPr id="7" name="TextBox 7"/>
          <p:cNvSpPr txBox="1"/>
          <p:nvPr/>
        </p:nvSpPr>
        <p:spPr>
          <a:xfrm>
            <a:off x="741863" y="2586788"/>
            <a:ext cx="5112831" cy="563881"/>
          </a:xfrm>
          <a:prstGeom prst="rect">
            <a:avLst/>
          </a:prstGeom>
        </p:spPr>
        <p:txBody>
          <a:bodyPr wrap="square"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 Sơ đồ tổng quan</a:t>
            </a:r>
            <a:endParaRPr lang="en-US" sz="3299" spc="329">
              <a:solidFill>
                <a:srgbClr val="000000"/>
              </a:solidFill>
              <a:latin typeface="Literata"/>
              <a:ea typeface="Literata"/>
              <a:cs typeface="Literata"/>
              <a:sym typeface="Literata"/>
            </a:endParaRPr>
          </a:p>
        </p:txBody>
      </p:sp>
      <p:sp>
        <p:nvSpPr>
          <p:cNvPr id="8" name="TextBox 8"/>
          <p:cNvSpPr txBox="1"/>
          <p:nvPr/>
        </p:nvSpPr>
        <p:spPr>
          <a:xfrm>
            <a:off x="6904846" y="2611240"/>
            <a:ext cx="10128378" cy="2115516"/>
          </a:xfrm>
          <a:prstGeom prst="rect">
            <a:avLst/>
          </a:prstGeom>
        </p:spPr>
        <p:txBody>
          <a:bodyPr wrap="square" lIns="0" tIns="0" rIns="0" bIns="0" rtlCol="0" anchor="t">
            <a:spAutoFit/>
          </a:bodyPr>
          <a:lstStyle/>
          <a:p>
            <a:pPr algn="l">
              <a:lnSpc>
                <a:spcPts val="4200"/>
              </a:lnSpc>
              <a:spcBef>
                <a:spcPct val="0"/>
              </a:spcBef>
            </a:pPr>
            <a:r>
              <a:rPr lang="en-US" sz="3000" spc="300" err="1">
                <a:solidFill>
                  <a:srgbClr val="000000"/>
                </a:solidFill>
                <a:latin typeface="Literata"/>
                <a:ea typeface="Literata"/>
                <a:cs typeface="Literata"/>
                <a:sym typeface="Literata"/>
              </a:rPr>
              <a:t>Chọn điểm seed Xét pixel lân cận (4 hoặc 8 lân cận) Nếu cường độ tương đồng → thêm vào vùng Lặp lại đến khi không còn pixel mới thoả điều kiện Hiển thị vùng phân đoạn</a:t>
            </a:r>
            <a:endParaRPr lang="en-US" sz="3000" spc="300">
              <a:solidFill>
                <a:srgbClr val="000000"/>
              </a:solidFill>
              <a:latin typeface="Literata"/>
              <a:ea typeface="Literata"/>
              <a:cs typeface="Literata"/>
              <a:sym typeface="Literata"/>
            </a:endParaRPr>
          </a:p>
        </p:txBody>
      </p:sp>
      <p:sp>
        <p:nvSpPr>
          <p:cNvPr id="9" name="TextBox 9"/>
          <p:cNvSpPr txBox="1"/>
          <p:nvPr/>
        </p:nvSpPr>
        <p:spPr>
          <a:xfrm>
            <a:off x="741863" y="6053991"/>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endParaRPr lang="en-US" sz="3299" spc="329">
              <a:solidFill>
                <a:srgbClr val="000000"/>
              </a:solidFill>
              <a:latin typeface="Literata"/>
              <a:ea typeface="Literata"/>
              <a:cs typeface="Literata"/>
              <a:sym typeface="Literata"/>
            </a:endParaRPr>
          </a:p>
        </p:txBody>
      </p:sp>
      <p:sp>
        <p:nvSpPr>
          <p:cNvPr id="10" name="TextBox 10"/>
          <p:cNvSpPr txBox="1"/>
          <p:nvPr/>
        </p:nvSpPr>
        <p:spPr>
          <a:xfrm>
            <a:off x="6952280" y="6206474"/>
            <a:ext cx="9602562" cy="1543050"/>
          </a:xfrm>
          <a:prstGeom prst="rect">
            <a:avLst/>
          </a:prstGeom>
        </p:spPr>
        <p:txBody>
          <a:bodyPr lIns="0" tIns="0" rIns="0" bIns="0" rtlCol="0" anchor="t">
            <a:spAutoFit/>
          </a:bodyPr>
          <a:lstStyle/>
          <a:p>
            <a:pPr algn="just">
              <a:lnSpc>
                <a:spcPts val="4199"/>
              </a:lnSpc>
              <a:spcBef>
                <a:spcPct val="0"/>
              </a:spcBef>
            </a:pPr>
            <a:r>
              <a:rPr lang="en-US" sz="2999" spc="299" err="1">
                <a:solidFill>
                  <a:srgbClr val="000000"/>
                </a:solidFill>
                <a:latin typeface="Literata"/>
                <a:ea typeface="Literata"/>
                <a:cs typeface="Literata"/>
                <a:sym typeface="Literata"/>
              </a:rPr>
              <a:t>Thuật toán Region Growing dựa trên seed Điều kiện đồng nhất: |I(p) − I(seed)| &lt; Δ Δ nhỏ → vùng hẹp Δ lớn → vùng rộng hơn</a:t>
            </a:r>
            <a:endParaRPr lang="en-US" sz="2999" spc="299">
              <a:solidFill>
                <a:srgbClr val="000000"/>
              </a:solidFill>
              <a:latin typeface="Literata"/>
              <a:ea typeface="Literata"/>
              <a:cs typeface="Literata"/>
              <a:sym typeface="Literata"/>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5321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3</a:t>
            </a:r>
          </a:p>
        </p:txBody>
      </p:sp>
      <p:sp>
        <p:nvSpPr>
          <p:cNvPr id="5" name="TextBox 5"/>
          <p:cNvSpPr txBox="1"/>
          <p:nvPr/>
        </p:nvSpPr>
        <p:spPr>
          <a:xfrm>
            <a:off x="1028700" y="2783205"/>
            <a:ext cx="10236994" cy="4899026"/>
          </a:xfrm>
          <a:prstGeom prst="rect">
            <a:avLst/>
          </a:prstGeom>
        </p:spPr>
        <p:txBody>
          <a:bodyPr lIns="0" tIns="0" rIns="0" bIns="0" rtlCol="0" anchor="t">
            <a:spAutoFit/>
          </a:bodyPr>
          <a:lstStyle/>
          <a:p>
            <a:pPr algn="l">
              <a:lnSpc>
                <a:spcPts val="5599"/>
              </a:lnSpc>
            </a:pPr>
            <a:r>
              <a:rPr lang="en-US" sz="3999" spc="399">
                <a:solidFill>
                  <a:srgbClr val="000000"/>
                </a:solidFill>
                <a:latin typeface="Literata"/>
                <a:ea typeface="Literata"/>
                <a:cs typeface="Literata"/>
                <a:sym typeface="Literata"/>
              </a:rPr>
              <a:t>Tiến trình xử lý </a:t>
            </a:r>
          </a:p>
          <a:p>
            <a:pPr algn="l">
              <a:lnSpc>
                <a:spcPts val="5599"/>
              </a:lnSpc>
            </a:pPr>
            <a:endParaRPr lang="en-US" sz="3999" spc="399">
              <a:solidFill>
                <a:srgbClr val="000000"/>
              </a:solidFill>
              <a:latin typeface="Literata"/>
              <a:ea typeface="Literata"/>
              <a:cs typeface="Literata"/>
              <a:sym typeface="Literata"/>
            </a:endParaRPr>
          </a:p>
          <a:p>
            <a:pPr marL="863591" lvl="1" indent="-431796" algn="l">
              <a:lnSpc>
                <a:spcPts val="5599"/>
              </a:lnSpc>
              <a:spcBef>
                <a:spcPct val="0"/>
              </a:spcBef>
              <a:buAutoNum type="arabicPeriod"/>
            </a:pPr>
            <a:r>
              <a:rPr lang="en-US" sz="3999" spc="399">
                <a:solidFill>
                  <a:srgbClr val="000000"/>
                </a:solidFill>
                <a:latin typeface="Literata"/>
                <a:ea typeface="Literata"/>
                <a:cs typeface="Literata"/>
                <a:sym typeface="Literata"/>
              </a:rPr>
              <a:t>Đọc ảnh, chuyển xám </a:t>
            </a:r>
          </a:p>
          <a:p>
            <a:pPr marL="863591" lvl="1" indent="-431796" algn="l">
              <a:lnSpc>
                <a:spcPts val="5599"/>
              </a:lnSpc>
              <a:spcBef>
                <a:spcPct val="0"/>
              </a:spcBef>
              <a:buAutoNum type="arabicPeriod"/>
            </a:pPr>
            <a:r>
              <a:rPr lang="en-US" sz="3999" spc="399">
                <a:solidFill>
                  <a:srgbClr val="000000"/>
                </a:solidFill>
                <a:latin typeface="Literata"/>
                <a:ea typeface="Literata"/>
                <a:cs typeface="Literata"/>
                <a:sym typeface="Literata"/>
              </a:rPr>
              <a:t>Nhập/chọn seed </a:t>
            </a:r>
          </a:p>
          <a:p>
            <a:pPr marL="863591" lvl="1" indent="-431796" algn="l">
              <a:lnSpc>
                <a:spcPts val="5599"/>
              </a:lnSpc>
              <a:spcBef>
                <a:spcPct val="0"/>
              </a:spcBef>
              <a:buAutoNum type="arabicPeriod"/>
            </a:pPr>
            <a:r>
              <a:rPr lang="en-US" sz="3999" spc="399">
                <a:solidFill>
                  <a:srgbClr val="000000"/>
                </a:solidFill>
                <a:latin typeface="Literata"/>
                <a:ea typeface="Literata"/>
                <a:cs typeface="Literata"/>
                <a:sym typeface="Literata"/>
              </a:rPr>
              <a:t>Mở rộng vùng theo tiêu chuẩn Δ </a:t>
            </a:r>
          </a:p>
          <a:p>
            <a:pPr marL="863591" lvl="1" indent="-431796" algn="l">
              <a:lnSpc>
                <a:spcPts val="5599"/>
              </a:lnSpc>
              <a:spcBef>
                <a:spcPct val="0"/>
              </a:spcBef>
              <a:buAutoNum type="arabicPeriod"/>
            </a:pPr>
            <a:r>
              <a:rPr lang="en-US" sz="3999" spc="399">
                <a:solidFill>
                  <a:srgbClr val="000000"/>
                </a:solidFill>
                <a:latin typeface="Literata"/>
                <a:ea typeface="Literata"/>
                <a:cs typeface="Literata"/>
                <a:sym typeface="Literata"/>
              </a:rPr>
              <a:t>Xuất mask phân đoạn</a:t>
            </a:r>
          </a:p>
          <a:p>
            <a:pPr algn="l">
              <a:lnSpc>
                <a:spcPts val="5599"/>
              </a:lnSpc>
              <a:spcBef>
                <a:spcPct val="0"/>
              </a:spcBef>
            </a:pPr>
            <a:endParaRPr lang="en-US" sz="3999" spc="399">
              <a:solidFill>
                <a:srgbClr val="000000"/>
              </a:solidFill>
              <a:latin typeface="Literata"/>
              <a:ea typeface="Literata"/>
              <a:cs typeface="Literata"/>
              <a:sym typeface="Literata"/>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493780" y="326802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56845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3</a:t>
            </a:r>
          </a:p>
        </p:txBody>
      </p:sp>
      <p:sp>
        <p:nvSpPr>
          <p:cNvPr id="6" name="TextBox 6"/>
          <p:cNvSpPr txBox="1"/>
          <p:nvPr/>
        </p:nvSpPr>
        <p:spPr>
          <a:xfrm>
            <a:off x="850205" y="2438371"/>
            <a:ext cx="5112831" cy="547714"/>
          </a:xfrm>
          <a:prstGeom prst="rect">
            <a:avLst/>
          </a:prstGeom>
        </p:spPr>
        <p:txBody>
          <a:bodyPr wrap="square"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 Sơ đồ tổng quan</a:t>
            </a:r>
            <a:endParaRPr lang="en-US" sz="3299" spc="329">
              <a:solidFill>
                <a:srgbClr val="000000"/>
              </a:solidFill>
              <a:latin typeface="Literata"/>
              <a:ea typeface="Literata"/>
              <a:cs typeface="Literata"/>
              <a:sym typeface="Literata"/>
            </a:endParaRPr>
          </a:p>
        </p:txBody>
      </p:sp>
      <p:sp>
        <p:nvSpPr>
          <p:cNvPr id="7" name="TextBox 7"/>
          <p:cNvSpPr txBox="1"/>
          <p:nvPr/>
        </p:nvSpPr>
        <p:spPr>
          <a:xfrm>
            <a:off x="6993223" y="1541939"/>
            <a:ext cx="9602562" cy="3181350"/>
          </a:xfrm>
          <a:prstGeom prst="rect">
            <a:avLst/>
          </a:prstGeom>
        </p:spPr>
        <p:txBody>
          <a:bodyPr lIns="0" tIns="0" rIns="0" bIns="0" rtlCol="0" anchor="t">
            <a:spAutoFit/>
          </a:bodyPr>
          <a:lstStyle/>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Ảnh gốc → Nhị phân Otsu → Morphology loại nhiễu </a:t>
            </a:r>
          </a:p>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Xác định foreground, background, unknown </a:t>
            </a:r>
          </a:p>
          <a:p>
            <a:pPr marL="647700" lvl="1" indent="-323850" algn="l">
              <a:lnSpc>
                <a:spcPts val="4200"/>
              </a:lnSpc>
              <a:spcBef>
                <a:spcPct val="0"/>
              </a:spcBef>
              <a:buFont typeface="Arial"/>
              <a:buChar char="•"/>
            </a:pPr>
            <a:r>
              <a:rPr lang="en-US" sz="3000" spc="300">
                <a:solidFill>
                  <a:srgbClr val="000000"/>
                </a:solidFill>
                <a:latin typeface="Literata"/>
                <a:ea typeface="Literata"/>
                <a:cs typeface="Literata"/>
                <a:sym typeface="Literata"/>
              </a:rPr>
              <a:t>Áp dụng Watershed để tách đối tượng Hiển thị biên phân tách</a:t>
            </a:r>
          </a:p>
        </p:txBody>
      </p:sp>
      <p:sp>
        <p:nvSpPr>
          <p:cNvPr id="8" name="TextBox 8"/>
          <p:cNvSpPr txBox="1"/>
          <p:nvPr/>
        </p:nvSpPr>
        <p:spPr>
          <a:xfrm>
            <a:off x="6993223" y="5056664"/>
            <a:ext cx="10849483" cy="5210175"/>
          </a:xfrm>
          <a:prstGeom prst="rect">
            <a:avLst/>
          </a:prstGeom>
        </p:spPr>
        <p:txBody>
          <a:bodyPr lIns="0" tIns="0" rIns="0" bIns="0" rtlCol="0" anchor="t">
            <a:spAutoFit/>
          </a:bodyPr>
          <a:lstStyle/>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Dùng ngưỡng Otsu để tách nền/đối tượng</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Dùng morphological operations (opening, closing) để làm sạch ảnh</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Distance transform → tìm sure foreground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Dùng markers để xác định: +</a:t>
            </a:r>
          </a:p>
          <a:p>
            <a:pPr marL="1943090" lvl="3" indent="-485773" algn="l">
              <a:lnSpc>
                <a:spcPts val="4199"/>
              </a:lnSpc>
              <a:spcBef>
                <a:spcPct val="0"/>
              </a:spcBef>
              <a:buFont typeface="Arial"/>
              <a:buChar char="￭"/>
            </a:pPr>
            <a:r>
              <a:rPr lang="en-US" sz="2999" spc="299">
                <a:solidFill>
                  <a:srgbClr val="000000"/>
                </a:solidFill>
                <a:latin typeface="Literata"/>
                <a:ea typeface="Literata"/>
                <a:cs typeface="Literata"/>
                <a:sym typeface="Literata"/>
              </a:rPr>
              <a:t>Sure background </a:t>
            </a:r>
          </a:p>
          <a:p>
            <a:pPr marL="1943090" lvl="3" indent="-485773" algn="l">
              <a:lnSpc>
                <a:spcPts val="4199"/>
              </a:lnSpc>
              <a:spcBef>
                <a:spcPct val="0"/>
              </a:spcBef>
              <a:buFont typeface="Arial"/>
              <a:buChar char="￭"/>
            </a:pPr>
            <a:r>
              <a:rPr lang="en-US" sz="2999" spc="299">
                <a:solidFill>
                  <a:srgbClr val="000000"/>
                </a:solidFill>
                <a:latin typeface="Literata"/>
                <a:ea typeface="Literata"/>
                <a:cs typeface="Literata"/>
                <a:sym typeface="Literata"/>
              </a:rPr>
              <a:t>Sure foreground </a:t>
            </a:r>
          </a:p>
          <a:p>
            <a:pPr marL="1943090" lvl="3" indent="-485773" algn="l">
              <a:lnSpc>
                <a:spcPts val="4199"/>
              </a:lnSpc>
              <a:spcBef>
                <a:spcPct val="0"/>
              </a:spcBef>
              <a:buFont typeface="Arial"/>
              <a:buChar char="￭"/>
            </a:pPr>
            <a:r>
              <a:rPr lang="en-US" sz="2999" spc="299">
                <a:solidFill>
                  <a:srgbClr val="000000"/>
                </a:solidFill>
                <a:latin typeface="Literata"/>
                <a:ea typeface="Literata"/>
                <a:cs typeface="Literata"/>
                <a:sym typeface="Literata"/>
              </a:rPr>
              <a:t>Unknown region</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Áp dụng cv2.watershed() để phân tách các vật thể dính nhau</a:t>
            </a:r>
          </a:p>
        </p:txBody>
      </p:sp>
      <p:sp>
        <p:nvSpPr>
          <p:cNvPr id="10" name="Freeform 10"/>
          <p:cNvSpPr/>
          <p:nvPr/>
        </p:nvSpPr>
        <p:spPr>
          <a:xfrm>
            <a:off x="469896" y="741235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4"/>
            <a:stretch>
              <a:fillRect/>
            </a:stretch>
          </a:blipFill>
        </p:spPr>
        <p:txBody>
          <a:bodyPr/>
          <a:lstStyle/>
          <a:p>
            <a:endParaRPr lang="en-US"/>
          </a:p>
        </p:txBody>
      </p:sp>
      <p:sp>
        <p:nvSpPr>
          <p:cNvPr id="11" name="TextBox 11"/>
          <p:cNvSpPr txBox="1"/>
          <p:nvPr/>
        </p:nvSpPr>
        <p:spPr>
          <a:xfrm>
            <a:off x="672345" y="6848474"/>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8369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3</a:t>
            </a:r>
          </a:p>
        </p:txBody>
      </p:sp>
      <p:sp>
        <p:nvSpPr>
          <p:cNvPr id="5" name="TextBox 5"/>
          <p:cNvSpPr txBox="1"/>
          <p:nvPr/>
        </p:nvSpPr>
        <p:spPr>
          <a:xfrm>
            <a:off x="1028700" y="2783205"/>
            <a:ext cx="14370724" cy="4899026"/>
          </a:xfrm>
          <a:prstGeom prst="rect">
            <a:avLst/>
          </a:prstGeom>
        </p:spPr>
        <p:txBody>
          <a:bodyPr lIns="0" tIns="0" rIns="0" bIns="0" rtlCol="0" anchor="t">
            <a:spAutoFit/>
          </a:bodyPr>
          <a:lstStyle/>
          <a:p>
            <a:pPr algn="l">
              <a:lnSpc>
                <a:spcPts val="5599"/>
              </a:lnSpc>
            </a:pPr>
            <a:r>
              <a:rPr lang="en-US" sz="3999" spc="399">
                <a:solidFill>
                  <a:srgbClr val="000000"/>
                </a:solidFill>
                <a:latin typeface="Literata"/>
                <a:ea typeface="Literata"/>
                <a:cs typeface="Literata"/>
                <a:sym typeface="Literata"/>
              </a:rPr>
              <a:t>Tiến trình xử lý </a:t>
            </a:r>
          </a:p>
          <a:p>
            <a:pPr algn="l">
              <a:lnSpc>
                <a:spcPts val="5599"/>
              </a:lnSpc>
            </a:pPr>
            <a:endParaRPr lang="en-US" sz="3999" spc="399">
              <a:solidFill>
                <a:srgbClr val="000000"/>
              </a:solidFill>
              <a:latin typeface="Literata"/>
              <a:ea typeface="Literata"/>
              <a:cs typeface="Literata"/>
              <a:sym typeface="Literata"/>
            </a:endParaRPr>
          </a:p>
          <a:p>
            <a:pPr marL="863591" lvl="1" indent="-431796" algn="l">
              <a:lnSpc>
                <a:spcPts val="5599"/>
              </a:lnSpc>
              <a:buFont typeface="Arial"/>
              <a:buChar char="•"/>
            </a:pPr>
            <a:r>
              <a:rPr lang="en-US" sz="3999" spc="399">
                <a:solidFill>
                  <a:srgbClr val="000000"/>
                </a:solidFill>
                <a:latin typeface="Literata"/>
                <a:ea typeface="Literata"/>
                <a:cs typeface="Literata"/>
                <a:sym typeface="Literata"/>
              </a:rPr>
              <a:t>Chuyển ảnh sang xám, nhị phân bằng Otsu </a:t>
            </a:r>
          </a:p>
          <a:p>
            <a:pPr marL="863591" lvl="1" indent="-431796" algn="l">
              <a:lnSpc>
                <a:spcPts val="5599"/>
              </a:lnSpc>
              <a:buFont typeface="Arial"/>
              <a:buChar char="•"/>
            </a:pPr>
            <a:r>
              <a:rPr lang="en-US" sz="3999" spc="399">
                <a:solidFill>
                  <a:srgbClr val="000000"/>
                </a:solidFill>
                <a:latin typeface="Literata"/>
                <a:ea typeface="Literata"/>
                <a:cs typeface="Literata"/>
                <a:sym typeface="Literata"/>
              </a:rPr>
              <a:t>Khử nhiễu bằng morphology </a:t>
            </a:r>
          </a:p>
          <a:p>
            <a:pPr marL="863591" lvl="1" indent="-431796" algn="l">
              <a:lnSpc>
                <a:spcPts val="5599"/>
              </a:lnSpc>
              <a:buFont typeface="Arial"/>
              <a:buChar char="•"/>
            </a:pPr>
            <a:r>
              <a:rPr lang="en-US" sz="3999" spc="399">
                <a:solidFill>
                  <a:srgbClr val="000000"/>
                </a:solidFill>
                <a:latin typeface="Literata"/>
                <a:ea typeface="Literata"/>
                <a:cs typeface="Literata"/>
                <a:sym typeface="Literata"/>
              </a:rPr>
              <a:t>Tính distance transform → tìm foreground </a:t>
            </a:r>
          </a:p>
          <a:p>
            <a:pPr marL="863591" lvl="1" indent="-431796" algn="l">
              <a:lnSpc>
                <a:spcPts val="5599"/>
              </a:lnSpc>
              <a:buFont typeface="Arial"/>
              <a:buChar char="•"/>
            </a:pPr>
            <a:r>
              <a:rPr lang="en-US" sz="3999" spc="399">
                <a:solidFill>
                  <a:srgbClr val="000000"/>
                </a:solidFill>
                <a:latin typeface="Literata"/>
                <a:ea typeface="Literata"/>
                <a:cs typeface="Literata"/>
                <a:sym typeface="Literata"/>
              </a:rPr>
              <a:t>Xác định markers cho background &amp; unknown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Áp dụng Watershed → thu biên phân tách</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72345" y="4187783"/>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56083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4</a:t>
            </a:r>
          </a:p>
        </p:txBody>
      </p:sp>
      <p:sp>
        <p:nvSpPr>
          <p:cNvPr id="6" name="TextBox 6"/>
          <p:cNvSpPr txBox="1"/>
          <p:nvPr/>
        </p:nvSpPr>
        <p:spPr>
          <a:xfrm>
            <a:off x="709876" y="3131032"/>
            <a:ext cx="5315280" cy="547714"/>
          </a:xfrm>
          <a:prstGeom prst="rect">
            <a:avLst/>
          </a:prstGeom>
        </p:spPr>
        <p:txBody>
          <a:bodyPr wrap="square"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 Sơ đồ tổng quan</a:t>
            </a:r>
            <a:endParaRPr lang="en-US" sz="3299" spc="329">
              <a:solidFill>
                <a:srgbClr val="000000"/>
              </a:solidFill>
              <a:latin typeface="Literata"/>
              <a:ea typeface="Literata"/>
              <a:cs typeface="Literata"/>
              <a:sym typeface="Literata"/>
            </a:endParaRPr>
          </a:p>
        </p:txBody>
      </p:sp>
      <p:sp>
        <p:nvSpPr>
          <p:cNvPr id="7" name="TextBox 7"/>
          <p:cNvSpPr txBox="1"/>
          <p:nvPr/>
        </p:nvSpPr>
        <p:spPr>
          <a:xfrm>
            <a:off x="7215887" y="1714500"/>
            <a:ext cx="9641363" cy="3725901"/>
          </a:xfrm>
          <a:prstGeom prst="rect">
            <a:avLst/>
          </a:prstGeom>
        </p:spPr>
        <p:txBody>
          <a:bodyPr lIns="0" tIns="0" rIns="0" bIns="0" rtlCol="0" anchor="t">
            <a:spAutoFit/>
          </a:bodyPr>
          <a:lstStyle/>
          <a:p>
            <a:pPr marL="649675" lvl="1" indent="-324837" algn="l">
              <a:lnSpc>
                <a:spcPts val="4212"/>
              </a:lnSpc>
              <a:buFont typeface="Arial"/>
              <a:buChar char="•"/>
            </a:pPr>
            <a:r>
              <a:rPr lang="en-US" sz="3009" spc="300" err="1">
                <a:solidFill>
                  <a:srgbClr val="000000"/>
                </a:solidFill>
                <a:latin typeface="Literata"/>
                <a:ea typeface="Literata"/>
                <a:cs typeface="Literata"/>
                <a:sym typeface="Literata"/>
              </a:rPr>
              <a:t>Ảnh đầu vào → Tiền xử lý (grayscale, threshold) </a:t>
            </a:r>
          </a:p>
          <a:p>
            <a:pPr marL="649675" lvl="1" indent="-324837" algn="l">
              <a:lnSpc>
                <a:spcPts val="4212"/>
              </a:lnSpc>
              <a:buFont typeface="Arial"/>
              <a:buChar char="•"/>
            </a:pPr>
            <a:r>
              <a:rPr lang="en-US" sz="3009" spc="300">
                <a:solidFill>
                  <a:srgbClr val="000000"/>
                </a:solidFill>
                <a:latin typeface="Literata"/>
                <a:ea typeface="Literata"/>
                <a:cs typeface="Literata"/>
                <a:sym typeface="Literata"/>
              </a:rPr>
              <a:t>Connected Components → gán nhãn vùng liên thông Contour → trích xuất biên đối tượng </a:t>
            </a:r>
          </a:p>
          <a:p>
            <a:pPr marL="649675" lvl="1" indent="-324837" algn="l">
              <a:lnSpc>
                <a:spcPts val="4212"/>
              </a:lnSpc>
              <a:spcBef>
                <a:spcPct val="0"/>
              </a:spcBef>
              <a:buFont typeface="Arial"/>
              <a:buChar char="•"/>
            </a:pPr>
            <a:r>
              <a:rPr lang="en-US" sz="3009" spc="300" err="1">
                <a:solidFill>
                  <a:srgbClr val="000000"/>
                </a:solidFill>
                <a:latin typeface="Literata"/>
                <a:ea typeface="Literata"/>
                <a:cs typeface="Literata"/>
                <a:sym typeface="Literata"/>
              </a:rPr>
              <a:t>Biểu diễn đối tượng bằng bounding box hoặc convex hull </a:t>
            </a:r>
          </a:p>
        </p:txBody>
      </p:sp>
      <p:sp>
        <p:nvSpPr>
          <p:cNvPr id="8" name="TextBox 8"/>
          <p:cNvSpPr txBox="1"/>
          <p:nvPr/>
        </p:nvSpPr>
        <p:spPr>
          <a:xfrm>
            <a:off x="7215887" y="5929081"/>
            <a:ext cx="9602562" cy="3638550"/>
          </a:xfrm>
          <a:prstGeom prst="rect">
            <a:avLst/>
          </a:prstGeom>
        </p:spPr>
        <p:txBody>
          <a:bodyPr lIns="0" tIns="0" rIns="0" bIns="0" rtlCol="0" anchor="t">
            <a:spAutoFit/>
          </a:bodyPr>
          <a:lstStyle/>
          <a:p>
            <a:pPr marL="647697" lvl="1" indent="-323848" algn="just">
              <a:lnSpc>
                <a:spcPts val="4199"/>
              </a:lnSpc>
              <a:spcBef>
                <a:spcPct val="0"/>
              </a:spcBef>
              <a:buFont typeface="Arial"/>
              <a:buChar char="•"/>
            </a:pPr>
            <a:r>
              <a:rPr lang="en-US" sz="2999" spc="299">
                <a:solidFill>
                  <a:srgbClr val="000000"/>
                </a:solidFill>
                <a:latin typeface="Literata"/>
                <a:ea typeface="Literata"/>
                <a:cs typeface="Literata"/>
                <a:sym typeface="Literata"/>
              </a:rPr>
              <a:t>Nhị phân ảnh để phát hiện đối tượng</a:t>
            </a:r>
          </a:p>
          <a:p>
            <a:pPr marL="647697" lvl="1" indent="-323848" algn="just">
              <a:lnSpc>
                <a:spcPts val="4199"/>
              </a:lnSpc>
              <a:spcBef>
                <a:spcPct val="0"/>
              </a:spcBef>
              <a:buFont typeface="Arial"/>
              <a:buChar char="•"/>
            </a:pPr>
            <a:r>
              <a:rPr lang="en-US" sz="2999" spc="299">
                <a:solidFill>
                  <a:srgbClr val="000000"/>
                </a:solidFill>
                <a:latin typeface="Literata"/>
                <a:ea typeface="Literata"/>
                <a:cs typeface="Literata"/>
                <a:sym typeface="Literata"/>
              </a:rPr>
              <a:t>cv2.connectedComponents để đếm số vùng liên thông </a:t>
            </a:r>
          </a:p>
          <a:p>
            <a:pPr marL="647697" lvl="1" indent="-323848" algn="just">
              <a:lnSpc>
                <a:spcPts val="4199"/>
              </a:lnSpc>
              <a:spcBef>
                <a:spcPct val="0"/>
              </a:spcBef>
              <a:buFont typeface="Arial"/>
              <a:buChar char="•"/>
            </a:pPr>
            <a:r>
              <a:rPr lang="en-US" sz="2999" spc="299">
                <a:solidFill>
                  <a:srgbClr val="000000"/>
                </a:solidFill>
                <a:latin typeface="Literata"/>
                <a:ea typeface="Literata"/>
                <a:cs typeface="Literata"/>
                <a:sym typeface="Literata"/>
              </a:rPr>
              <a:t>cv2.findContours để lấy đường biên từng đối tượng </a:t>
            </a:r>
          </a:p>
          <a:p>
            <a:pPr marL="647697" lvl="1" indent="-323848" algn="just">
              <a:lnSpc>
                <a:spcPts val="4199"/>
              </a:lnSpc>
              <a:spcBef>
                <a:spcPct val="0"/>
              </a:spcBef>
              <a:buFont typeface="Arial"/>
              <a:buChar char="•"/>
            </a:pPr>
            <a:r>
              <a:rPr lang="en-US" sz="2999" spc="299">
                <a:solidFill>
                  <a:srgbClr val="000000"/>
                </a:solidFill>
                <a:latin typeface="Literata"/>
                <a:ea typeface="Literata"/>
                <a:cs typeface="Literata"/>
                <a:sym typeface="Literata"/>
              </a:rPr>
              <a:t>Có thể tính và hiển thị đặc trưng hình học (diện tích, chu vi, tâm…)</a:t>
            </a:r>
          </a:p>
        </p:txBody>
      </p:sp>
      <p:sp>
        <p:nvSpPr>
          <p:cNvPr id="10" name="Freeform 10"/>
          <p:cNvSpPr/>
          <p:nvPr/>
        </p:nvSpPr>
        <p:spPr>
          <a:xfrm>
            <a:off x="469896" y="741235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4"/>
            <a:stretch>
              <a:fillRect/>
            </a:stretch>
          </a:blipFill>
        </p:spPr>
        <p:txBody>
          <a:bodyPr/>
          <a:lstStyle/>
          <a:p>
            <a:endParaRPr lang="en-US"/>
          </a:p>
        </p:txBody>
      </p:sp>
      <p:sp>
        <p:nvSpPr>
          <p:cNvPr id="11" name="TextBox 11"/>
          <p:cNvSpPr txBox="1"/>
          <p:nvPr/>
        </p:nvSpPr>
        <p:spPr>
          <a:xfrm>
            <a:off x="672345" y="6848474"/>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9893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4</a:t>
            </a:r>
          </a:p>
        </p:txBody>
      </p:sp>
      <p:sp>
        <p:nvSpPr>
          <p:cNvPr id="5" name="TextBox 5"/>
          <p:cNvSpPr txBox="1"/>
          <p:nvPr/>
        </p:nvSpPr>
        <p:spPr>
          <a:xfrm>
            <a:off x="1028700" y="2783205"/>
            <a:ext cx="16263342" cy="4194176"/>
          </a:xfrm>
          <a:prstGeom prst="rect">
            <a:avLst/>
          </a:prstGeom>
        </p:spPr>
        <p:txBody>
          <a:bodyPr lIns="0" tIns="0" rIns="0" bIns="0" rtlCol="0" anchor="t">
            <a:spAutoFit/>
          </a:bodyPr>
          <a:lstStyle/>
          <a:p>
            <a:pPr algn="l">
              <a:lnSpc>
                <a:spcPts val="5599"/>
              </a:lnSpc>
            </a:pPr>
            <a:r>
              <a:rPr lang="en-US" sz="3999" spc="399">
                <a:solidFill>
                  <a:srgbClr val="000000"/>
                </a:solidFill>
                <a:latin typeface="Literata"/>
                <a:ea typeface="Literata"/>
                <a:cs typeface="Literata"/>
                <a:sym typeface="Literata"/>
              </a:rPr>
              <a:t>Tiến trình xử lý </a:t>
            </a:r>
          </a:p>
          <a:p>
            <a:pPr algn="l">
              <a:lnSpc>
                <a:spcPts val="5599"/>
              </a:lnSpc>
            </a:pPr>
            <a:endParaRPr lang="en-US" sz="3999" spc="399">
              <a:solidFill>
                <a:srgbClr val="000000"/>
              </a:solidFill>
              <a:latin typeface="Literata"/>
              <a:ea typeface="Literata"/>
              <a:cs typeface="Literata"/>
              <a:sym typeface="Literata"/>
            </a:endParaRP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Đọc ảnh → chuyển xám → nhị phân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Gán nhãn các vùng liên thông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Trích xuất contour cho từng đối tượng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Vẽ bounding box hoặc convex hull và hiển thị kết quả</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582632" y="3101258"/>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Freeform 4"/>
          <p:cNvSpPr/>
          <p:nvPr/>
        </p:nvSpPr>
        <p:spPr>
          <a:xfrm>
            <a:off x="469896" y="741235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6" name="TextBox 6"/>
          <p:cNvSpPr txBox="1"/>
          <p:nvPr/>
        </p:nvSpPr>
        <p:spPr>
          <a:xfrm>
            <a:off x="469896" y="419417"/>
            <a:ext cx="156083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5</a:t>
            </a:r>
          </a:p>
        </p:txBody>
      </p:sp>
      <p:sp>
        <p:nvSpPr>
          <p:cNvPr id="7" name="TextBox 7"/>
          <p:cNvSpPr txBox="1"/>
          <p:nvPr/>
        </p:nvSpPr>
        <p:spPr>
          <a:xfrm>
            <a:off x="951429" y="2310949"/>
            <a:ext cx="4910383" cy="547714"/>
          </a:xfrm>
          <a:prstGeom prst="rect">
            <a:avLst/>
          </a:prstGeom>
        </p:spPr>
        <p:txBody>
          <a:bodyPr wrap="square"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 Sơ đồ tổng quan</a:t>
            </a:r>
            <a:endParaRPr lang="en-US" sz="3299" spc="329">
              <a:solidFill>
                <a:srgbClr val="000000"/>
              </a:solidFill>
              <a:latin typeface="Literata"/>
              <a:ea typeface="Literata"/>
              <a:cs typeface="Literata"/>
              <a:sym typeface="Literata"/>
            </a:endParaRPr>
          </a:p>
        </p:txBody>
      </p:sp>
      <p:sp>
        <p:nvSpPr>
          <p:cNvPr id="8" name="TextBox 8"/>
          <p:cNvSpPr txBox="1"/>
          <p:nvPr/>
        </p:nvSpPr>
        <p:spPr>
          <a:xfrm>
            <a:off x="6993223" y="1541939"/>
            <a:ext cx="9602562" cy="3714750"/>
          </a:xfrm>
          <a:prstGeom prst="rect">
            <a:avLst/>
          </a:prstGeom>
        </p:spPr>
        <p:txBody>
          <a:bodyPr lIns="0" tIns="0" rIns="0" bIns="0" rtlCol="0" anchor="t">
            <a:spAutoFit/>
          </a:bodyPr>
          <a:lstStyle/>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Ảnh → tiền xử lý (grayscale, threshold) → trích xuất contour </a:t>
            </a:r>
          </a:p>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Mã hoá biên bằng chain code (Freeman 4/8 hướng) </a:t>
            </a:r>
          </a:p>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So sánh chain code với contour của OpenCV (Tùy chọn) </a:t>
            </a:r>
          </a:p>
          <a:p>
            <a:pPr marL="647700" lvl="1" indent="-323850" algn="l">
              <a:lnSpc>
                <a:spcPts val="4200"/>
              </a:lnSpc>
              <a:spcBef>
                <a:spcPct val="0"/>
              </a:spcBef>
              <a:buFont typeface="Arial"/>
              <a:buChar char="•"/>
            </a:pPr>
            <a:r>
              <a:rPr lang="en-US" sz="3000" spc="300">
                <a:solidFill>
                  <a:srgbClr val="000000"/>
                </a:solidFill>
                <a:latin typeface="Literata"/>
                <a:ea typeface="Literata"/>
                <a:cs typeface="Literata"/>
                <a:sym typeface="Literata"/>
              </a:rPr>
              <a:t>Khôi phục đường biên từ chain code</a:t>
            </a:r>
          </a:p>
        </p:txBody>
      </p:sp>
      <p:sp>
        <p:nvSpPr>
          <p:cNvPr id="9" name="TextBox 9"/>
          <p:cNvSpPr txBox="1"/>
          <p:nvPr/>
        </p:nvSpPr>
        <p:spPr>
          <a:xfrm>
            <a:off x="672345" y="6848474"/>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p>
        </p:txBody>
      </p:sp>
      <p:sp>
        <p:nvSpPr>
          <p:cNvPr id="10" name="TextBox 10"/>
          <p:cNvSpPr txBox="1"/>
          <p:nvPr/>
        </p:nvSpPr>
        <p:spPr>
          <a:xfrm>
            <a:off x="6993223" y="6437662"/>
            <a:ext cx="9602562" cy="3638550"/>
          </a:xfrm>
          <a:prstGeom prst="rect">
            <a:avLst/>
          </a:prstGeom>
        </p:spPr>
        <p:txBody>
          <a:bodyPr lIns="0" tIns="0" rIns="0" bIns="0" rtlCol="0" anchor="t">
            <a:spAutoFit/>
          </a:bodyPr>
          <a:lstStyle/>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Dùng cv2.findContours lấy contour chuẩn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Dò theo biên để sinh chuỗi hướng: {0..3} hoặc {0..7}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Chuẩn hoá: chọn điểm bắt đầu, mã vi phân (difference code) để bất biến quay/dịch </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6845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5</a:t>
            </a:r>
          </a:p>
        </p:txBody>
      </p:sp>
      <p:sp>
        <p:nvSpPr>
          <p:cNvPr id="6" name="Freeform 6"/>
          <p:cNvSpPr/>
          <p:nvPr/>
        </p:nvSpPr>
        <p:spPr>
          <a:xfrm>
            <a:off x="1939483" y="4428279"/>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7999245" y="4081530"/>
            <a:ext cx="10088357" cy="2444750"/>
          </a:xfrm>
          <a:prstGeom prst="rect">
            <a:avLst/>
          </a:prstGeom>
        </p:spPr>
        <p:txBody>
          <a:bodyPr lIns="0" tIns="0" rIns="0" bIns="0" rtlCol="0" anchor="t">
            <a:spAutoFit/>
          </a:bodyPr>
          <a:lstStyle/>
          <a:p>
            <a:pPr marL="755647" lvl="1" indent="-377824" algn="l">
              <a:lnSpc>
                <a:spcPts val="4899"/>
              </a:lnSpc>
              <a:spcBef>
                <a:spcPct val="0"/>
              </a:spcBef>
              <a:buFont typeface="Arial"/>
              <a:buChar char="•"/>
            </a:pPr>
            <a:r>
              <a:rPr lang="en-US" sz="3499" spc="349">
                <a:solidFill>
                  <a:srgbClr val="000000"/>
                </a:solidFill>
                <a:latin typeface="Literata"/>
                <a:ea typeface="Literata"/>
                <a:cs typeface="Literata"/>
                <a:sym typeface="Literata"/>
              </a:rPr>
              <a:t>Contour vector: danh sách điểm (tọa độ)</a:t>
            </a:r>
          </a:p>
          <a:p>
            <a:pPr marL="755647" lvl="1" indent="-377824" algn="l">
              <a:lnSpc>
                <a:spcPts val="4899"/>
              </a:lnSpc>
              <a:spcBef>
                <a:spcPct val="0"/>
              </a:spcBef>
              <a:buFont typeface="Arial"/>
              <a:buChar char="•"/>
            </a:pPr>
            <a:r>
              <a:rPr lang="en-US" sz="3499" spc="349">
                <a:solidFill>
                  <a:srgbClr val="000000"/>
                </a:solidFill>
                <a:latin typeface="Literata"/>
                <a:ea typeface="Literata"/>
                <a:cs typeface="Literata"/>
                <a:sym typeface="Literata"/>
              </a:rPr>
              <a:t>Chain code: dãy ký hiệu hướng, gọn và phù hợp nhận dạng mẫu</a:t>
            </a:r>
          </a:p>
        </p:txBody>
      </p:sp>
      <p:sp>
        <p:nvSpPr>
          <p:cNvPr id="8" name="TextBox 8"/>
          <p:cNvSpPr txBox="1"/>
          <p:nvPr/>
        </p:nvSpPr>
        <p:spPr>
          <a:xfrm>
            <a:off x="2274200" y="3823402"/>
            <a:ext cx="5204016"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So sánh kết quả trên:</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6845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5</a:t>
            </a:r>
          </a:p>
        </p:txBody>
      </p:sp>
      <p:sp>
        <p:nvSpPr>
          <p:cNvPr id="5" name="TextBox 5"/>
          <p:cNvSpPr txBox="1"/>
          <p:nvPr/>
        </p:nvSpPr>
        <p:spPr>
          <a:xfrm>
            <a:off x="1028700" y="2783205"/>
            <a:ext cx="17259300" cy="4899026"/>
          </a:xfrm>
          <a:prstGeom prst="rect">
            <a:avLst/>
          </a:prstGeom>
        </p:spPr>
        <p:txBody>
          <a:bodyPr lIns="0" tIns="0" rIns="0" bIns="0" rtlCol="0" anchor="t">
            <a:spAutoFit/>
          </a:bodyPr>
          <a:lstStyle/>
          <a:p>
            <a:pPr algn="l">
              <a:lnSpc>
                <a:spcPts val="5599"/>
              </a:lnSpc>
            </a:pPr>
            <a:r>
              <a:rPr lang="en-US" sz="3999" spc="399">
                <a:solidFill>
                  <a:srgbClr val="000000"/>
                </a:solidFill>
                <a:latin typeface="Literata"/>
                <a:ea typeface="Literata"/>
                <a:cs typeface="Literata"/>
                <a:sym typeface="Literata"/>
              </a:rPr>
              <a:t>Tiến trình xử lý </a:t>
            </a:r>
          </a:p>
          <a:p>
            <a:pPr algn="l">
              <a:lnSpc>
                <a:spcPts val="5599"/>
              </a:lnSpc>
            </a:pPr>
            <a:endParaRPr lang="en-US" sz="3999" spc="399">
              <a:solidFill>
                <a:srgbClr val="000000"/>
              </a:solidFill>
              <a:latin typeface="Literata"/>
              <a:ea typeface="Literata"/>
              <a:cs typeface="Literata"/>
              <a:sym typeface="Literata"/>
            </a:endParaRP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Nhị phân ảnh, làm sạch bằng morphology nếu cần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Tìm contour chính của đối tượng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Dò biên và sinh chain code (4/8 hướng)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Xuất chain code ra file; so sánh với contour (độ dài, chu vi ước lượng, tái tạo)</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700778" y="3140729"/>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3"/>
            <a:stretch>
              <a:fillRect/>
            </a:stretch>
          </a:blipFill>
        </p:spPr>
        <p:txBody>
          <a:bodyPr/>
          <a:lstStyle/>
          <a:p>
            <a:endParaRPr lang="en-US"/>
          </a:p>
        </p:txBody>
      </p:sp>
      <p:sp>
        <p:nvSpPr>
          <p:cNvPr id="4" name="Freeform 4"/>
          <p:cNvSpPr/>
          <p:nvPr/>
        </p:nvSpPr>
        <p:spPr>
          <a:xfrm>
            <a:off x="469896" y="7412355"/>
            <a:ext cx="5873451" cy="1080057"/>
          </a:xfrm>
          <a:custGeom>
            <a:rect l="l" t="t" r="r" b="b"/>
            <a:pathLst>
              <a:path w="5873451" h="1080057">
                <a:moveTo>
                  <a:pt x="0" y="0"/>
                </a:moveTo>
                <a:lnTo>
                  <a:pt x="5873451" y="0"/>
                </a:lnTo>
                <a:lnTo>
                  <a:pt x="5873451" y="1080057"/>
                </a:lnTo>
                <a:lnTo>
                  <a:pt x="0" y="1080057"/>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6" name="TextBox 6"/>
          <p:cNvSpPr txBox="1"/>
          <p:nvPr/>
        </p:nvSpPr>
        <p:spPr>
          <a:xfrm>
            <a:off x="469896" y="419417"/>
            <a:ext cx="156083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3. Thiết kế &amp; phương pháp giải quyết bài 6</a:t>
            </a:r>
          </a:p>
        </p:txBody>
      </p:sp>
      <p:sp>
        <p:nvSpPr>
          <p:cNvPr id="7" name="TextBox 7"/>
          <p:cNvSpPr txBox="1"/>
          <p:nvPr/>
        </p:nvSpPr>
        <p:spPr>
          <a:xfrm>
            <a:off x="873370" y="2264120"/>
            <a:ext cx="5246484" cy="563881"/>
          </a:xfrm>
          <a:prstGeom prst="rect">
            <a:avLst/>
          </a:prstGeom>
        </p:spPr>
        <p:txBody>
          <a:bodyPr wrap="square"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 Sơ đồ tổng quan</a:t>
            </a:r>
            <a:endParaRPr lang="en-US" sz="3299" spc="329">
              <a:solidFill>
                <a:srgbClr val="000000"/>
              </a:solidFill>
              <a:latin typeface="Literata"/>
              <a:ea typeface="Literata"/>
              <a:cs typeface="Literata"/>
              <a:sym typeface="Literata"/>
            </a:endParaRPr>
          </a:p>
        </p:txBody>
      </p:sp>
      <p:sp>
        <p:nvSpPr>
          <p:cNvPr id="8" name="TextBox 8"/>
          <p:cNvSpPr txBox="1"/>
          <p:nvPr/>
        </p:nvSpPr>
        <p:spPr>
          <a:xfrm>
            <a:off x="6993223" y="1541939"/>
            <a:ext cx="9602562" cy="3714750"/>
          </a:xfrm>
          <a:prstGeom prst="rect">
            <a:avLst/>
          </a:prstGeom>
        </p:spPr>
        <p:txBody>
          <a:bodyPr lIns="0" tIns="0" rIns="0" bIns="0" rtlCol="0" anchor="t">
            <a:spAutoFit/>
          </a:bodyPr>
          <a:lstStyle/>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Xác định bài toán thực tế → chọn kỹ thuật phân đoạn phù hợp </a:t>
            </a:r>
          </a:p>
          <a:p>
            <a:pPr marL="647700" lvl="1" indent="-323850" algn="l">
              <a:lnSpc>
                <a:spcPts val="4200"/>
              </a:lnSpc>
              <a:buFont typeface="Arial"/>
              <a:buChar char="•"/>
            </a:pPr>
            <a:r>
              <a:rPr lang="en-US" sz="3000" spc="300">
                <a:solidFill>
                  <a:srgbClr val="000000"/>
                </a:solidFill>
                <a:latin typeface="Literata"/>
                <a:ea typeface="Literata"/>
                <a:cs typeface="Literata"/>
                <a:sym typeface="Literata"/>
              </a:rPr>
              <a:t>Tiền xử lý → phân đoạn (Thresholding / Region Growing / Watershed / Connected Components / Contour) </a:t>
            </a:r>
          </a:p>
          <a:p>
            <a:pPr marL="647700" lvl="1" indent="-323850" algn="l">
              <a:lnSpc>
                <a:spcPts val="4200"/>
              </a:lnSpc>
              <a:spcBef>
                <a:spcPct val="0"/>
              </a:spcBef>
              <a:buFont typeface="Arial"/>
              <a:buChar char="•"/>
            </a:pPr>
            <a:r>
              <a:rPr lang="en-US" sz="3000" spc="300">
                <a:solidFill>
                  <a:srgbClr val="000000"/>
                </a:solidFill>
                <a:latin typeface="Literata"/>
                <a:ea typeface="Literata"/>
                <a:cs typeface="Literata"/>
                <a:sym typeface="Literata"/>
              </a:rPr>
              <a:t>Hậu xử lý (morphology, lọc nhiễu) → trích xuất đặc trưng → đánh giá</a:t>
            </a:r>
          </a:p>
        </p:txBody>
      </p:sp>
      <p:sp>
        <p:nvSpPr>
          <p:cNvPr id="9" name="TextBox 9"/>
          <p:cNvSpPr txBox="1"/>
          <p:nvPr/>
        </p:nvSpPr>
        <p:spPr>
          <a:xfrm>
            <a:off x="672345" y="6848474"/>
            <a:ext cx="5468554" cy="563881"/>
          </a:xfrm>
          <a:prstGeom prst="rect">
            <a:avLst/>
          </a:prstGeom>
        </p:spPr>
        <p:txBody>
          <a:bodyPr lIns="0" tIns="0" rIns="0" bIns="0" rtlCol="0" anchor="t">
            <a:spAutoFit/>
          </a:bodyPr>
          <a:lstStyle/>
          <a:p>
            <a:pPr algn="ctr">
              <a:lnSpc>
                <a:spcPts val="4619"/>
              </a:lnSpc>
              <a:spcBef>
                <a:spcPct val="0"/>
              </a:spcBef>
            </a:pPr>
            <a:r>
              <a:rPr lang="en-US" sz="3299" spc="329">
                <a:solidFill>
                  <a:srgbClr val="000000"/>
                </a:solidFill>
                <a:latin typeface="Literata"/>
                <a:ea typeface="Literata"/>
                <a:cs typeface="Literata"/>
                <a:sym typeface="Literata"/>
              </a:rPr>
              <a:t>Phương pháp đề xuất</a:t>
            </a:r>
          </a:p>
        </p:txBody>
      </p:sp>
      <p:sp>
        <p:nvSpPr>
          <p:cNvPr id="10" name="TextBox 10"/>
          <p:cNvSpPr txBox="1"/>
          <p:nvPr/>
        </p:nvSpPr>
        <p:spPr>
          <a:xfrm>
            <a:off x="6993223" y="5847358"/>
            <a:ext cx="10715884" cy="4162425"/>
          </a:xfrm>
          <a:prstGeom prst="rect">
            <a:avLst/>
          </a:prstGeom>
        </p:spPr>
        <p:txBody>
          <a:bodyPr lIns="0" tIns="0" rIns="0" bIns="0" rtlCol="0" anchor="t">
            <a:spAutoFit/>
          </a:bodyPr>
          <a:lstStyle/>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Y tế: tách u MRI, đếm tế bào (Watershed + distance transform)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Nông nghiệp: đếm/truy vết quả, phát hiện bệnh lá (Thresholding + contour/hull)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Giao thông: vạch kẻ đường, biển số (threshold theo màu + morphology + contour) </a:t>
            </a:r>
          </a:p>
          <a:p>
            <a:pPr marL="647697" lvl="1" indent="-323848" algn="l">
              <a:lnSpc>
                <a:spcPts val="4199"/>
              </a:lnSpc>
              <a:spcBef>
                <a:spcPct val="0"/>
              </a:spcBef>
              <a:buFont typeface="Arial"/>
              <a:buChar char="•"/>
            </a:pPr>
            <a:r>
              <a:rPr lang="en-US" sz="2999" spc="299">
                <a:solidFill>
                  <a:srgbClr val="000000"/>
                </a:solidFill>
                <a:latin typeface="Literata"/>
                <a:ea typeface="Literata"/>
                <a:cs typeface="Literata"/>
                <a:sym typeface="Literata"/>
              </a:rPr>
              <a:t>An ninh: tách người khỏi nền, nhận diện mặt (background subtraction + contour/CC)</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5684505" cy="1092863"/>
          </a:xfrm>
          <a:prstGeom prst="rect">
            <a:avLst/>
          </a:prstGeom>
        </p:spPr>
        <p:txBody>
          <a:bodyPr wrap="square"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4. Thiết kế &amp; Phương pháp giải quyết bài 6</a:t>
            </a:r>
          </a:p>
        </p:txBody>
      </p:sp>
      <p:sp>
        <p:nvSpPr>
          <p:cNvPr id="5" name="TextBox 5"/>
          <p:cNvSpPr txBox="1"/>
          <p:nvPr/>
        </p:nvSpPr>
        <p:spPr>
          <a:xfrm>
            <a:off x="1009650" y="2792730"/>
            <a:ext cx="17278350" cy="6308726"/>
          </a:xfrm>
          <a:prstGeom prst="rect">
            <a:avLst/>
          </a:prstGeom>
        </p:spPr>
        <p:txBody>
          <a:bodyPr lIns="0" tIns="0" rIns="0" bIns="0" rtlCol="0" anchor="t">
            <a:spAutoFit/>
          </a:bodyPr>
          <a:lstStyle/>
          <a:p>
            <a:pPr algn="l">
              <a:lnSpc>
                <a:spcPts val="5599"/>
              </a:lnSpc>
            </a:pPr>
            <a:r>
              <a:rPr lang="en-US" sz="3999" spc="399">
                <a:solidFill>
                  <a:srgbClr val="000000"/>
                </a:solidFill>
                <a:latin typeface="Literata"/>
                <a:ea typeface="Literata"/>
                <a:cs typeface="Literata"/>
                <a:sym typeface="Literata"/>
              </a:rPr>
              <a:t>Tiến trình xử lý </a:t>
            </a:r>
          </a:p>
          <a:p>
            <a:pPr algn="l">
              <a:lnSpc>
                <a:spcPts val="5599"/>
              </a:lnSpc>
            </a:pPr>
            <a:endParaRPr lang="en-US" sz="3999" spc="399">
              <a:solidFill>
                <a:srgbClr val="000000"/>
              </a:solidFill>
              <a:latin typeface="Literata"/>
              <a:ea typeface="Literata"/>
              <a:cs typeface="Literata"/>
              <a:sym typeface="Literata"/>
            </a:endParaRP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Chọn miền ứng dụng và mục tiêu cần tách/đếm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Lựa chọn kỹ thuật phân đoạn tương ứng (từ các bài 1–5)</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Hậu xử lý để làm sạch và nối vùng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Trích xuất đặc trưng (diện tích, chu vi, số lượng, bbox, hull) </a:t>
            </a:r>
          </a:p>
          <a:p>
            <a:pPr marL="863591" lvl="1" indent="-431796" algn="l">
              <a:lnSpc>
                <a:spcPts val="5599"/>
              </a:lnSpc>
              <a:spcBef>
                <a:spcPct val="0"/>
              </a:spcBef>
              <a:buFont typeface="Arial"/>
              <a:buChar char="•"/>
            </a:pPr>
            <a:r>
              <a:rPr lang="en-US" sz="3999" spc="399">
                <a:solidFill>
                  <a:srgbClr val="000000"/>
                </a:solidFill>
                <a:latin typeface="Literata"/>
                <a:ea typeface="Literata"/>
                <a:cs typeface="Literata"/>
                <a:sym typeface="Literata"/>
              </a:rPr>
              <a:t>Đánh giá nhanh (độ chính xác đếm, IoU/Precision nếu có nhãn)</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621036"/>
            <a:ext cx="10068120" cy="4505193"/>
          </a:xfrm>
          <a:prstGeom prst="rect">
            <a:avLst/>
          </a:prstGeom>
        </p:spPr>
        <p:txBody>
          <a:bodyPr lIns="0" tIns="0" rIns="0" bIns="0" rtlCol="0" anchor="t">
            <a:spAutoFit/>
          </a:bodyPr>
          <a:lstStyle/>
          <a:p>
            <a:pPr algn="l">
              <a:lnSpc>
                <a:spcPts val="5104"/>
              </a:lnSpc>
            </a:pPr>
            <a:r>
              <a:rPr lang="en-US" sz="3190">
                <a:solidFill>
                  <a:srgbClr val="00BF63"/>
                </a:solidFill>
                <a:latin typeface="Open Sauce"/>
                <a:ea typeface="Open Sauce"/>
                <a:cs typeface="Open Sauce"/>
                <a:sym typeface="Open Sauce"/>
              </a:rPr>
              <a:t># Phân ngưỡng toàn cục (Global Threshold)</a:t>
            </a:r>
          </a:p>
          <a:p>
            <a:pPr algn="l">
              <a:lnSpc>
                <a:spcPts val="5104"/>
              </a:lnSpc>
              <a:spcBef>
                <a:spcPct val="0"/>
              </a:spcBef>
            </a:pPr>
            <a:r>
              <a:rPr lang="en-US" sz="3190">
                <a:solidFill>
                  <a:srgbClr val="000000"/>
                </a:solidFill>
                <a:latin typeface="Open Sauce"/>
                <a:ea typeface="Open Sauce"/>
                <a:cs typeface="Open Sauce"/>
                <a:sym typeface="Open Sauce"/>
              </a:rPr>
              <a:t>def Global_Threshold(img_gray, T, inverse=False):</a:t>
            </a:r>
          </a:p>
          <a:p>
            <a:pPr algn="l">
              <a:lnSpc>
                <a:spcPts val="5104"/>
              </a:lnSpc>
              <a:spcBef>
                <a:spcPct val="0"/>
              </a:spcBef>
            </a:pPr>
            <a:r>
              <a:rPr lang="en-US" sz="3190">
                <a:solidFill>
                  <a:srgbClr val="000000"/>
                </a:solidFill>
                <a:latin typeface="Open Sauce"/>
                <a:ea typeface="Open Sauce"/>
                <a:cs typeface="Open Sauce"/>
                <a:sym typeface="Open Sauce"/>
              </a:rPr>
              <a:t>  th_type = cv2.THRESH_BINARY_INV if inverse else cv2.THRESH_BINARY</a:t>
            </a:r>
          </a:p>
          <a:p>
            <a:pPr algn="l">
              <a:lnSpc>
                <a:spcPts val="5104"/>
              </a:lnSpc>
              <a:spcBef>
                <a:spcPct val="0"/>
              </a:spcBef>
            </a:pPr>
            <a:r>
              <a:rPr lang="en-US" sz="3190">
                <a:solidFill>
                  <a:srgbClr val="000000"/>
                </a:solidFill>
                <a:latin typeface="Open Sauce"/>
                <a:ea typeface="Open Sauce"/>
                <a:cs typeface="Open Sauce"/>
                <a:sym typeface="Open Sauce"/>
              </a:rPr>
              <a:t>  _, out = cv2.threshold(img_gray, T, 255, th_type)</a:t>
            </a:r>
          </a:p>
          <a:p>
            <a:pPr algn="l">
              <a:lnSpc>
                <a:spcPts val="5104"/>
              </a:lnSpc>
              <a:spcBef>
                <a:spcPct val="0"/>
              </a:spcBef>
            </a:pPr>
            <a:r>
              <a:rPr lang="en-US" sz="3190">
                <a:solidFill>
                  <a:srgbClr val="000000"/>
                </a:solidFill>
                <a:latin typeface="Open Sauce"/>
                <a:ea typeface="Open Sauce"/>
                <a:cs typeface="Open Sauce"/>
                <a:sym typeface="Open Sauce"/>
              </a:rPr>
              <a:t>  return out</a:t>
            </a:r>
          </a:p>
          <a:p>
            <a:pPr algn="just">
              <a:lnSpc>
                <a:spcPts val="5104"/>
              </a:lnSpc>
              <a:spcBef>
                <a:spcPct val="0"/>
              </a:spcBef>
            </a:pPr>
            <a:endParaRPr lang="en-US" sz="3190">
              <a:solidFill>
                <a:srgbClr val="000000"/>
              </a:solidFill>
              <a:latin typeface="Open Sauce"/>
              <a:ea typeface="Open Sauce"/>
              <a:cs typeface="Open Sauce"/>
              <a:sym typeface="Open Sauce"/>
            </a:endParaRPr>
          </a:p>
        </p:txBody>
      </p:sp>
      <p:sp>
        <p:nvSpPr>
          <p:cNvPr id="6" name="TextBox 6"/>
          <p:cNvSpPr txBox="1"/>
          <p:nvPr/>
        </p:nvSpPr>
        <p:spPr>
          <a:xfrm>
            <a:off x="703692" y="5670027"/>
            <a:ext cx="10639620" cy="5152893"/>
          </a:xfrm>
          <a:prstGeom prst="rect">
            <a:avLst/>
          </a:prstGeom>
        </p:spPr>
        <p:txBody>
          <a:bodyPr lIns="0" tIns="0" rIns="0" bIns="0" rtlCol="0" anchor="t">
            <a:spAutoFit/>
          </a:bodyPr>
          <a:lstStyle/>
          <a:p>
            <a:pPr algn="l">
              <a:lnSpc>
                <a:spcPts val="5104"/>
              </a:lnSpc>
            </a:pPr>
            <a:r>
              <a:rPr lang="en-US" sz="3190">
                <a:solidFill>
                  <a:srgbClr val="00BF63"/>
                </a:solidFill>
                <a:latin typeface="Open Sauce"/>
                <a:ea typeface="Open Sauce"/>
                <a:cs typeface="Open Sauce"/>
                <a:sym typeface="Open Sauce"/>
              </a:rPr>
              <a:t># Phân ngưỡng Otus's Method</a:t>
            </a:r>
          </a:p>
          <a:p>
            <a:pPr algn="l">
              <a:lnSpc>
                <a:spcPts val="5104"/>
              </a:lnSpc>
              <a:spcBef>
                <a:spcPct val="0"/>
              </a:spcBef>
            </a:pPr>
            <a:r>
              <a:rPr lang="en-US" sz="3190">
                <a:solidFill>
                  <a:srgbClr val="000000"/>
                </a:solidFill>
                <a:latin typeface="Open Sauce"/>
                <a:ea typeface="Open Sauce"/>
                <a:cs typeface="Open Sauce"/>
                <a:sym typeface="Open Sauce"/>
              </a:rPr>
              <a:t>def otsu(img_gray, inverse=False):</a:t>
            </a:r>
          </a:p>
          <a:p>
            <a:pPr algn="l">
              <a:lnSpc>
                <a:spcPts val="5104"/>
              </a:lnSpc>
              <a:spcBef>
                <a:spcPct val="0"/>
              </a:spcBef>
            </a:pPr>
            <a:r>
              <a:rPr lang="en-US" sz="3190">
                <a:solidFill>
                  <a:srgbClr val="000000"/>
                </a:solidFill>
                <a:latin typeface="Open Sauce"/>
                <a:ea typeface="Open Sauce"/>
                <a:cs typeface="Open Sauce"/>
                <a:sym typeface="Open Sauce"/>
              </a:rPr>
              <a:t>  th_type = cv2.THRESH_BINARY_INV if inverse else cv2.THRESH_BINARY</a:t>
            </a:r>
          </a:p>
          <a:p>
            <a:pPr algn="l">
              <a:lnSpc>
                <a:spcPts val="5104"/>
              </a:lnSpc>
              <a:spcBef>
                <a:spcPct val="0"/>
              </a:spcBef>
            </a:pPr>
            <a:r>
              <a:rPr lang="en-US" sz="3190">
                <a:solidFill>
                  <a:srgbClr val="000000"/>
                </a:solidFill>
                <a:latin typeface="Open Sauce"/>
                <a:ea typeface="Open Sauce"/>
                <a:cs typeface="Open Sauce"/>
                <a:sym typeface="Open Sauce"/>
              </a:rPr>
              <a:t>  T, out = cv2.threshold(img_gray, 0, 255, th_type + cv2.THRESH_OTSU)</a:t>
            </a:r>
          </a:p>
          <a:p>
            <a:pPr algn="l">
              <a:lnSpc>
                <a:spcPts val="5104"/>
              </a:lnSpc>
              <a:spcBef>
                <a:spcPct val="0"/>
              </a:spcBef>
            </a:pPr>
            <a:r>
              <a:rPr lang="en-US" sz="3190">
                <a:solidFill>
                  <a:srgbClr val="000000"/>
                </a:solidFill>
                <a:latin typeface="Open Sauce"/>
                <a:ea typeface="Open Sauce"/>
                <a:cs typeface="Open Sauce"/>
                <a:sym typeface="Open Sauce"/>
              </a:rPr>
              <a:t>  return T, out</a:t>
            </a:r>
          </a:p>
          <a:p>
            <a:pPr algn="just">
              <a:lnSpc>
                <a:spcPts val="5104"/>
              </a:lnSpc>
              <a:spcBef>
                <a:spcPct val="0"/>
              </a:spcBef>
            </a:pPr>
            <a:endParaRPr lang="en-US" sz="3190">
              <a:solidFill>
                <a:srgbClr val="000000"/>
              </a:solidFill>
              <a:latin typeface="Open Sauce"/>
              <a:ea typeface="Open Sauce"/>
              <a:cs typeface="Open Sauce"/>
              <a:sym typeface="Open Sauce"/>
            </a:endParaRPr>
          </a:p>
        </p:txBody>
      </p:sp>
      <p:sp>
        <p:nvSpPr>
          <p:cNvPr id="7" name="TextBox 7"/>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Arial" pitchFamily="34" charset="0"/>
                <a:ea typeface="Open Sauce Bold"/>
                <a:cs typeface="Arial" pitchFamily="34" charset="0"/>
                <a:sym typeface="Open Sauce Bold"/>
              </a:rPr>
              <a:t>PHÂN ĐOẠN ẢNH DỰA TRÊN NGƯỠNG – THRESHOLDING</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434466"/>
            <a:ext cx="11289052" cy="5152893"/>
          </a:xfrm>
          <a:prstGeom prst="rect">
            <a:avLst/>
          </a:prstGeom>
        </p:spPr>
        <p:txBody>
          <a:bodyPr lIns="0" tIns="0" rIns="0" bIns="0" rtlCol="0" anchor="t">
            <a:spAutoFit/>
          </a:bodyPr>
          <a:lstStyle/>
          <a:p>
            <a:pPr algn="just">
              <a:lnSpc>
                <a:spcPts val="5104"/>
              </a:lnSpc>
            </a:pPr>
            <a:r>
              <a:rPr lang="en-US" sz="3190">
                <a:solidFill>
                  <a:srgbClr val="00BF63"/>
                </a:solidFill>
                <a:latin typeface="Open Sauce"/>
                <a:ea typeface="Open Sauce"/>
                <a:cs typeface="Open Sauce"/>
                <a:sym typeface="Open Sauce"/>
              </a:rPr>
              <a:t>  # Phân ngưỡng Adaptive Threshold - Mean</a:t>
            </a:r>
          </a:p>
          <a:p>
            <a:pPr algn="just">
              <a:lnSpc>
                <a:spcPts val="5104"/>
              </a:lnSpc>
              <a:spcBef>
                <a:spcPct val="0"/>
              </a:spcBef>
            </a:pPr>
            <a:r>
              <a:rPr lang="en-US" sz="3190">
                <a:solidFill>
                  <a:srgbClr val="000000"/>
                </a:solidFill>
                <a:latin typeface="Open Sauce"/>
                <a:ea typeface="Open Sauce"/>
                <a:cs typeface="Open Sauce"/>
                <a:sym typeface="Open Sauce"/>
              </a:rPr>
              <a:t>  def adaptive_mean(img_gray):</a:t>
            </a:r>
          </a:p>
          <a:p>
            <a:pPr algn="just">
              <a:lnSpc>
                <a:spcPts val="5104"/>
              </a:lnSpc>
              <a:spcBef>
                <a:spcPct val="0"/>
              </a:spcBef>
            </a:pPr>
            <a:r>
              <a:rPr lang="en-US" sz="3190">
                <a:solidFill>
                  <a:srgbClr val="000000"/>
                </a:solidFill>
                <a:latin typeface="Open Sauce"/>
                <a:ea typeface="Open Sauce"/>
                <a:cs typeface="Open Sauce"/>
                <a:sym typeface="Open Sauce"/>
              </a:rPr>
              <a:t>    adapt_mean = cv2.adaptiveThreshold(img_gray, 255,</a:t>
            </a:r>
          </a:p>
          <a:p>
            <a:pPr algn="just">
              <a:lnSpc>
                <a:spcPts val="5104"/>
              </a:lnSpc>
              <a:spcBef>
                <a:spcPct val="0"/>
              </a:spcBef>
            </a:pPr>
            <a:r>
              <a:rPr lang="en-US" sz="3190">
                <a:solidFill>
                  <a:srgbClr val="000000"/>
                </a:solidFill>
                <a:latin typeface="Open Sauce"/>
                <a:ea typeface="Open Sauce"/>
                <a:cs typeface="Open Sauce"/>
                <a:sym typeface="Open Sauce"/>
              </a:rPr>
              <a:t>                    cv2.ADAPTIVE_THRESH_MEAN_C,</a:t>
            </a:r>
          </a:p>
          <a:p>
            <a:pPr algn="just">
              <a:lnSpc>
                <a:spcPts val="5104"/>
              </a:lnSpc>
              <a:spcBef>
                <a:spcPct val="0"/>
              </a:spcBef>
            </a:pPr>
            <a:r>
              <a:rPr lang="en-US" sz="3190">
                <a:solidFill>
                  <a:srgbClr val="000000"/>
                </a:solidFill>
                <a:latin typeface="Open Sauce"/>
                <a:ea typeface="Open Sauce"/>
                <a:cs typeface="Open Sauce"/>
                <a:sym typeface="Open Sauce"/>
              </a:rPr>
              <a:t>                    cv2.THRESH_BINARY,</a:t>
            </a:r>
          </a:p>
          <a:p>
            <a:pPr algn="just">
              <a:lnSpc>
                <a:spcPts val="5104"/>
              </a:lnSpc>
              <a:spcBef>
                <a:spcPct val="0"/>
              </a:spcBef>
            </a:pPr>
            <a:r>
              <a:rPr lang="en-US" sz="3190">
                <a:solidFill>
                  <a:srgbClr val="000000"/>
                </a:solidFill>
                <a:latin typeface="Open Sauce"/>
                <a:ea typeface="Open Sauce"/>
                <a:cs typeface="Open Sauce"/>
                <a:sym typeface="Open Sauce"/>
              </a:rPr>
              <a:t>                    11, 2)</a:t>
            </a:r>
          </a:p>
          <a:p>
            <a:pPr algn="just">
              <a:lnSpc>
                <a:spcPts val="5104"/>
              </a:lnSpc>
              <a:spcBef>
                <a:spcPct val="0"/>
              </a:spcBef>
            </a:pPr>
            <a:r>
              <a:rPr lang="en-US" sz="3190">
                <a:solidFill>
                  <a:srgbClr val="000000"/>
                </a:solidFill>
                <a:latin typeface="Open Sauce"/>
                <a:ea typeface="Open Sauce"/>
                <a:cs typeface="Open Sauce"/>
                <a:sym typeface="Open Sauce"/>
              </a:rPr>
              <a:t>    return adapt_mean</a:t>
            </a:r>
          </a:p>
          <a:p>
            <a:pPr algn="just">
              <a:lnSpc>
                <a:spcPts val="5104"/>
              </a:lnSpc>
              <a:spcBef>
                <a:spcPct val="0"/>
              </a:spcBef>
            </a:pPr>
            <a:endParaRPr lang="en-US" sz="3190">
              <a:solidFill>
                <a:srgbClr val="000000"/>
              </a:solidFill>
              <a:latin typeface="Open Sauce"/>
              <a:ea typeface="Open Sauce"/>
              <a:cs typeface="Open Sauce"/>
              <a:sym typeface="Open Sauce"/>
            </a:endParaRPr>
          </a:p>
        </p:txBody>
      </p:sp>
      <p:sp>
        <p:nvSpPr>
          <p:cNvPr id="6" name="TextBox 6"/>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Arial" pitchFamily="34" charset="0"/>
                <a:ea typeface="Open Sauce Bold"/>
                <a:cs typeface="Arial" pitchFamily="34" charset="0"/>
                <a:sym typeface="Open Sauce Bold"/>
              </a:rPr>
              <a:t>PHÂN ĐOẠN ẢNH DỰA TRÊN NGƯỠNG – THRESHOLDING</a:t>
            </a:r>
          </a:p>
        </p:txBody>
      </p:sp>
      <p:sp>
        <p:nvSpPr>
          <p:cNvPr id="7" name="TextBox 7"/>
          <p:cNvSpPr txBox="1"/>
          <p:nvPr/>
        </p:nvSpPr>
        <p:spPr>
          <a:xfrm>
            <a:off x="469896" y="5824970"/>
            <a:ext cx="10910616" cy="5067521"/>
          </a:xfrm>
          <a:prstGeom prst="rect">
            <a:avLst/>
          </a:prstGeom>
        </p:spPr>
        <p:txBody>
          <a:bodyPr lIns="0" tIns="0" rIns="0" bIns="0" rtlCol="0" anchor="t">
            <a:spAutoFit/>
          </a:bodyPr>
          <a:lstStyle/>
          <a:p>
            <a:pPr algn="just">
              <a:lnSpc>
                <a:spcPts val="5093"/>
              </a:lnSpc>
            </a:pPr>
            <a:r>
              <a:rPr lang="en-US" sz="3183">
                <a:solidFill>
                  <a:srgbClr val="00BF63"/>
                </a:solidFill>
                <a:latin typeface="Open Sauce"/>
                <a:ea typeface="Open Sauce"/>
                <a:cs typeface="Open Sauce"/>
                <a:sym typeface="Open Sauce"/>
              </a:rPr>
              <a:t># Phân ngưỡng Adaptive Threshold - Gaussian:</a:t>
            </a:r>
          </a:p>
          <a:p>
            <a:pPr algn="just">
              <a:lnSpc>
                <a:spcPts val="5093"/>
              </a:lnSpc>
              <a:spcBef>
                <a:spcPct val="0"/>
              </a:spcBef>
            </a:pPr>
            <a:r>
              <a:rPr lang="en-US" sz="3183">
                <a:solidFill>
                  <a:srgbClr val="000000"/>
                </a:solidFill>
                <a:latin typeface="Open Sauce"/>
                <a:ea typeface="Open Sauce"/>
                <a:cs typeface="Open Sauce"/>
                <a:sym typeface="Open Sauce"/>
              </a:rPr>
              <a:t>def adaptive_gauss(img_gray):</a:t>
            </a:r>
          </a:p>
          <a:p>
            <a:pPr algn="just">
              <a:lnSpc>
                <a:spcPts val="5093"/>
              </a:lnSpc>
              <a:spcBef>
                <a:spcPct val="0"/>
              </a:spcBef>
            </a:pPr>
            <a:r>
              <a:rPr lang="en-US" sz="3183">
                <a:solidFill>
                  <a:srgbClr val="000000"/>
                </a:solidFill>
                <a:latin typeface="Open Sauce"/>
                <a:ea typeface="Open Sauce"/>
                <a:cs typeface="Open Sauce"/>
                <a:sym typeface="Open Sauce"/>
              </a:rPr>
              <a:t>  adapt_gauss = cv2.adaptiveThreshold(img_gray, 255,</a:t>
            </a:r>
          </a:p>
          <a:p>
            <a:pPr algn="just">
              <a:lnSpc>
                <a:spcPts val="5093"/>
              </a:lnSpc>
              <a:spcBef>
                <a:spcPct val="0"/>
              </a:spcBef>
            </a:pPr>
            <a:r>
              <a:rPr lang="en-US" sz="3183">
                <a:solidFill>
                  <a:srgbClr val="000000"/>
                </a:solidFill>
                <a:latin typeface="Open Sauce"/>
                <a:ea typeface="Open Sauce"/>
                <a:cs typeface="Open Sauce"/>
                <a:sym typeface="Open Sauce"/>
              </a:rPr>
              <a:t>                    cv2.ADAPTIVE_THRESH_GAUSSIAN_C,</a:t>
            </a:r>
          </a:p>
          <a:p>
            <a:pPr algn="just">
              <a:lnSpc>
                <a:spcPts val="5093"/>
              </a:lnSpc>
              <a:spcBef>
                <a:spcPct val="0"/>
              </a:spcBef>
            </a:pPr>
            <a:r>
              <a:rPr lang="en-US" sz="3183">
                <a:solidFill>
                  <a:srgbClr val="000000"/>
                </a:solidFill>
                <a:latin typeface="Open Sauce"/>
                <a:ea typeface="Open Sauce"/>
                <a:cs typeface="Open Sauce"/>
                <a:sym typeface="Open Sauce"/>
              </a:rPr>
              <a:t>                    cv2.THRESH_BINARY,</a:t>
            </a:r>
          </a:p>
          <a:p>
            <a:pPr algn="just">
              <a:lnSpc>
                <a:spcPts val="5093"/>
              </a:lnSpc>
              <a:spcBef>
                <a:spcPct val="0"/>
              </a:spcBef>
            </a:pPr>
            <a:r>
              <a:rPr lang="en-US" sz="3183">
                <a:solidFill>
                  <a:srgbClr val="000000"/>
                </a:solidFill>
                <a:latin typeface="Open Sauce"/>
                <a:ea typeface="Open Sauce"/>
                <a:cs typeface="Open Sauce"/>
                <a:sym typeface="Open Sauce"/>
              </a:rPr>
              <a:t>                    11, 2)</a:t>
            </a:r>
          </a:p>
          <a:p>
            <a:pPr algn="just">
              <a:lnSpc>
                <a:spcPts val="5093"/>
              </a:lnSpc>
              <a:spcBef>
                <a:spcPct val="0"/>
              </a:spcBef>
            </a:pPr>
            <a:r>
              <a:rPr lang="en-US" sz="3183">
                <a:solidFill>
                  <a:srgbClr val="000000"/>
                </a:solidFill>
                <a:latin typeface="Open Sauce"/>
                <a:ea typeface="Open Sauce"/>
                <a:cs typeface="Open Sauce"/>
                <a:sym typeface="Open Sauce"/>
              </a:rPr>
              <a:t>  return adapt_gauss</a:t>
            </a:r>
          </a:p>
          <a:p>
            <a:pPr algn="just">
              <a:lnSpc>
                <a:spcPts val="5093"/>
              </a:lnSpc>
              <a:spcBef>
                <a:spcPct val="0"/>
              </a:spcBef>
            </a:pPr>
            <a:endParaRPr lang="en-US" sz="3183">
              <a:solidFill>
                <a:srgbClr val="000000"/>
              </a:solidFill>
              <a:latin typeface="Open Sauce"/>
              <a:ea typeface="Open Sauce"/>
              <a:cs typeface="Open Sauce"/>
              <a:sym typeface="Open Sauce"/>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209069" y="1782935"/>
            <a:ext cx="14586077" cy="7475365"/>
          </a:xfrm>
          <a:custGeom>
            <a:rect l="l" t="t" r="r" b="b"/>
            <a:pathLst>
              <a:path w="14586077" h="7475365">
                <a:moveTo>
                  <a:pt x="0" y="0"/>
                </a:moveTo>
                <a:lnTo>
                  <a:pt x="14586077" y="0"/>
                </a:lnTo>
                <a:lnTo>
                  <a:pt x="14586077" y="7475365"/>
                </a:lnTo>
                <a:lnTo>
                  <a:pt x="0" y="7475365"/>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597873" y="2703272"/>
            <a:ext cx="17092254" cy="5875462"/>
          </a:xfrm>
          <a:custGeom>
            <a:rect l="l" t="t" r="r" b="b"/>
            <a:pathLst>
              <a:path w="17092254" h="5875462">
                <a:moveTo>
                  <a:pt x="0" y="0"/>
                </a:moveTo>
                <a:lnTo>
                  <a:pt x="17092254" y="0"/>
                </a:lnTo>
                <a:lnTo>
                  <a:pt x="17092254" y="5875462"/>
                </a:lnTo>
                <a:lnTo>
                  <a:pt x="0" y="587546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314602" y="2186645"/>
            <a:ext cx="5658797" cy="6993550"/>
          </a:xfrm>
          <a:custGeom>
            <a:rect l="l" t="t" r="r" b="b"/>
            <a:pathLst>
              <a:path w="5658797" h="6993549">
                <a:moveTo>
                  <a:pt x="0" y="0"/>
                </a:moveTo>
                <a:lnTo>
                  <a:pt x="5658796" y="0"/>
                </a:lnTo>
                <a:lnTo>
                  <a:pt x="5658796" y="6993550"/>
                </a:lnTo>
                <a:lnTo>
                  <a:pt x="0" y="699355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471677" y="2019231"/>
            <a:ext cx="13344646" cy="7806618"/>
          </a:xfrm>
          <a:custGeom>
            <a:rect l="l" t="t" r="r" b="b"/>
            <a:pathLst>
              <a:path w="13344646" h="7806617">
                <a:moveTo>
                  <a:pt x="0" y="0"/>
                </a:moveTo>
                <a:lnTo>
                  <a:pt x="13344646" y="0"/>
                </a:lnTo>
                <a:lnTo>
                  <a:pt x="13344646" y="7806618"/>
                </a:lnTo>
                <a:lnTo>
                  <a:pt x="0" y="780661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00413" y="2580274"/>
            <a:ext cx="17087174" cy="6599921"/>
          </a:xfrm>
          <a:custGeom>
            <a:rect l="l" t="t" r="r" b="b"/>
            <a:pathLst>
              <a:path w="17087174" h="6599921">
                <a:moveTo>
                  <a:pt x="0" y="0"/>
                </a:moveTo>
                <a:lnTo>
                  <a:pt x="17087174" y="0"/>
                </a:lnTo>
                <a:lnTo>
                  <a:pt x="17087174" y="6599921"/>
                </a:lnTo>
                <a:lnTo>
                  <a:pt x="0" y="659992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283076" y="1864286"/>
            <a:ext cx="6159491" cy="7982701"/>
          </a:xfrm>
          <a:custGeom>
            <a:rect l="l" t="t" r="r" b="b"/>
            <a:pathLst>
              <a:path w="6159491" h="7982701">
                <a:moveTo>
                  <a:pt x="0" y="0"/>
                </a:moveTo>
                <a:lnTo>
                  <a:pt x="6159492" y="0"/>
                </a:lnTo>
                <a:lnTo>
                  <a:pt x="6159492" y="7982701"/>
                </a:lnTo>
                <a:lnTo>
                  <a:pt x="0" y="798270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434466"/>
            <a:ext cx="11289052" cy="5152893"/>
          </a:xfrm>
          <a:prstGeom prst="rect">
            <a:avLst/>
          </a:prstGeom>
        </p:spPr>
        <p:txBody>
          <a:bodyPr lIns="0" tIns="0" rIns="0" bIns="0" rtlCol="0" anchor="t">
            <a:spAutoFit/>
          </a:bodyPr>
          <a:lstStyle/>
          <a:p>
            <a:pPr algn="just">
              <a:lnSpc>
                <a:spcPts val="5104"/>
              </a:lnSpc>
            </a:pPr>
            <a:r>
              <a:rPr lang="en-US" sz="3190">
                <a:solidFill>
                  <a:srgbClr val="00BF63"/>
                </a:solidFill>
                <a:latin typeface="Open Sauce"/>
                <a:ea typeface="Open Sauce"/>
                <a:cs typeface="Open Sauce"/>
                <a:sym typeface="Open Sauce"/>
              </a:rPr>
              <a:t># Tính IoU</a:t>
            </a:r>
          </a:p>
          <a:p>
            <a:pPr algn="just">
              <a:lnSpc>
                <a:spcPts val="5104"/>
              </a:lnSpc>
              <a:spcBef>
                <a:spcPct val="0"/>
              </a:spcBef>
            </a:pPr>
            <a:r>
              <a:rPr lang="en-US" sz="3190">
                <a:solidFill>
                  <a:srgbClr val="191919"/>
                </a:solidFill>
                <a:latin typeface="Open Sauce"/>
                <a:ea typeface="Open Sauce"/>
                <a:cs typeface="Open Sauce"/>
                <a:sym typeface="Open Sauce"/>
              </a:rPr>
              <a:t>def iou(mask_pred, mask_gt):</a:t>
            </a:r>
          </a:p>
          <a:p>
            <a:pPr algn="just">
              <a:lnSpc>
                <a:spcPts val="5104"/>
              </a:lnSpc>
              <a:spcBef>
                <a:spcPct val="0"/>
              </a:spcBef>
            </a:pPr>
            <a:r>
              <a:rPr lang="en-US" sz="3190">
                <a:solidFill>
                  <a:srgbClr val="191919"/>
                </a:solidFill>
                <a:latin typeface="Open Sauce"/>
                <a:ea typeface="Open Sauce"/>
                <a:cs typeface="Open Sauce"/>
                <a:sym typeface="Open Sauce"/>
              </a:rPr>
              <a:t>  A = (mask_pred &gt; 0).astype(np.uint8)</a:t>
            </a:r>
          </a:p>
          <a:p>
            <a:pPr algn="just">
              <a:lnSpc>
                <a:spcPts val="5104"/>
              </a:lnSpc>
              <a:spcBef>
                <a:spcPct val="0"/>
              </a:spcBef>
            </a:pPr>
            <a:r>
              <a:rPr lang="en-US" sz="3190">
                <a:solidFill>
                  <a:srgbClr val="191919"/>
                </a:solidFill>
                <a:latin typeface="Open Sauce"/>
                <a:ea typeface="Open Sauce"/>
                <a:cs typeface="Open Sauce"/>
                <a:sym typeface="Open Sauce"/>
              </a:rPr>
              <a:t>  B = (mask_gt &gt; 0).astype(np.uint8)</a:t>
            </a:r>
          </a:p>
          <a:p>
            <a:pPr algn="just">
              <a:lnSpc>
                <a:spcPts val="5104"/>
              </a:lnSpc>
              <a:spcBef>
                <a:spcPct val="0"/>
              </a:spcBef>
            </a:pPr>
            <a:r>
              <a:rPr lang="en-US" sz="3190">
                <a:solidFill>
                  <a:srgbClr val="191919"/>
                </a:solidFill>
                <a:latin typeface="Open Sauce"/>
                <a:ea typeface="Open Sauce"/>
                <a:cs typeface="Open Sauce"/>
                <a:sym typeface="Open Sauce"/>
              </a:rPr>
              <a:t>  inter = np.logical_and(A, B).sum() # số pixel giao</a:t>
            </a:r>
          </a:p>
          <a:p>
            <a:pPr algn="just">
              <a:lnSpc>
                <a:spcPts val="5104"/>
              </a:lnSpc>
              <a:spcBef>
                <a:spcPct val="0"/>
              </a:spcBef>
            </a:pPr>
            <a:r>
              <a:rPr lang="en-US" sz="3190">
                <a:solidFill>
                  <a:srgbClr val="191919"/>
                </a:solidFill>
                <a:latin typeface="Open Sauce"/>
                <a:ea typeface="Open Sauce"/>
                <a:cs typeface="Open Sauce"/>
                <a:sym typeface="Open Sauce"/>
              </a:rPr>
              <a:t>  union = np.logical_or(A, B).sum() # số pixel hợp</a:t>
            </a:r>
          </a:p>
          <a:p>
            <a:pPr algn="just">
              <a:lnSpc>
                <a:spcPts val="5104"/>
              </a:lnSpc>
              <a:spcBef>
                <a:spcPct val="0"/>
              </a:spcBef>
            </a:pPr>
            <a:r>
              <a:rPr lang="en-US" sz="3190">
                <a:solidFill>
                  <a:srgbClr val="191919"/>
                </a:solidFill>
                <a:latin typeface="Open Sauce"/>
                <a:ea typeface="Open Sauce"/>
                <a:cs typeface="Open Sauce"/>
                <a:sym typeface="Open Sauce"/>
              </a:rPr>
              <a:t>  return inter / union if union else 0.0</a:t>
            </a:r>
          </a:p>
          <a:p>
            <a:pPr algn="just">
              <a:lnSpc>
                <a:spcPts val="5104"/>
              </a:lnSpc>
              <a:spcBef>
                <a:spcPct val="0"/>
              </a:spcBef>
            </a:pPr>
            <a:endParaRPr lang="en-US" sz="3190">
              <a:solidFill>
                <a:srgbClr val="191919"/>
              </a:solidFill>
              <a:latin typeface="Open Sauce"/>
              <a:ea typeface="Open Sauce"/>
              <a:cs typeface="Open Sauce"/>
              <a:sym typeface="Open Sauce"/>
            </a:endParaRPr>
          </a:p>
        </p:txBody>
      </p:sp>
      <p:sp>
        <p:nvSpPr>
          <p:cNvPr id="6" name="TextBox 6"/>
          <p:cNvSpPr txBox="1"/>
          <p:nvPr/>
        </p:nvSpPr>
        <p:spPr>
          <a:xfrm>
            <a:off x="469896" y="6735894"/>
            <a:ext cx="11289052" cy="2562093"/>
          </a:xfrm>
          <a:prstGeom prst="rect">
            <a:avLst/>
          </a:prstGeom>
        </p:spPr>
        <p:txBody>
          <a:bodyPr lIns="0" tIns="0" rIns="0" bIns="0" rtlCol="0" anchor="t">
            <a:spAutoFit/>
          </a:bodyPr>
          <a:lstStyle/>
          <a:p>
            <a:pPr algn="just">
              <a:lnSpc>
                <a:spcPts val="5104"/>
              </a:lnSpc>
            </a:pPr>
            <a:r>
              <a:rPr lang="en-US" sz="3190">
                <a:solidFill>
                  <a:srgbClr val="191919"/>
                </a:solidFill>
                <a:latin typeface="Open Sauce"/>
                <a:ea typeface="Open Sauce"/>
                <a:cs typeface="Open Sauce"/>
                <a:sym typeface="Open Sauce"/>
              </a:rPr>
              <a:t>Ảnh 1 - Ảnh y tế </a:t>
            </a:r>
          </a:p>
          <a:p>
            <a:pPr algn="just">
              <a:lnSpc>
                <a:spcPts val="5104"/>
              </a:lnSpc>
            </a:pPr>
            <a:r>
              <a:rPr lang="en-US" sz="3190">
                <a:solidFill>
                  <a:srgbClr val="191919"/>
                </a:solidFill>
                <a:latin typeface="Open Sauce"/>
                <a:ea typeface="Open Sauce"/>
                <a:cs typeface="Open Sauce"/>
                <a:sym typeface="Open Sauce"/>
              </a:rPr>
              <a:t>IoU Global: 0.038976894667765466 </a:t>
            </a:r>
          </a:p>
          <a:p>
            <a:pPr algn="just">
              <a:lnSpc>
                <a:spcPts val="5104"/>
              </a:lnSpc>
              <a:spcBef>
                <a:spcPct val="0"/>
              </a:spcBef>
            </a:pPr>
            <a:r>
              <a:rPr lang="en-US" sz="3190">
                <a:solidFill>
                  <a:srgbClr val="191919"/>
                </a:solidFill>
                <a:latin typeface="Open Sauce"/>
                <a:ea typeface="Open Sauce"/>
                <a:cs typeface="Open Sauce"/>
                <a:sym typeface="Open Sauce"/>
              </a:rPr>
              <a:t>IoU Otsu: 0.0 IoU Adaptive Mean: 0.03926571691827911 IoU Adaptive Gaussian: 0.04063940240204225</a:t>
            </a:r>
          </a:p>
        </p:txBody>
      </p:sp>
      <p:sp>
        <p:nvSpPr>
          <p:cNvPr id="7" name="TextBox 7"/>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ẢNH DỰA TRÊN VÙNG – REGION GROWING</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621036"/>
            <a:ext cx="12440519" cy="9686793"/>
          </a:xfrm>
          <a:prstGeom prst="rect">
            <a:avLst/>
          </a:prstGeom>
        </p:spPr>
        <p:txBody>
          <a:bodyPr lIns="0" tIns="0" rIns="0" bIns="0" rtlCol="0" anchor="t">
            <a:spAutoFit/>
          </a:bodyPr>
          <a:lstStyle/>
          <a:p>
            <a:pPr algn="l">
              <a:lnSpc>
                <a:spcPts val="5104"/>
              </a:lnSpc>
            </a:pPr>
            <a:r>
              <a:rPr lang="en-US" sz="3190">
                <a:solidFill>
                  <a:srgbClr val="00BF63"/>
                </a:solidFill>
                <a:latin typeface="Open Sauce"/>
                <a:ea typeface="Open Sauce"/>
                <a:cs typeface="Open Sauce"/>
                <a:sym typeface="Open Sauce"/>
              </a:rPr>
              <a:t># Xét các pixel lân cận (4-neighbors hoặc 8-neighbors).</a:t>
            </a:r>
          </a:p>
          <a:p>
            <a:pPr algn="l">
              <a:lnSpc>
                <a:spcPts val="5104"/>
              </a:lnSpc>
              <a:spcBef>
                <a:spcPct val="0"/>
              </a:spcBef>
            </a:pPr>
            <a:r>
              <a:rPr lang="en-US" sz="3190">
                <a:solidFill>
                  <a:srgbClr val="000000"/>
                </a:solidFill>
                <a:latin typeface="Open Sauce"/>
                <a:ea typeface="Open Sauce"/>
                <a:cs typeface="Open Sauce"/>
                <a:sym typeface="Open Sauce"/>
              </a:rPr>
              <a:t>def neighbors4(h, w, x, y):</a:t>
            </a:r>
          </a:p>
          <a:p>
            <a:pPr algn="l">
              <a:lnSpc>
                <a:spcPts val="5104"/>
              </a:lnSpc>
              <a:spcBef>
                <a:spcPct val="0"/>
              </a:spcBef>
            </a:pPr>
            <a:r>
              <a:rPr lang="en-US" sz="3190">
                <a:solidFill>
                  <a:srgbClr val="000000"/>
                </a:solidFill>
                <a:latin typeface="Open Sauce"/>
                <a:ea typeface="Open Sauce"/>
                <a:cs typeface="Open Sauce"/>
                <a:sym typeface="Open Sauce"/>
              </a:rPr>
              <a:t>  for dx, dy in [(-1,0),(1,0),(0,-1),(0,1)]:</a:t>
            </a:r>
          </a:p>
          <a:p>
            <a:pPr algn="l">
              <a:lnSpc>
                <a:spcPts val="5104"/>
              </a:lnSpc>
              <a:spcBef>
                <a:spcPct val="0"/>
              </a:spcBef>
            </a:pPr>
            <a:r>
              <a:rPr lang="en-US" sz="3190">
                <a:solidFill>
                  <a:srgbClr val="000000"/>
                </a:solidFill>
                <a:latin typeface="Open Sauce"/>
                <a:ea typeface="Open Sauce"/>
                <a:cs typeface="Open Sauce"/>
                <a:sym typeface="Open Sauce"/>
              </a:rPr>
              <a:t>    nx, ny = x+dx, y+dy</a:t>
            </a:r>
          </a:p>
          <a:p>
            <a:pPr algn="l">
              <a:lnSpc>
                <a:spcPts val="5104"/>
              </a:lnSpc>
              <a:spcBef>
                <a:spcPct val="0"/>
              </a:spcBef>
            </a:pPr>
            <a:r>
              <a:rPr lang="en-US" sz="3190">
                <a:solidFill>
                  <a:srgbClr val="000000"/>
                </a:solidFill>
                <a:latin typeface="Open Sauce"/>
                <a:ea typeface="Open Sauce"/>
                <a:cs typeface="Open Sauce"/>
                <a:sym typeface="Open Sauce"/>
              </a:rPr>
              <a:t>    if 0 &lt;= nx &lt; h and 0 &lt;= ny &lt; w: # không vượt biên ảnh</a:t>
            </a:r>
          </a:p>
          <a:p>
            <a:pPr algn="l">
              <a:lnSpc>
                <a:spcPts val="5104"/>
              </a:lnSpc>
              <a:spcBef>
                <a:spcPct val="0"/>
              </a:spcBef>
            </a:pPr>
            <a:r>
              <a:rPr lang="en-US" sz="3190">
                <a:solidFill>
                  <a:srgbClr val="000000"/>
                </a:solidFill>
                <a:latin typeface="Open Sauce"/>
                <a:ea typeface="Open Sauce"/>
                <a:cs typeface="Open Sauce"/>
                <a:sym typeface="Open Sauce"/>
              </a:rPr>
              <a:t>      yield nx, ny</a:t>
            </a:r>
          </a:p>
          <a:p>
            <a:pPr algn="l">
              <a:lnSpc>
                <a:spcPts val="5104"/>
              </a:lnSpc>
              <a:spcBef>
                <a:spcPct val="0"/>
              </a:spcBef>
            </a:pPr>
            <a:endParaRPr lang="en-US" sz="3190">
              <a:solidFill>
                <a:srgbClr val="000000"/>
              </a:solidFill>
              <a:latin typeface="Open Sauce"/>
              <a:ea typeface="Open Sauce"/>
              <a:cs typeface="Open Sauce"/>
              <a:sym typeface="Open Sauce"/>
            </a:endParaRPr>
          </a:p>
          <a:p>
            <a:pPr algn="l">
              <a:lnSpc>
                <a:spcPts val="5104"/>
              </a:lnSpc>
              <a:spcBef>
                <a:spcPct val="0"/>
              </a:spcBef>
            </a:pPr>
            <a:r>
              <a:rPr lang="en-US" sz="3190">
                <a:solidFill>
                  <a:srgbClr val="000000"/>
                </a:solidFill>
                <a:latin typeface="Open Sauce"/>
                <a:ea typeface="Open Sauce"/>
                <a:cs typeface="Open Sauce"/>
                <a:sym typeface="Open Sauce"/>
              </a:rPr>
              <a:t>def neighbors8(h, w, x, y):</a:t>
            </a:r>
          </a:p>
          <a:p>
            <a:pPr algn="l">
              <a:lnSpc>
                <a:spcPts val="5104"/>
              </a:lnSpc>
              <a:spcBef>
                <a:spcPct val="0"/>
              </a:spcBef>
            </a:pPr>
            <a:r>
              <a:rPr lang="en-US" sz="3190">
                <a:solidFill>
                  <a:srgbClr val="000000"/>
                </a:solidFill>
                <a:latin typeface="Open Sauce"/>
                <a:ea typeface="Open Sauce"/>
                <a:cs typeface="Open Sauce"/>
                <a:sym typeface="Open Sauce"/>
              </a:rPr>
              <a:t>  for dx, dy in [(-1,0),(1,0),(0,-1),(0,1),(-1,-1),(-1,1),(1,-1),(1,1)]:</a:t>
            </a:r>
          </a:p>
          <a:p>
            <a:pPr algn="l">
              <a:lnSpc>
                <a:spcPts val="5104"/>
              </a:lnSpc>
              <a:spcBef>
                <a:spcPct val="0"/>
              </a:spcBef>
            </a:pPr>
            <a:r>
              <a:rPr lang="en-US" sz="3190">
                <a:solidFill>
                  <a:srgbClr val="000000"/>
                </a:solidFill>
                <a:latin typeface="Open Sauce"/>
                <a:ea typeface="Open Sauce"/>
                <a:cs typeface="Open Sauce"/>
                <a:sym typeface="Open Sauce"/>
              </a:rPr>
              <a:t>    nx, ny = x+dx, y+dy</a:t>
            </a:r>
          </a:p>
          <a:p>
            <a:pPr algn="l">
              <a:lnSpc>
                <a:spcPts val="5104"/>
              </a:lnSpc>
              <a:spcBef>
                <a:spcPct val="0"/>
              </a:spcBef>
            </a:pPr>
            <a:r>
              <a:rPr lang="en-US" sz="3190">
                <a:solidFill>
                  <a:srgbClr val="000000"/>
                </a:solidFill>
                <a:latin typeface="Open Sauce"/>
                <a:ea typeface="Open Sauce"/>
                <a:cs typeface="Open Sauce"/>
                <a:sym typeface="Open Sauce"/>
              </a:rPr>
              <a:t>    if 0 &lt;= nx &lt; h and 0 &lt;= ny &lt; w:</a:t>
            </a:r>
          </a:p>
          <a:p>
            <a:pPr algn="l">
              <a:lnSpc>
                <a:spcPts val="5104"/>
              </a:lnSpc>
              <a:spcBef>
                <a:spcPct val="0"/>
              </a:spcBef>
            </a:pPr>
            <a:r>
              <a:rPr lang="en-US" sz="3190">
                <a:solidFill>
                  <a:srgbClr val="000000"/>
                </a:solidFill>
                <a:latin typeface="Open Sauce"/>
                <a:ea typeface="Open Sauce"/>
                <a:cs typeface="Open Sauce"/>
                <a:sym typeface="Open Sauce"/>
              </a:rPr>
              <a:t>      yield nx, ny</a:t>
            </a:r>
          </a:p>
          <a:p>
            <a:pPr algn="l">
              <a:lnSpc>
                <a:spcPts val="5104"/>
              </a:lnSpc>
              <a:spcBef>
                <a:spcPct val="0"/>
              </a:spcBef>
            </a:pPr>
            <a:endParaRPr lang="en-US" sz="3190">
              <a:solidFill>
                <a:srgbClr val="000000"/>
              </a:solidFill>
              <a:latin typeface="Open Sauce"/>
              <a:ea typeface="Open Sauce"/>
              <a:cs typeface="Open Sauce"/>
              <a:sym typeface="Open Sauce"/>
            </a:endParaRPr>
          </a:p>
          <a:p>
            <a:pPr algn="l">
              <a:lnSpc>
                <a:spcPts val="5104"/>
              </a:lnSpc>
              <a:spcBef>
                <a:spcPct val="0"/>
              </a:spcBef>
            </a:pPr>
            <a:endParaRPr lang="en-US" sz="3190">
              <a:solidFill>
                <a:srgbClr val="000000"/>
              </a:solidFill>
              <a:latin typeface="Open Sauce"/>
              <a:ea typeface="Open Sauce"/>
              <a:cs typeface="Open Sauce"/>
              <a:sym typeface="Open Sauce"/>
            </a:endParaRPr>
          </a:p>
          <a:p>
            <a:pPr algn="just">
              <a:lnSpc>
                <a:spcPts val="5104"/>
              </a:lnSpc>
              <a:spcBef>
                <a:spcPct val="0"/>
              </a:spcBef>
            </a:pPr>
            <a:endParaRPr lang="en-US" sz="3190">
              <a:solidFill>
                <a:srgbClr val="000000"/>
              </a:solidFill>
              <a:latin typeface="Open Sauce"/>
              <a:ea typeface="Open Sauce"/>
              <a:cs typeface="Open Sauce"/>
              <a:sym typeface="Open Sauce"/>
            </a:endParaRPr>
          </a:p>
        </p:txBody>
      </p:sp>
      <p:sp>
        <p:nvSpPr>
          <p:cNvPr id="6" name="TextBox 6"/>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ẢNH DỰA TRÊN VÙNG – REGION GROWING</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621036"/>
            <a:ext cx="19921973" cy="8391393"/>
          </a:xfrm>
          <a:prstGeom prst="rect">
            <a:avLst/>
          </a:prstGeom>
        </p:spPr>
        <p:txBody>
          <a:bodyPr lIns="0" tIns="0" rIns="0" bIns="0" rtlCol="0" anchor="t">
            <a:spAutoFit/>
          </a:bodyPr>
          <a:lstStyle/>
          <a:p>
            <a:pPr algn="l">
              <a:lnSpc>
                <a:spcPts val="5104"/>
              </a:lnSpc>
            </a:pPr>
            <a:r>
              <a:rPr lang="en-US" sz="3190">
                <a:solidFill>
                  <a:srgbClr val="00BF63"/>
                </a:solidFill>
                <a:latin typeface="Open Sauce"/>
                <a:ea typeface="Open Sauce"/>
                <a:cs typeface="Open Sauce"/>
                <a:sym typeface="Open Sauce"/>
              </a:rPr>
              <a:t># Xét các pixel lân cận (4-neighbors hoặc 8-neighbors).</a:t>
            </a:r>
          </a:p>
          <a:p>
            <a:pPr algn="l">
              <a:lnSpc>
                <a:spcPts val="5104"/>
              </a:lnSpc>
              <a:spcBef>
                <a:spcPct val="0"/>
              </a:spcBef>
            </a:pPr>
            <a:r>
              <a:rPr lang="en-US" sz="3190">
                <a:solidFill>
                  <a:srgbClr val="000000"/>
                </a:solidFill>
                <a:latin typeface="Open Sauce"/>
                <a:ea typeface="Open Sauce"/>
                <a:cs typeface="Open Sauce"/>
                <a:sym typeface="Open Sauce"/>
              </a:rPr>
              <a:t>def region_growing(img_gray, seed_xy, delta=10, connectivity=4):</a:t>
            </a:r>
          </a:p>
          <a:p>
            <a:pPr algn="l">
              <a:lnSpc>
                <a:spcPts val="5104"/>
              </a:lnSpc>
              <a:spcBef>
                <a:spcPct val="0"/>
              </a:spcBef>
            </a:pPr>
            <a:r>
              <a:rPr lang="en-US" sz="3190">
                <a:solidFill>
                  <a:srgbClr val="000000"/>
                </a:solidFill>
                <a:latin typeface="Open Sauce"/>
                <a:ea typeface="Open Sauce"/>
                <a:cs typeface="Open Sauce"/>
                <a:sym typeface="Open Sauce"/>
              </a:rPr>
              <a:t>  H, W = img_gray.shape</a:t>
            </a:r>
          </a:p>
          <a:p>
            <a:pPr algn="l">
              <a:lnSpc>
                <a:spcPts val="5104"/>
              </a:lnSpc>
              <a:spcBef>
                <a:spcPct val="0"/>
              </a:spcBef>
            </a:pPr>
            <a:endParaRPr lang="en-US" sz="3190">
              <a:solidFill>
                <a:srgbClr val="000000"/>
              </a:solidFill>
              <a:latin typeface="Open Sauce"/>
              <a:ea typeface="Open Sauce"/>
              <a:cs typeface="Open Sauce"/>
              <a:sym typeface="Open Sauce"/>
            </a:endParaRPr>
          </a:p>
          <a:p>
            <a:pPr algn="l">
              <a:lnSpc>
                <a:spcPts val="5104"/>
              </a:lnSpc>
              <a:spcBef>
                <a:spcPct val="0"/>
              </a:spcBef>
            </a:pPr>
            <a:r>
              <a:rPr lang="en-US" sz="3190">
                <a:solidFill>
                  <a:srgbClr val="000000"/>
                </a:solidFill>
                <a:latin typeface="Open Sauce"/>
                <a:ea typeface="Open Sauce"/>
                <a:cs typeface="Open Sauce"/>
                <a:sym typeface="Open Sauce"/>
              </a:rPr>
              <a:t>  # Chọn một điểm seed (tọa độ).</a:t>
            </a:r>
          </a:p>
          <a:p>
            <a:pPr algn="l">
              <a:lnSpc>
                <a:spcPts val="5104"/>
              </a:lnSpc>
              <a:spcBef>
                <a:spcPct val="0"/>
              </a:spcBef>
            </a:pPr>
            <a:r>
              <a:rPr lang="en-US" sz="3190">
                <a:solidFill>
                  <a:srgbClr val="000000"/>
                </a:solidFill>
                <a:latin typeface="Open Sauce"/>
                <a:ea typeface="Open Sauce"/>
                <a:cs typeface="Open Sauce"/>
                <a:sym typeface="Open Sauce"/>
              </a:rPr>
              <a:t>  sx, sy = seed_xy</a:t>
            </a:r>
          </a:p>
          <a:p>
            <a:pPr algn="l">
              <a:lnSpc>
                <a:spcPts val="5104"/>
              </a:lnSpc>
              <a:spcBef>
                <a:spcPct val="0"/>
              </a:spcBef>
            </a:pPr>
            <a:r>
              <a:rPr lang="en-US" sz="3190">
                <a:solidFill>
                  <a:srgbClr val="000000"/>
                </a:solidFill>
                <a:latin typeface="Open Sauce"/>
                <a:ea typeface="Open Sauce"/>
                <a:cs typeface="Open Sauce"/>
                <a:sym typeface="Open Sauce"/>
              </a:rPr>
              <a:t>  if not (0 &lt;= sx &lt; H and 0 &lt;= sy &lt; W):</a:t>
            </a:r>
          </a:p>
          <a:p>
            <a:pPr algn="l">
              <a:lnSpc>
                <a:spcPts val="5104"/>
              </a:lnSpc>
              <a:spcBef>
                <a:spcPct val="0"/>
              </a:spcBef>
            </a:pPr>
            <a:r>
              <a:rPr lang="en-US" sz="3190">
                <a:solidFill>
                  <a:srgbClr val="000000"/>
                </a:solidFill>
                <a:latin typeface="Open Sauce"/>
                <a:ea typeface="Open Sauce"/>
                <a:cs typeface="Open Sauce"/>
                <a:sym typeface="Open Sauce"/>
              </a:rPr>
              <a:t>    raise ValueError("Seed nằm ngoài kích thước ảnh")</a:t>
            </a:r>
          </a:p>
          <a:p>
            <a:pPr algn="l">
              <a:lnSpc>
                <a:spcPts val="5104"/>
              </a:lnSpc>
              <a:spcBef>
                <a:spcPct val="0"/>
              </a:spcBef>
            </a:pPr>
            <a:r>
              <a:rPr lang="en-US" sz="3190">
                <a:solidFill>
                  <a:srgbClr val="000000"/>
                </a:solidFill>
                <a:latin typeface="Open Sauce"/>
                <a:ea typeface="Open Sauce"/>
                <a:cs typeface="Open Sauce"/>
                <a:sym typeface="Open Sauce"/>
              </a:rPr>
              <a:t>  seed_val = int(img_gray[sx, sy])</a:t>
            </a:r>
          </a:p>
          <a:p>
            <a:pPr algn="l">
              <a:lnSpc>
                <a:spcPts val="5104"/>
              </a:lnSpc>
              <a:spcBef>
                <a:spcPct val="0"/>
              </a:spcBef>
            </a:pPr>
            <a:r>
              <a:rPr lang="en-US" sz="3190">
                <a:solidFill>
                  <a:srgbClr val="000000"/>
                </a:solidFill>
                <a:latin typeface="Open Sauce"/>
                <a:ea typeface="Open Sauce"/>
                <a:cs typeface="Open Sauce"/>
                <a:sym typeface="Open Sauce"/>
              </a:rPr>
              <a:t>  visited = np.zeros((H, W), dtype=bool)</a:t>
            </a:r>
          </a:p>
          <a:p>
            <a:pPr algn="l">
              <a:lnSpc>
                <a:spcPts val="5104"/>
              </a:lnSpc>
              <a:spcBef>
                <a:spcPct val="0"/>
              </a:spcBef>
            </a:pPr>
            <a:r>
              <a:rPr lang="en-US" sz="3190">
                <a:solidFill>
                  <a:srgbClr val="000000"/>
                </a:solidFill>
                <a:latin typeface="Open Sauce"/>
                <a:ea typeface="Open Sauce"/>
                <a:cs typeface="Open Sauce"/>
                <a:sym typeface="Open Sauce"/>
              </a:rPr>
              <a:t>  mask = np.zeros((H, W), dtype=np.uint8)</a:t>
            </a:r>
          </a:p>
          <a:p>
            <a:pPr algn="l">
              <a:lnSpc>
                <a:spcPts val="5104"/>
              </a:lnSpc>
              <a:spcBef>
                <a:spcPct val="0"/>
              </a:spcBef>
            </a:pPr>
            <a:endParaRPr lang="en-US" sz="3190">
              <a:solidFill>
                <a:srgbClr val="000000"/>
              </a:solidFill>
              <a:latin typeface="Open Sauce"/>
              <a:ea typeface="Open Sauce"/>
              <a:cs typeface="Open Sauce"/>
              <a:sym typeface="Open Sauce"/>
            </a:endParaRPr>
          </a:p>
          <a:p>
            <a:pPr algn="just">
              <a:lnSpc>
                <a:spcPts val="5104"/>
              </a:lnSpc>
              <a:spcBef>
                <a:spcPct val="0"/>
              </a:spcBef>
            </a:pPr>
            <a:r>
              <a:rPr lang="en-US" sz="3190">
                <a:solidFill>
                  <a:srgbClr val="000000"/>
                </a:solidFill>
                <a:latin typeface="Open Sauce"/>
                <a:ea typeface="Open Sauce"/>
                <a:cs typeface="Open Sauce"/>
                <a:sym typeface="Open Sauce"/>
              </a:rPr>
              <a:t> </a:t>
            </a:r>
          </a:p>
        </p:txBody>
      </p:sp>
      <p:sp>
        <p:nvSpPr>
          <p:cNvPr id="6" name="TextBox 6"/>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ẢNH DỰA TRÊN VÙNG – REGION GROWING</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668661"/>
            <a:ext cx="15765421" cy="8465112"/>
          </a:xfrm>
          <a:prstGeom prst="rect">
            <a:avLst/>
          </a:prstGeom>
        </p:spPr>
        <p:txBody>
          <a:bodyPr lIns="0" tIns="0" rIns="0" bIns="0" rtlCol="0" anchor="t">
            <a:spAutoFit/>
          </a:bodyPr>
          <a:lstStyle/>
          <a:p>
            <a:pPr algn="l">
              <a:lnSpc>
                <a:spcPts val="4192"/>
              </a:lnSpc>
            </a:pPr>
            <a:r>
              <a:rPr lang="en-US" sz="2620">
                <a:solidFill>
                  <a:srgbClr val="00BF63"/>
                </a:solidFill>
                <a:latin typeface="Open Sauce"/>
                <a:ea typeface="Open Sauce"/>
                <a:cs typeface="Open Sauce"/>
                <a:sym typeface="Open Sauce"/>
              </a:rPr>
              <a:t># Xét các pixel lân cận (4-neighbors hoặc 8-neighbors).</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191919"/>
                </a:solidFill>
                <a:latin typeface="Open Sauce"/>
                <a:ea typeface="Open Sauce"/>
                <a:cs typeface="Open Sauce"/>
                <a:sym typeface="Open Sauce"/>
              </a:rPr>
              <a:t>get_neighbors = neighbors4 if connectivity == 4 else neighbors8</a:t>
            </a:r>
          </a:p>
          <a:p>
            <a:pPr algn="l">
              <a:lnSpc>
                <a:spcPts val="4192"/>
              </a:lnSpc>
              <a:spcBef>
                <a:spcPct val="0"/>
              </a:spcBef>
            </a:pPr>
            <a:r>
              <a:rPr lang="en-US" sz="2620">
                <a:solidFill>
                  <a:srgbClr val="191919"/>
                </a:solidFill>
                <a:latin typeface="Open Sauce"/>
                <a:ea typeface="Open Sauce"/>
                <a:cs typeface="Open Sauce"/>
                <a:sym typeface="Open Sauce"/>
              </a:rPr>
              <a:t>  q = deque()</a:t>
            </a:r>
          </a:p>
          <a:p>
            <a:pPr algn="l">
              <a:lnSpc>
                <a:spcPts val="4192"/>
              </a:lnSpc>
              <a:spcBef>
                <a:spcPct val="0"/>
              </a:spcBef>
            </a:pPr>
            <a:r>
              <a:rPr lang="en-US" sz="2620">
                <a:solidFill>
                  <a:srgbClr val="191919"/>
                </a:solidFill>
                <a:latin typeface="Open Sauce"/>
                <a:ea typeface="Open Sauce"/>
                <a:cs typeface="Open Sauce"/>
                <a:sym typeface="Open Sauce"/>
              </a:rPr>
              <a:t>  q.append((sx, sy))</a:t>
            </a:r>
          </a:p>
          <a:p>
            <a:pPr algn="l">
              <a:lnSpc>
                <a:spcPts val="4192"/>
              </a:lnSpc>
              <a:spcBef>
                <a:spcPct val="0"/>
              </a:spcBef>
            </a:pPr>
            <a:r>
              <a:rPr lang="en-US" sz="2620">
                <a:solidFill>
                  <a:srgbClr val="191919"/>
                </a:solidFill>
                <a:latin typeface="Open Sauce"/>
                <a:ea typeface="Open Sauce"/>
                <a:cs typeface="Open Sauce"/>
                <a:sym typeface="Open Sauce"/>
              </a:rPr>
              <a:t>  visited[sx, sy] = True</a:t>
            </a:r>
          </a:p>
          <a:p>
            <a:pPr algn="l">
              <a:lnSpc>
                <a:spcPts val="4192"/>
              </a:lnSpc>
              <a:spcBef>
                <a:spcPct val="0"/>
              </a:spcBef>
            </a:pPr>
            <a:endParaRPr lang="en-US" sz="2620">
              <a:solidFill>
                <a:srgbClr val="191919"/>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Tiếp tục cho đến khi không còn pixel nào thoả điều kiện.</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191919"/>
                </a:solidFill>
                <a:latin typeface="Open Sauce"/>
                <a:ea typeface="Open Sauce"/>
                <a:cs typeface="Open Sauce"/>
                <a:sym typeface="Open Sauce"/>
              </a:rPr>
              <a:t>while q:</a:t>
            </a:r>
          </a:p>
          <a:p>
            <a:pPr algn="l">
              <a:lnSpc>
                <a:spcPts val="4192"/>
              </a:lnSpc>
              <a:spcBef>
                <a:spcPct val="0"/>
              </a:spcBef>
            </a:pPr>
            <a:r>
              <a:rPr lang="en-US" sz="2620">
                <a:solidFill>
                  <a:srgbClr val="191919"/>
                </a:solidFill>
                <a:latin typeface="Open Sauce"/>
                <a:ea typeface="Open Sauce"/>
                <a:cs typeface="Open Sauce"/>
                <a:sym typeface="Open Sauce"/>
              </a:rPr>
              <a:t> x, y = q.popleft()</a:t>
            </a:r>
          </a:p>
          <a:p>
            <a:pPr algn="l">
              <a:lnSpc>
                <a:spcPts val="4192"/>
              </a:lnSpc>
              <a:spcBef>
                <a:spcPct val="0"/>
              </a:spcBef>
            </a:pPr>
            <a:r>
              <a:rPr lang="en-US" sz="2620">
                <a:solidFill>
                  <a:srgbClr val="191919"/>
                </a:solidFill>
                <a:latin typeface="Open Sauce"/>
                <a:ea typeface="Open Sauce"/>
                <a:cs typeface="Open Sauce"/>
                <a:sym typeface="Open Sauce"/>
              </a:rPr>
              <a:t> mask[x, y] = 255</a:t>
            </a:r>
          </a:p>
          <a:p>
            <a:pPr algn="l">
              <a:lnSpc>
                <a:spcPts val="4192"/>
              </a:lnSpc>
              <a:spcBef>
                <a:spcPct val="0"/>
              </a:spcBef>
            </a:pPr>
            <a:r>
              <a:rPr lang="en-US" sz="2620">
                <a:solidFill>
                  <a:srgbClr val="191919"/>
                </a:solidFill>
                <a:latin typeface="Open Sauce"/>
                <a:ea typeface="Open Sauce"/>
                <a:cs typeface="Open Sauce"/>
                <a:sym typeface="Open Sauce"/>
              </a:rPr>
              <a:t> for nx, ny in get_neighbors(H, W, x, y):</a:t>
            </a:r>
          </a:p>
          <a:p>
            <a:pPr algn="l">
              <a:lnSpc>
                <a:spcPts val="4192"/>
              </a:lnSpc>
              <a:spcBef>
                <a:spcPct val="0"/>
              </a:spcBef>
            </a:pPr>
            <a:r>
              <a:rPr lang="en-US" sz="2620">
                <a:solidFill>
                  <a:srgbClr val="191919"/>
                </a:solidFill>
                <a:latin typeface="Open Sauce"/>
                <a:ea typeface="Open Sauce"/>
                <a:cs typeface="Open Sauce"/>
                <a:sym typeface="Open Sauce"/>
              </a:rPr>
              <a:t> if not visited[nx, ny]:</a:t>
            </a:r>
          </a:p>
          <a:p>
            <a:pPr algn="l">
              <a:lnSpc>
                <a:spcPts val="4192"/>
              </a:lnSpc>
              <a:spcBef>
                <a:spcPct val="0"/>
              </a:spcBef>
            </a:pPr>
            <a:r>
              <a:rPr lang="en-US" sz="2620">
                <a:solidFill>
                  <a:srgbClr val="191919"/>
                </a:solidFill>
                <a:latin typeface="Open Sauce"/>
                <a:ea typeface="Open Sauce"/>
                <a:cs typeface="Open Sauce"/>
                <a:sym typeface="Open Sauce"/>
              </a:rPr>
              <a:t> if abs(int(img_gray[nx, ny]) - seed_val) &lt; delta:</a:t>
            </a:r>
          </a:p>
          <a:p>
            <a:pPr algn="l">
              <a:lnSpc>
                <a:spcPts val="4192"/>
              </a:lnSpc>
              <a:spcBef>
                <a:spcPct val="0"/>
              </a:spcBef>
            </a:pPr>
            <a:r>
              <a:rPr lang="en-US" sz="2620">
                <a:solidFill>
                  <a:srgbClr val="191919"/>
                </a:solidFill>
                <a:latin typeface="Open Sauce"/>
                <a:ea typeface="Open Sauce"/>
                <a:cs typeface="Open Sauce"/>
                <a:sym typeface="Open Sauce"/>
              </a:rPr>
              <a:t> q.append((nx, ny))</a:t>
            </a:r>
          </a:p>
          <a:p>
            <a:pPr algn="l">
              <a:lnSpc>
                <a:spcPts val="4192"/>
              </a:lnSpc>
              <a:spcBef>
                <a:spcPct val="0"/>
              </a:spcBef>
            </a:pPr>
            <a:r>
              <a:rPr lang="en-US" sz="2620">
                <a:solidFill>
                  <a:srgbClr val="191919"/>
                </a:solidFill>
                <a:latin typeface="Open Sauce"/>
                <a:ea typeface="Open Sauce"/>
                <a:cs typeface="Open Sauce"/>
                <a:sym typeface="Open Sauce"/>
              </a:rPr>
              <a:t> visited[nx, ny] = True</a:t>
            </a:r>
          </a:p>
          <a:p>
            <a:pPr algn="just">
              <a:lnSpc>
                <a:spcPts val="4192"/>
              </a:lnSpc>
              <a:spcBef>
                <a:spcPct val="0"/>
              </a:spcBef>
            </a:pPr>
            <a:r>
              <a:rPr lang="en-US" sz="2620">
                <a:solidFill>
                  <a:srgbClr val="191919"/>
                </a:solidFill>
                <a:latin typeface="Open Sauce"/>
                <a:ea typeface="Open Sauce"/>
                <a:cs typeface="Open Sauce"/>
                <a:sym typeface="Open Sauce"/>
              </a:rPr>
              <a:t> return mask</a:t>
            </a:r>
          </a:p>
        </p:txBody>
      </p:sp>
      <p:sp>
        <p:nvSpPr>
          <p:cNvPr id="6" name="TextBox 6"/>
          <p:cNvSpPr txBox="1"/>
          <p:nvPr/>
        </p:nvSpPr>
        <p:spPr>
          <a:xfrm>
            <a:off x="9322683" y="413384"/>
            <a:ext cx="7175464"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ẢNH DỰA TRÊN VÙNG – REGION GROWING</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4769298" y="2276266"/>
            <a:ext cx="8749404" cy="7139514"/>
          </a:xfrm>
          <a:custGeom>
            <a:rect l="l" t="t" r="r" b="b"/>
            <a:pathLst>
              <a:path w="8749404" h="7139514">
                <a:moveTo>
                  <a:pt x="0" y="0"/>
                </a:moveTo>
                <a:lnTo>
                  <a:pt x="8749404" y="0"/>
                </a:lnTo>
                <a:lnTo>
                  <a:pt x="8749404" y="7139514"/>
                </a:lnTo>
                <a:lnTo>
                  <a:pt x="0" y="713951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130859" y="2698349"/>
            <a:ext cx="16026282" cy="6170119"/>
          </a:xfrm>
          <a:custGeom>
            <a:rect l="l" t="t" r="r" b="b"/>
            <a:pathLst>
              <a:path w="16026282" h="6170119">
                <a:moveTo>
                  <a:pt x="0" y="0"/>
                </a:moveTo>
                <a:lnTo>
                  <a:pt x="16026282" y="0"/>
                </a:lnTo>
                <a:lnTo>
                  <a:pt x="16026282" y="6170119"/>
                </a:lnTo>
                <a:lnTo>
                  <a:pt x="0" y="617011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60958" y="3525070"/>
            <a:ext cx="17766085" cy="4726450"/>
          </a:xfrm>
          <a:custGeom>
            <a:rect l="l" t="t" r="r" b="b"/>
            <a:pathLst>
              <a:path w="17766085" h="4726450">
                <a:moveTo>
                  <a:pt x="0" y="0"/>
                </a:moveTo>
                <a:lnTo>
                  <a:pt x="17766084" y="0"/>
                </a:lnTo>
                <a:lnTo>
                  <a:pt x="17766084" y="4726451"/>
                </a:lnTo>
                <a:lnTo>
                  <a:pt x="0" y="4726451"/>
                </a:lnTo>
                <a:lnTo>
                  <a:pt x="0" y="0"/>
                </a:lnTo>
                <a:close/>
              </a:path>
            </a:pathLst>
          </a:custGeom>
          <a:blipFill>
            <a:blip r:embed="rId3"/>
            <a:stretch>
              <a:fillRect t="-549" b="0"/>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818147" y="2079392"/>
            <a:ext cx="16651705" cy="8863965"/>
          </a:xfrm>
          <a:prstGeom prst="rect">
            <a:avLst/>
          </a:prstGeom>
        </p:spPr>
        <p:txBody>
          <a:bodyPr lIns="0" tIns="0" rIns="0" bIns="0" rtlCol="0" anchor="t">
            <a:spAutoFit/>
          </a:bodyPr>
          <a:lstStyle/>
          <a:p>
            <a:pPr algn="l"/>
            <a:r>
              <a:rPr lang="en-US" sz="3600">
                <a:solidFill>
                  <a:srgbClr val="00BF63"/>
                </a:solidFill>
                <a:latin typeface="Open Sauce"/>
                <a:ea typeface="Open Sauce"/>
                <a:cs typeface="Open Sauce"/>
                <a:sym typeface="Open Sauce"/>
              </a:rPr>
              <a:t># Chuyển ảnh sang nhị phân bằng Otsu.</a:t>
            </a:r>
          </a:p>
          <a:p>
            <a:pPr algn="l"/>
            <a:r>
              <a:rPr lang="en-US" sz="3600">
                <a:solidFill>
                  <a:srgbClr val="191919"/>
                </a:solidFill>
                <a:latin typeface="Open Sauce"/>
                <a:ea typeface="Open Sauce"/>
                <a:cs typeface="Open Sauce"/>
                <a:sym typeface="Open Sauce"/>
              </a:rPr>
              <a:t>_, thresh = cv2.threshold(gray, 0, 255, cv2.THRESH_BINARY_INV + cv2.THRESH_OTSU)</a:t>
            </a:r>
          </a:p>
          <a:p>
            <a:pPr algn="l">
              <a:spcBef>
                <a:spcPct val="0"/>
              </a:spcBef>
            </a:pPr>
            <a:r>
              <a:rPr lang="en-US" sz="3600">
                <a:solidFill>
                  <a:srgbClr val="00BF63"/>
                </a:solidFill>
                <a:latin typeface="Open Sauce"/>
                <a:ea typeface="Open Sauce"/>
                <a:cs typeface="Open Sauce"/>
                <a:sym typeface="Open Sauce"/>
              </a:rPr>
              <a:t># Áp dụng morphological operations (opening, closing) để loại nhiễu.</a:t>
            </a:r>
          </a:p>
          <a:p>
            <a:pPr algn="l">
              <a:spcBef>
                <a:spcPct val="0"/>
              </a:spcBef>
            </a:pPr>
            <a:r>
              <a:rPr lang="en-US" sz="3600">
                <a:solidFill>
                  <a:srgbClr val="191919"/>
                </a:solidFill>
                <a:latin typeface="Open Sauce"/>
                <a:ea typeface="Open Sauce"/>
                <a:cs typeface="Open Sauce"/>
                <a:sym typeface="Open Sauce"/>
              </a:rPr>
              <a:t>kernel = np.ones((3,3), np.uint8)</a:t>
            </a:r>
          </a:p>
          <a:p>
            <a:pPr algn="l">
              <a:spcBef>
                <a:spcPct val="0"/>
              </a:spcBef>
            </a:pPr>
            <a:r>
              <a:rPr lang="en-US" sz="3600">
                <a:solidFill>
                  <a:srgbClr val="191919"/>
                </a:solidFill>
                <a:latin typeface="Open Sauce"/>
                <a:ea typeface="Open Sauce"/>
                <a:cs typeface="Open Sauce"/>
                <a:sym typeface="Open Sauce"/>
              </a:rPr>
              <a:t>opening = cv2.morphologyEx(thresh, cv2.MORPH_OPEN, kernel, iterations=2)</a:t>
            </a:r>
          </a:p>
          <a:p>
            <a:pPr algn="l">
              <a:spcBef>
                <a:spcPct val="0"/>
              </a:spcBef>
            </a:pPr>
            <a:r>
              <a:rPr lang="en-US" sz="3600">
                <a:solidFill>
                  <a:srgbClr val="00BF63"/>
                </a:solidFill>
                <a:latin typeface="Open Sauce"/>
                <a:ea typeface="Open Sauce"/>
                <a:cs typeface="Open Sauce"/>
                <a:sym typeface="Open Sauce"/>
              </a:rPr>
              <a:t># Sure background:</a:t>
            </a:r>
          </a:p>
          <a:p>
            <a:pPr algn="l">
              <a:spcBef>
                <a:spcPct val="0"/>
              </a:spcBef>
            </a:pPr>
            <a:r>
              <a:rPr lang="en-US" sz="3600" err="1">
                <a:solidFill>
                  <a:srgbClr val="00BF63"/>
                </a:solidFill>
                <a:latin typeface="Open Sauce"/>
                <a:ea typeface="Open Sauce"/>
                <a:cs typeface="Open Sauce"/>
                <a:sym typeface="Open Sauce"/>
              </a:rPr>
              <a:t>sure_bg = cv2.dilate(opening, kernel, iterations=3)</a:t>
            </a:r>
          </a:p>
          <a:p>
            <a:pPr algn="l">
              <a:spcBef>
                <a:spcPct val="0"/>
              </a:spcBef>
            </a:pPr>
            <a:r>
              <a:rPr lang="en-US" sz="3600">
                <a:solidFill>
                  <a:srgbClr val="00BF63"/>
                </a:solidFill>
                <a:latin typeface="Open Sauce"/>
                <a:ea typeface="Open Sauce"/>
                <a:cs typeface="Open Sauce"/>
                <a:sym typeface="Open Sauce"/>
              </a:rPr>
              <a:t># Tính distance transform để tìm sure foreground</a:t>
            </a:r>
          </a:p>
          <a:p>
            <a:pPr algn="l">
              <a:spcBef>
                <a:spcPct val="0"/>
              </a:spcBef>
            </a:pPr>
            <a:r>
              <a:rPr lang="en-US" sz="3600" err="1">
                <a:solidFill>
                  <a:srgbClr val="191919"/>
                </a:solidFill>
                <a:latin typeface="Open Sauce"/>
                <a:ea typeface="Open Sauce"/>
                <a:cs typeface="Open Sauce"/>
                <a:sym typeface="Open Sauce"/>
              </a:rPr>
              <a:t>dist_transform = cv2.distanceTransform(opening, cv2.DIST_L2, 5)</a:t>
            </a:r>
          </a:p>
          <a:p>
            <a:pPr algn="l">
              <a:spcBef>
                <a:spcPct val="0"/>
              </a:spcBef>
            </a:pPr>
            <a:r>
              <a:rPr lang="en-US" sz="3600">
                <a:solidFill>
                  <a:srgbClr val="00BF63"/>
                </a:solidFill>
                <a:latin typeface="Open Sauce"/>
                <a:ea typeface="Open Sauce"/>
                <a:cs typeface="Open Sauce"/>
                <a:sym typeface="Open Sauce"/>
              </a:rPr>
              <a:t># Ngưỡng: lấy 0.7 * giá trị max</a:t>
            </a:r>
          </a:p>
          <a:p>
            <a:pPr algn="l">
              <a:spcBef>
                <a:spcPct val="0"/>
              </a:spcBef>
            </a:pPr>
            <a:r>
              <a:rPr lang="en-US" sz="3600">
                <a:solidFill>
                  <a:srgbClr val="191919"/>
                </a:solidFill>
                <a:latin typeface="Open Sauce"/>
                <a:ea typeface="Open Sauce"/>
                <a:cs typeface="Open Sauce"/>
                <a:sym typeface="Open Sauce"/>
              </a:rPr>
              <a:t>_, sure_fg = cv2.threshold(dist_transform, 0.7 * dist_transform.max(), 255, 0)</a:t>
            </a:r>
          </a:p>
          <a:p>
            <a:pPr algn="l">
              <a:spcBef>
                <a:spcPct val="0"/>
              </a:spcBef>
            </a:pPr>
            <a:r>
              <a:rPr lang="en-US" sz="3600" err="1">
                <a:solidFill>
                  <a:srgbClr val="191919"/>
                </a:solidFill>
                <a:latin typeface="Open Sauce"/>
                <a:ea typeface="Open Sauce"/>
                <a:cs typeface="Open Sauce"/>
                <a:sym typeface="Open Sauce"/>
              </a:rPr>
              <a:t>sure_fg = np.uint8(sure_fg)</a:t>
            </a:r>
          </a:p>
          <a:p>
            <a:pPr algn="l">
              <a:spcBef>
                <a:spcPct val="0"/>
              </a:spcBef>
            </a:pPr>
            <a:endParaRPr lang="en-US" sz="3600">
              <a:solidFill>
                <a:srgbClr val="191919"/>
              </a:solidFill>
              <a:latin typeface="Open Sauce"/>
              <a:ea typeface="Open Sauce"/>
              <a:cs typeface="Open Sauce"/>
              <a:sym typeface="Open Sauce"/>
            </a:endParaRPr>
          </a:p>
          <a:p>
            <a:pPr algn="just">
              <a:spcBef>
                <a:spcPct val="0"/>
              </a:spcBef>
            </a:pPr>
            <a:endParaRPr lang="en-US" sz="3600">
              <a:solidFill>
                <a:srgbClr val="191919"/>
              </a:solidFill>
              <a:latin typeface="Open Sauce"/>
              <a:ea typeface="Open Sauce"/>
              <a:cs typeface="Open Sauce"/>
              <a:sym typeface="Open Sauce"/>
            </a:endParaRPr>
          </a:p>
        </p:txBody>
      </p:sp>
      <p:sp>
        <p:nvSpPr>
          <p:cNvPr id="6" name="TextBox 6"/>
          <p:cNvSpPr txBox="1"/>
          <p:nvPr/>
        </p:nvSpPr>
        <p:spPr>
          <a:xfrm>
            <a:off x="9322683" y="413384"/>
            <a:ext cx="7798919"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BẰNG WATERSHED – WATERSHED SEGMENTATION</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16876" y="1981199"/>
            <a:ext cx="10134600" cy="8208337"/>
          </a:xfrm>
          <a:prstGeom prst="rect">
            <a:avLst/>
          </a:prstGeom>
        </p:spPr>
        <p:txBody>
          <a:bodyPr wrap="square" lIns="0" tIns="0" rIns="0" bIns="0" rtlCol="0" anchor="t">
            <a:spAutoFit/>
          </a:bodyPr>
          <a:lstStyle/>
          <a:p>
            <a:pPr algn="l">
              <a:lnSpc>
                <a:spcPct val="150000"/>
              </a:lnSpc>
            </a:pPr>
            <a:r>
              <a:rPr lang="en-US" sz="3600">
                <a:solidFill>
                  <a:srgbClr val="00BF63"/>
                </a:solidFill>
                <a:latin typeface="Open Sauce"/>
                <a:ea typeface="Open Sauce"/>
                <a:cs typeface="Open Sauce"/>
                <a:sym typeface="Open Sauce"/>
              </a:rPr>
              <a:t># Unknown region = BG - FG</a:t>
            </a:r>
          </a:p>
          <a:p>
            <a:pPr algn="l">
              <a:lnSpc>
                <a:spcPct val="150000"/>
              </a:lnSpc>
              <a:spcBef>
                <a:spcPct val="0"/>
              </a:spcBef>
            </a:pPr>
            <a:r>
              <a:rPr lang="en-US" sz="3600">
                <a:solidFill>
                  <a:srgbClr val="191919"/>
                </a:solidFill>
                <a:latin typeface="Open Sauce"/>
                <a:ea typeface="Open Sauce"/>
                <a:cs typeface="Open Sauce"/>
                <a:sym typeface="Open Sauce"/>
              </a:rPr>
              <a:t>unknown = cv2.subtract(sure_bg, sure_fg)</a:t>
            </a:r>
          </a:p>
          <a:p>
            <a:pPr algn="l">
              <a:lnSpc>
                <a:spcPct val="150000"/>
              </a:lnSpc>
              <a:spcBef>
                <a:spcPct val="0"/>
              </a:spcBef>
            </a:pPr>
            <a:r>
              <a:rPr lang="en-US" sz="3600">
                <a:solidFill>
                  <a:srgbClr val="00BF63"/>
                </a:solidFill>
                <a:latin typeface="Open Sauce"/>
                <a:ea typeface="Open Sauce"/>
                <a:cs typeface="Open Sauce"/>
                <a:sym typeface="Open Sauce"/>
              </a:rPr>
              <a:t># Gán nhãn vùng (markers)</a:t>
            </a:r>
          </a:p>
          <a:p>
            <a:pPr algn="l">
              <a:lnSpc>
                <a:spcPct val="150000"/>
              </a:lnSpc>
              <a:spcBef>
                <a:spcPct val="0"/>
              </a:spcBef>
            </a:pPr>
            <a:r>
              <a:rPr lang="en-US" sz="3600">
                <a:solidFill>
                  <a:srgbClr val="191919"/>
                </a:solidFill>
                <a:latin typeface="Open Sauce"/>
                <a:ea typeface="Open Sauce"/>
                <a:cs typeface="Open Sauce"/>
                <a:sym typeface="Open Sauce"/>
              </a:rPr>
              <a:t>_, markers = cv2.connectedComponents(sure_fg)</a:t>
            </a:r>
          </a:p>
          <a:p>
            <a:pPr algn="l">
              <a:lnSpc>
                <a:spcPct val="150000"/>
              </a:lnSpc>
              <a:spcBef>
                <a:spcPct val="0"/>
              </a:spcBef>
            </a:pPr>
            <a:r>
              <a:rPr lang="en-US" sz="3600">
                <a:solidFill>
                  <a:srgbClr val="191919"/>
                </a:solidFill>
                <a:latin typeface="Open Sauce"/>
                <a:ea typeface="Open Sauce"/>
                <a:cs typeface="Open Sauce"/>
                <a:sym typeface="Open Sauce"/>
              </a:rPr>
              <a:t>markers = markers + 1</a:t>
            </a:r>
          </a:p>
          <a:p>
            <a:pPr algn="l">
              <a:lnSpc>
                <a:spcPct val="150000"/>
              </a:lnSpc>
              <a:spcBef>
                <a:spcPct val="0"/>
              </a:spcBef>
            </a:pPr>
            <a:r>
              <a:rPr lang="en-US" sz="3600">
                <a:solidFill>
                  <a:srgbClr val="191919"/>
                </a:solidFill>
                <a:latin typeface="Open Sauce"/>
                <a:ea typeface="Open Sauce"/>
                <a:cs typeface="Open Sauce"/>
                <a:sym typeface="Open Sauce"/>
              </a:rPr>
              <a:t>markers[unknown == 255] = 0</a:t>
            </a:r>
          </a:p>
          <a:p>
            <a:pPr algn="l">
              <a:lnSpc>
                <a:spcPct val="150000"/>
              </a:lnSpc>
              <a:spcBef>
                <a:spcPct val="0"/>
              </a:spcBef>
            </a:pPr>
            <a:r>
              <a:rPr lang="en-US" sz="3600">
                <a:solidFill>
                  <a:srgbClr val="00BF63"/>
                </a:solidFill>
                <a:latin typeface="Open Sauce"/>
                <a:ea typeface="Open Sauce"/>
                <a:cs typeface="Open Sauce"/>
                <a:sym typeface="Open Sauce"/>
              </a:rPr>
              <a:t># Áp dụng Watershed</a:t>
            </a:r>
          </a:p>
          <a:p>
            <a:pPr algn="l">
              <a:lnSpc>
                <a:spcPct val="150000"/>
              </a:lnSpc>
              <a:spcBef>
                <a:spcPct val="0"/>
              </a:spcBef>
            </a:pPr>
            <a:r>
              <a:rPr lang="en-US" sz="3600">
                <a:solidFill>
                  <a:srgbClr val="191919"/>
                </a:solidFill>
                <a:latin typeface="Open Sauce"/>
                <a:ea typeface="Open Sauce"/>
                <a:cs typeface="Open Sauce"/>
                <a:sym typeface="Open Sauce"/>
              </a:rPr>
              <a:t>markers = cv2.watershed(img, markers)</a:t>
            </a:r>
          </a:p>
          <a:p>
            <a:pPr algn="just">
              <a:lnSpc>
                <a:spcPct val="150000"/>
              </a:lnSpc>
              <a:spcBef>
                <a:spcPct val="0"/>
              </a:spcBef>
            </a:pPr>
            <a:endParaRPr lang="en-US" sz="3600">
              <a:solidFill>
                <a:srgbClr val="191919"/>
              </a:solidFill>
              <a:latin typeface="Open Sauce"/>
              <a:ea typeface="Open Sauce"/>
              <a:cs typeface="Open Sauce"/>
              <a:sym typeface="Open Sauce"/>
            </a:endParaRPr>
          </a:p>
        </p:txBody>
      </p:sp>
      <p:sp>
        <p:nvSpPr>
          <p:cNvPr id="6" name="TextBox 6"/>
          <p:cNvSpPr txBox="1"/>
          <p:nvPr/>
        </p:nvSpPr>
        <p:spPr>
          <a:xfrm>
            <a:off x="9322683" y="413384"/>
            <a:ext cx="7798919"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BẰNG WATERSHED – WATERSHED SEGMENTATION</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225335" y="1938684"/>
            <a:ext cx="13837331" cy="7714311"/>
          </a:xfrm>
          <a:custGeom>
            <a:rect l="l" t="t" r="r" b="b"/>
            <a:pathLst>
              <a:path w="13837330" h="7714310">
                <a:moveTo>
                  <a:pt x="0" y="0"/>
                </a:moveTo>
                <a:lnTo>
                  <a:pt x="13837330" y="0"/>
                </a:lnTo>
                <a:lnTo>
                  <a:pt x="13837330" y="7714311"/>
                </a:lnTo>
                <a:lnTo>
                  <a:pt x="0" y="771431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765902" y="1514158"/>
            <a:ext cx="14756195" cy="8355696"/>
          </a:xfrm>
          <a:custGeom>
            <a:rect l="l" t="t" r="r" b="b"/>
            <a:pathLst>
              <a:path w="14756194" h="8355696">
                <a:moveTo>
                  <a:pt x="0" y="0"/>
                </a:moveTo>
                <a:lnTo>
                  <a:pt x="14756196" y="0"/>
                </a:lnTo>
                <a:lnTo>
                  <a:pt x="14756196" y="8355695"/>
                </a:lnTo>
                <a:lnTo>
                  <a:pt x="0" y="8355695"/>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717036" y="2415801"/>
            <a:ext cx="17288461" cy="6331899"/>
          </a:xfrm>
          <a:custGeom>
            <a:rect l="l" t="t" r="r" b="b"/>
            <a:pathLst>
              <a:path w="17288461" h="6331899">
                <a:moveTo>
                  <a:pt x="0" y="0"/>
                </a:moveTo>
                <a:lnTo>
                  <a:pt x="17288461" y="0"/>
                </a:lnTo>
                <a:lnTo>
                  <a:pt x="17288461" y="6331899"/>
                </a:lnTo>
                <a:lnTo>
                  <a:pt x="0" y="633189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943063" y="3621797"/>
            <a:ext cx="11301259" cy="5636503"/>
          </a:xfrm>
          <a:custGeom>
            <a:rect l="l" t="t" r="r" b="b"/>
            <a:pathLst>
              <a:path w="11301259" h="5636503">
                <a:moveTo>
                  <a:pt x="0" y="0"/>
                </a:moveTo>
                <a:lnTo>
                  <a:pt x="11301259" y="0"/>
                </a:lnTo>
                <a:lnTo>
                  <a:pt x="11301259" y="5636503"/>
                </a:lnTo>
                <a:lnTo>
                  <a:pt x="0" y="563650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6" name="TextBox 6"/>
          <p:cNvSpPr txBox="1"/>
          <p:nvPr/>
        </p:nvSpPr>
        <p:spPr>
          <a:xfrm>
            <a:off x="267840" y="1906021"/>
            <a:ext cx="16651705" cy="1300078"/>
          </a:xfrm>
          <a:prstGeom prst="rect">
            <a:avLst/>
          </a:prstGeom>
        </p:spPr>
        <p:txBody>
          <a:bodyPr lIns="0" tIns="0" rIns="0" bIns="0" rtlCol="0" anchor="t">
            <a:spAutoFit/>
          </a:bodyPr>
          <a:lstStyle/>
          <a:p>
            <a:pPr algn="l">
              <a:lnSpc>
                <a:spcPts val="4192"/>
              </a:lnSpc>
              <a:spcBef>
                <a:spcPct val="0"/>
              </a:spcBef>
            </a:pPr>
            <a:r>
              <a:rPr lang="en-US" sz="2620">
                <a:solidFill>
                  <a:srgbClr val="000000"/>
                </a:solidFill>
                <a:latin typeface="Open Sauce"/>
                <a:ea typeface="Open Sauce"/>
                <a:cs typeface="Open Sauce"/>
                <a:sym typeface="Open Sauce"/>
              </a:rPr>
              <a:t>gray=cv2.cvtColor(img,cv2.COLOR_BGR2GRAY)</a:t>
            </a:r>
          </a:p>
          <a:p>
            <a:pPr algn="l">
              <a:lnSpc>
                <a:spcPts val="4192"/>
              </a:lnSpc>
              <a:spcBef>
                <a:spcPct val="0"/>
              </a:spcBef>
            </a:pPr>
            <a:r>
              <a:rPr lang="en-US" sz="2620">
                <a:solidFill>
                  <a:srgbClr val="000000"/>
                </a:solidFill>
                <a:latin typeface="Open Sauce"/>
                <a:ea typeface="Open Sauce"/>
                <a:cs typeface="Open Sauce"/>
                <a:sym typeface="Open Sauce"/>
              </a:rPr>
              <a:t>_,binary_img = cv2.threshold(gray,0, 255, cv2.THRESH_BINARY_INV + cv2.THRESH_OTSU)</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
        <p:nvSpPr>
          <p:cNvPr id="7" name="TextBox 7"/>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XÁC ĐỊNH ĐỐI TƯỢNG BẰNG CONNECTED COMPONENTS VÀ CONTOUR</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1447800" y="2324100"/>
            <a:ext cx="16651705" cy="7310014"/>
          </a:xfrm>
          <a:prstGeom prst="rect">
            <a:avLst/>
          </a:prstGeom>
        </p:spPr>
        <p:txBody>
          <a:bodyPr lIns="0" tIns="0" rIns="0" bIns="0" rtlCol="0" anchor="t">
            <a:spAutoFit/>
          </a:bodyPr>
          <a:lstStyle/>
          <a:p>
            <a:pPr algn="l">
              <a:lnSpc>
                <a:spcPts val="4192"/>
              </a:lnSpc>
            </a:pPr>
            <a:r>
              <a:rPr lang="en-US" sz="3600">
                <a:solidFill>
                  <a:srgbClr val="00BF63"/>
                </a:solidFill>
                <a:latin typeface="Open Sauce"/>
                <a:ea typeface="Open Sauce"/>
                <a:cs typeface="Open Sauce"/>
                <a:sym typeface="Open Sauce"/>
              </a:rPr>
              <a:t># 1. Áp dụng cv2.connectedComponents cho anh nhi phan</a:t>
            </a:r>
          </a:p>
          <a:p>
            <a:pPr algn="l">
              <a:lnSpc>
                <a:spcPts val="4192"/>
              </a:lnSpc>
              <a:spcBef>
                <a:spcPct val="0"/>
              </a:spcBef>
            </a:pPr>
            <a:r>
              <a:rPr lang="en-US" sz="3600" err="1">
                <a:solidFill>
                  <a:srgbClr val="000000"/>
                </a:solidFill>
                <a:latin typeface="Open Sauce"/>
                <a:ea typeface="Open Sauce"/>
                <a:cs typeface="Open Sauce"/>
                <a:sym typeface="Open Sauce"/>
              </a:rPr>
              <a:t>num_labels, labels_img = cv2.connectedComponents(binary_img)</a:t>
            </a:r>
          </a:p>
          <a:p>
            <a:pPr algn="l">
              <a:lnSpc>
                <a:spcPts val="4192"/>
              </a:lnSpc>
              <a:spcBef>
                <a:spcPct val="0"/>
              </a:spcBef>
            </a:pPr>
            <a:r>
              <a:rPr lang="en-US" sz="3600">
                <a:solidFill>
                  <a:srgbClr val="00BF63"/>
                </a:solidFill>
                <a:latin typeface="Open Sauce"/>
                <a:ea typeface="Open Sauce"/>
                <a:cs typeface="Open Sauce"/>
                <a:sym typeface="Open Sauce"/>
              </a:rPr>
              <a:t># 2. Xử lý và Hiển thị kết quả</a:t>
            </a:r>
            <a:endParaRPr lang="en-US" sz="3600">
              <a:solidFill>
                <a:srgbClr val="00BF63"/>
              </a:solidFill>
              <a:latin typeface="Open Sauce"/>
              <a:ea typeface="Open Sauce"/>
              <a:cs typeface="Open Sauce"/>
              <a:sym typeface="Open Sauce"/>
            </a:endParaRPr>
          </a:p>
          <a:p>
            <a:pPr algn="l">
              <a:lnSpc>
                <a:spcPts val="4192"/>
              </a:lnSpc>
              <a:spcBef>
                <a:spcPct val="0"/>
              </a:spcBef>
            </a:pPr>
            <a:r>
              <a:rPr lang="en-US" sz="3600">
                <a:solidFill>
                  <a:srgbClr val="00BF63"/>
                </a:solidFill>
                <a:latin typeface="Open Sauce"/>
                <a:ea typeface="Open Sauce"/>
                <a:cs typeface="Open Sauce"/>
                <a:sym typeface="Open Sauce"/>
              </a:rPr>
              <a:t># Tạo một ảnh màu để visualize các nhãn (tạo màu ngẫu nhiên cho từng đối tượng)</a:t>
            </a:r>
          </a:p>
          <a:p>
            <a:pPr algn="l">
              <a:lnSpc>
                <a:spcPts val="4192"/>
              </a:lnSpc>
              <a:spcBef>
                <a:spcPct val="0"/>
              </a:spcBef>
            </a:pPr>
            <a:r>
              <a:rPr lang="en-US" sz="3600" err="1">
                <a:solidFill>
                  <a:srgbClr val="000000"/>
                </a:solidFill>
                <a:latin typeface="Open Sauce"/>
                <a:ea typeface="Open Sauce"/>
                <a:cs typeface="Open Sauce"/>
                <a:sym typeface="Open Sauce"/>
              </a:rPr>
              <a:t>output_cc = np.zeros((binary_img.shape[0], binary_img.shape[1],3), dtype=np.uint8)</a:t>
            </a:r>
          </a:p>
          <a:p>
            <a:pPr algn="l">
              <a:lnSpc>
                <a:spcPts val="4192"/>
              </a:lnSpc>
              <a:spcBef>
                <a:spcPct val="0"/>
              </a:spcBef>
            </a:pPr>
            <a:r>
              <a:rPr lang="en-US" sz="3600">
                <a:solidFill>
                  <a:srgbClr val="00BF63"/>
                </a:solidFill>
                <a:latin typeface="Open Sauce"/>
                <a:ea typeface="Open Sauce"/>
                <a:cs typeface="Open Sauce"/>
                <a:sym typeface="Open Sauce"/>
              </a:rPr>
              <a:t># Bỏ qua nhãn 0 (nền den) i=0,1,2,3</a:t>
            </a:r>
          </a:p>
          <a:p>
            <a:pPr algn="l">
              <a:lnSpc>
                <a:spcPts val="4192"/>
              </a:lnSpc>
              <a:spcBef>
                <a:spcPct val="0"/>
              </a:spcBef>
            </a:pPr>
            <a:r>
              <a:rPr lang="en-US" sz="3600">
                <a:solidFill>
                  <a:srgbClr val="000000"/>
                </a:solidFill>
                <a:latin typeface="Open Sauce"/>
                <a:ea typeface="Open Sauce"/>
                <a:cs typeface="Open Sauce"/>
                <a:sym typeface="Open Sauce"/>
              </a:rPr>
              <a:t>for i in range(1, num_labels):</a:t>
            </a:r>
          </a:p>
          <a:p>
            <a:pPr algn="l">
              <a:lnSpc>
                <a:spcPts val="4192"/>
              </a:lnSpc>
              <a:spcBef>
                <a:spcPct val="0"/>
              </a:spcBef>
            </a:pPr>
            <a:r>
              <a:rPr lang="en-US" sz="3600">
                <a:solidFill>
                  <a:srgbClr val="00BF63"/>
                </a:solidFill>
                <a:latin typeface="Open Sauce"/>
                <a:ea typeface="Open Sauce"/>
                <a:cs typeface="Open Sauce"/>
                <a:sym typeface="Open Sauce"/>
              </a:rPr>
              <a:t>  # Tạo màu ngẫu nhiên (BGR)</a:t>
            </a:r>
          </a:p>
          <a:p>
            <a:pPr algn="l">
              <a:lnSpc>
                <a:spcPts val="4192"/>
              </a:lnSpc>
              <a:spcBef>
                <a:spcPct val="0"/>
              </a:spcBef>
            </a:pPr>
            <a:r>
              <a:rPr lang="en-US" sz="3600">
                <a:solidFill>
                  <a:srgbClr val="000000"/>
                </a:solidFill>
                <a:latin typeface="Open Sauce"/>
                <a:ea typeface="Open Sauce"/>
                <a:cs typeface="Open Sauce"/>
                <a:sym typeface="Open Sauce"/>
              </a:rPr>
              <a:t>  color = np.random.randint(0, 255, 3).tolist()</a:t>
            </a:r>
          </a:p>
          <a:p>
            <a:pPr algn="l">
              <a:lnSpc>
                <a:spcPts val="4192"/>
              </a:lnSpc>
              <a:spcBef>
                <a:spcPct val="0"/>
              </a:spcBef>
            </a:pPr>
            <a:r>
              <a:rPr lang="en-US" sz="3600">
                <a:solidFill>
                  <a:srgbClr val="00BF63"/>
                </a:solidFill>
                <a:latin typeface="Open Sauce"/>
                <a:ea typeface="Open Sauce"/>
                <a:cs typeface="Open Sauce"/>
                <a:sym typeface="Open Sauce"/>
              </a:rPr>
              <a:t>  # Gán màu cho tất cả các pixel thuộc nhãn i</a:t>
            </a:r>
            <a:endParaRPr lang="en-US" sz="3600">
              <a:solidFill>
                <a:srgbClr val="00BF63"/>
              </a:solidFill>
              <a:latin typeface="Open Sauce"/>
              <a:ea typeface="Open Sauce"/>
              <a:cs typeface="Open Sauce"/>
              <a:sym typeface="Open Sauce"/>
            </a:endParaRPr>
          </a:p>
          <a:p>
            <a:pPr algn="l">
              <a:lnSpc>
                <a:spcPts val="4192"/>
              </a:lnSpc>
              <a:spcBef>
                <a:spcPct val="0"/>
              </a:spcBef>
            </a:pPr>
            <a:r>
              <a:rPr lang="en-US" sz="3600">
                <a:solidFill>
                  <a:srgbClr val="000000"/>
                </a:solidFill>
                <a:latin typeface="Open Sauce"/>
                <a:ea typeface="Open Sauce"/>
                <a:cs typeface="Open Sauce"/>
                <a:sym typeface="Open Sauce"/>
              </a:rPr>
              <a:t>  output_cc[labels_img == i] = color</a:t>
            </a:r>
          </a:p>
          <a:p>
            <a:pPr algn="just">
              <a:lnSpc>
                <a:spcPts val="2112"/>
              </a:lnSpc>
              <a:spcBef>
                <a:spcPct val="0"/>
              </a:spcBef>
            </a:pPr>
            <a:endParaRPr lang="en-US" sz="3600">
              <a:solidFill>
                <a:srgbClr val="000000"/>
              </a:solidFill>
              <a:latin typeface="Open Sauce"/>
              <a:ea typeface="Open Sauce"/>
              <a:cs typeface="Open Sauce"/>
              <a:sym typeface="Open Sauce"/>
            </a:endParaRPr>
          </a:p>
        </p:txBody>
      </p:sp>
      <p:sp>
        <p:nvSpPr>
          <p:cNvPr id="6" name="TextBox 6"/>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XÁC ĐỊNH ĐỐI TƯỢNG BẰNG CONNECTED COMPONENTS VÀ CONTOUR</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082421" y="1846415"/>
            <a:ext cx="6123158" cy="6594170"/>
          </a:xfrm>
          <a:custGeom>
            <a:rect l="l" t="t" r="r" b="b"/>
            <a:pathLst>
              <a:path w="6123158" h="6594170">
                <a:moveTo>
                  <a:pt x="0" y="0"/>
                </a:moveTo>
                <a:lnTo>
                  <a:pt x="6123158" y="0"/>
                </a:lnTo>
                <a:lnTo>
                  <a:pt x="6123158" y="6594170"/>
                </a:lnTo>
                <a:lnTo>
                  <a:pt x="0" y="659417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1219200" y="2784180"/>
            <a:ext cx="16651705" cy="6232796"/>
          </a:xfrm>
          <a:prstGeom prst="rect">
            <a:avLst/>
          </a:prstGeom>
        </p:spPr>
        <p:txBody>
          <a:bodyPr lIns="0" tIns="0" rIns="0" bIns="0" rtlCol="0" anchor="t">
            <a:spAutoFit/>
          </a:bodyPr>
          <a:lstStyle/>
          <a:p>
            <a:pPr algn="l">
              <a:lnSpc>
                <a:spcPts val="4192"/>
              </a:lnSpc>
              <a:spcBef>
                <a:spcPct val="0"/>
              </a:spcBef>
            </a:pPr>
            <a:r>
              <a:rPr lang="en-US" sz="3600">
                <a:solidFill>
                  <a:srgbClr val="191919"/>
                </a:solidFill>
                <a:latin typeface="Open Sauce"/>
                <a:ea typeface="Open Sauce"/>
                <a:cs typeface="Open Sauce"/>
                <a:sym typeface="Open Sauce"/>
              </a:rPr>
              <a:t>contours, hierarchy = cv2.findContours(binary_img, cv2.RETR_EXTERNAL, cv2.CHAIN_APPROX_SIMPLE)</a:t>
            </a:r>
          </a:p>
          <a:p>
            <a:pPr algn="l">
              <a:lnSpc>
                <a:spcPts val="4192"/>
              </a:lnSpc>
              <a:spcBef>
                <a:spcPct val="0"/>
              </a:spcBef>
            </a:pPr>
            <a:r>
              <a:rPr lang="en-US" sz="3600">
                <a:solidFill>
                  <a:srgbClr val="191919"/>
                </a:solidFill>
                <a:latin typeface="Open Sauce"/>
                <a:ea typeface="Open Sauce"/>
                <a:cs typeface="Open Sauce"/>
                <a:sym typeface="Open Sauce"/>
              </a:rPr>
              <a:t>print(f"Số lượng Contour được tìm thấy: {len(contours)}")</a:t>
            </a:r>
          </a:p>
          <a:p>
            <a:pPr algn="l">
              <a:lnSpc>
                <a:spcPts val="4192"/>
              </a:lnSpc>
              <a:spcBef>
                <a:spcPct val="0"/>
              </a:spcBef>
            </a:pPr>
            <a:endParaRPr lang="en-US" sz="3600">
              <a:solidFill>
                <a:srgbClr val="191919"/>
              </a:solidFill>
              <a:latin typeface="Open Sauce"/>
              <a:ea typeface="Open Sauce"/>
              <a:cs typeface="Open Sauce"/>
              <a:sym typeface="Open Sauce"/>
            </a:endParaRPr>
          </a:p>
          <a:p>
            <a:pPr algn="l">
              <a:lnSpc>
                <a:spcPts val="4192"/>
              </a:lnSpc>
              <a:spcBef>
                <a:spcPct val="0"/>
              </a:spcBef>
            </a:pPr>
            <a:r>
              <a:rPr lang="en-US" sz="3600">
                <a:solidFill>
                  <a:srgbClr val="191919"/>
                </a:solidFill>
                <a:latin typeface="Open Sauce"/>
                <a:ea typeface="Open Sauce"/>
                <a:cs typeface="Open Sauce"/>
                <a:sym typeface="Open Sauce"/>
              </a:rPr>
              <a:t>output = img.copy()</a:t>
            </a:r>
          </a:p>
          <a:p>
            <a:pPr algn="l">
              <a:lnSpc>
                <a:spcPts val="4192"/>
              </a:lnSpc>
              <a:spcBef>
                <a:spcPct val="0"/>
              </a:spcBef>
            </a:pPr>
            <a:r>
              <a:rPr lang="en-US" sz="3600">
                <a:solidFill>
                  <a:srgbClr val="00BF63"/>
                </a:solidFill>
                <a:latin typeface="Open Sauce"/>
                <a:ea typeface="Open Sauce"/>
                <a:cs typeface="Open Sauce"/>
                <a:sym typeface="Open Sauce"/>
              </a:rPr>
              <a:t># Vẽ tất cả các contour đã trích xuất</a:t>
            </a:r>
            <a:endParaRPr lang="en-US" sz="3600">
              <a:solidFill>
                <a:srgbClr val="00BF63"/>
              </a:solidFill>
              <a:latin typeface="Open Sauce"/>
              <a:ea typeface="Open Sauce"/>
              <a:cs typeface="Open Sauce"/>
              <a:sym typeface="Open Sauce"/>
            </a:endParaRPr>
          </a:p>
          <a:p>
            <a:pPr algn="l">
              <a:lnSpc>
                <a:spcPts val="4192"/>
              </a:lnSpc>
              <a:spcBef>
                <a:spcPct val="0"/>
              </a:spcBef>
            </a:pPr>
            <a:r>
              <a:rPr lang="en-US" sz="3600">
                <a:solidFill>
                  <a:srgbClr val="00BF63"/>
                </a:solidFill>
                <a:latin typeface="Open Sauce"/>
                <a:ea typeface="Open Sauce"/>
                <a:cs typeface="Open Sauce"/>
                <a:sym typeface="Open Sauce"/>
              </a:rPr>
              <a:t># Tham số 2: Các contour</a:t>
            </a:r>
          </a:p>
          <a:p>
            <a:pPr algn="l">
              <a:lnSpc>
                <a:spcPts val="4192"/>
              </a:lnSpc>
              <a:spcBef>
                <a:spcPct val="0"/>
              </a:spcBef>
            </a:pPr>
            <a:r>
              <a:rPr lang="en-US" sz="3600">
                <a:solidFill>
                  <a:srgbClr val="00BF63"/>
                </a:solidFill>
                <a:latin typeface="Open Sauce"/>
                <a:ea typeface="Open Sauce"/>
                <a:cs typeface="Open Sauce"/>
                <a:sym typeface="Open Sauce"/>
              </a:rPr>
              <a:t># Tham số 3: Chỉ số contour cần vẽ (-1 để vẽ tất cả)</a:t>
            </a:r>
          </a:p>
          <a:p>
            <a:pPr algn="l">
              <a:lnSpc>
                <a:spcPts val="4192"/>
              </a:lnSpc>
              <a:spcBef>
                <a:spcPct val="0"/>
              </a:spcBef>
            </a:pPr>
            <a:r>
              <a:rPr lang="en-US" sz="3600">
                <a:solidFill>
                  <a:srgbClr val="00BF63"/>
                </a:solidFill>
                <a:latin typeface="Open Sauce"/>
                <a:ea typeface="Open Sauce"/>
                <a:cs typeface="Open Sauce"/>
                <a:sym typeface="Open Sauce"/>
              </a:rPr>
              <a:t># Tham số 4: Màu sắc (BGR: 0, 255, 0 là màu xanh lá)</a:t>
            </a:r>
          </a:p>
          <a:p>
            <a:pPr algn="l">
              <a:lnSpc>
                <a:spcPts val="4192"/>
              </a:lnSpc>
              <a:spcBef>
                <a:spcPct val="0"/>
              </a:spcBef>
            </a:pPr>
            <a:r>
              <a:rPr lang="en-US" sz="3600">
                <a:solidFill>
                  <a:srgbClr val="00BF63"/>
                </a:solidFill>
                <a:latin typeface="Open Sauce"/>
                <a:ea typeface="Open Sauce"/>
                <a:cs typeface="Open Sauce"/>
                <a:sym typeface="Open Sauce"/>
              </a:rPr>
              <a:t># Tham số 5: Độ dày của đường vẽ</a:t>
            </a:r>
            <a:endParaRPr lang="en-US" sz="3600">
              <a:solidFill>
                <a:srgbClr val="00BF63"/>
              </a:solidFill>
              <a:latin typeface="Open Sauce"/>
              <a:ea typeface="Open Sauce"/>
              <a:cs typeface="Open Sauce"/>
              <a:sym typeface="Open Sauce"/>
            </a:endParaRPr>
          </a:p>
          <a:p>
            <a:pPr algn="l">
              <a:lnSpc>
                <a:spcPts val="4192"/>
              </a:lnSpc>
              <a:spcBef>
                <a:spcPct val="0"/>
              </a:spcBef>
            </a:pPr>
            <a:r>
              <a:rPr lang="en-US" sz="3600" err="1">
                <a:solidFill>
                  <a:srgbClr val="191919"/>
                </a:solidFill>
                <a:latin typeface="Open Sauce"/>
                <a:ea typeface="Open Sauce"/>
                <a:cs typeface="Open Sauce"/>
                <a:sym typeface="Open Sauce"/>
              </a:rPr>
              <a:t>out_img=cv2.drawContours(output, contours, -1, (255,0,0), 15)</a:t>
            </a:r>
          </a:p>
          <a:p>
            <a:pPr algn="just">
              <a:lnSpc>
                <a:spcPts val="2112"/>
              </a:lnSpc>
              <a:spcBef>
                <a:spcPct val="0"/>
              </a:spcBef>
            </a:pPr>
            <a:endParaRPr lang="en-US" sz="3600">
              <a:solidFill>
                <a:srgbClr val="191919"/>
              </a:solidFill>
              <a:latin typeface="Open Sauce"/>
              <a:ea typeface="Open Sauce"/>
              <a:cs typeface="Open Sauce"/>
              <a:sym typeface="Open Sauce"/>
            </a:endParaRPr>
          </a:p>
        </p:txBody>
      </p:sp>
      <p:sp>
        <p:nvSpPr>
          <p:cNvPr id="6" name="TextBox 6"/>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XÁC ĐỊNH ĐỐI TƯỢNG BẰNG CONNECTED COMPONENTS VÀ CONTOUR</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0512992" y="2337147"/>
            <a:ext cx="6316268" cy="6715868"/>
          </a:xfrm>
          <a:custGeom>
            <a:rect l="l" t="t" r="r" b="b"/>
            <a:pathLst>
              <a:path w="6316268" h="6715868">
                <a:moveTo>
                  <a:pt x="0" y="0"/>
                </a:moveTo>
                <a:lnTo>
                  <a:pt x="6316267" y="0"/>
                </a:lnTo>
                <a:lnTo>
                  <a:pt x="6316267" y="6715868"/>
                </a:lnTo>
                <a:lnTo>
                  <a:pt x="0" y="6715868"/>
                </a:lnTo>
                <a:lnTo>
                  <a:pt x="0" y="0"/>
                </a:lnTo>
                <a:close/>
              </a:path>
            </a:pathLst>
          </a:custGeom>
          <a:blipFill>
            <a:blip r:embed="rId3"/>
            <a:stretch>
              <a:fillRect/>
            </a:stretch>
          </a:blipFill>
        </p:spPr>
        <p:txBody>
          <a:bodyPr/>
          <a:lstStyle/>
          <a:p>
            <a:endParaRPr lang="en-US"/>
          </a:p>
        </p:txBody>
      </p:sp>
      <p:sp>
        <p:nvSpPr>
          <p:cNvPr id="4" name="Freeform 4"/>
          <p:cNvSpPr/>
          <p:nvPr/>
        </p:nvSpPr>
        <p:spPr>
          <a:xfrm>
            <a:off x="1616216" y="2337147"/>
            <a:ext cx="6436290" cy="6715868"/>
          </a:xfrm>
          <a:custGeom>
            <a:rect l="l" t="t" r="r" b="b"/>
            <a:pathLst>
              <a:path w="6436290" h="6715868">
                <a:moveTo>
                  <a:pt x="0" y="0"/>
                </a:moveTo>
                <a:lnTo>
                  <a:pt x="6436290" y="0"/>
                </a:lnTo>
                <a:lnTo>
                  <a:pt x="6436290" y="6715868"/>
                </a:lnTo>
                <a:lnTo>
                  <a:pt x="0" y="6715868"/>
                </a:lnTo>
                <a:lnTo>
                  <a:pt x="0" y="0"/>
                </a:lnTo>
                <a:close/>
              </a:path>
            </a:pathLst>
          </a:custGeom>
          <a:blipFill>
            <a:blip r:embed="rId4"/>
            <a:stretch>
              <a:fillRect l="-7134" r="0"/>
            </a:stretch>
          </a:blipFill>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6" name="TextBox 6"/>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652672"/>
            <a:ext cx="16651705" cy="8634328"/>
          </a:xfrm>
          <a:prstGeom prst="rect">
            <a:avLst/>
          </a:prstGeom>
        </p:spPr>
        <p:txBody>
          <a:bodyPr lIns="0" tIns="0" rIns="0" bIns="0" rtlCol="0" anchor="t">
            <a:spAutoFit/>
          </a:bodyPr>
          <a:lstStyle/>
          <a:p>
            <a:pPr algn="l">
              <a:lnSpc>
                <a:spcPts val="4192"/>
              </a:lnSpc>
            </a:pPr>
            <a:r>
              <a:rPr lang="en-US" sz="2620">
                <a:solidFill>
                  <a:srgbClr val="00BF63"/>
                </a:solidFill>
                <a:latin typeface="Open Sauce"/>
                <a:ea typeface="Open Sauce"/>
                <a:cs typeface="Open Sauce"/>
                <a:sym typeface="Open Sauce"/>
              </a:rPr>
              <a:t># Tìm contours</a:t>
            </a:r>
          </a:p>
          <a:p>
            <a:pPr algn="l">
              <a:lnSpc>
                <a:spcPts val="4192"/>
              </a:lnSpc>
              <a:spcBef>
                <a:spcPct val="0"/>
              </a:spcBef>
            </a:pPr>
            <a:r>
              <a:rPr lang="en-US" sz="2620">
                <a:solidFill>
                  <a:srgbClr val="191919"/>
                </a:solidFill>
                <a:latin typeface="Open Sauce"/>
                <a:ea typeface="Open Sauce"/>
                <a:cs typeface="Open Sauce"/>
                <a:sym typeface="Open Sauce"/>
              </a:rPr>
              <a:t>contours, hierarchy = cv2.findContours(binary_img, cv2.RETR_EXTERNAL, cv2.CHAIN_APPROX_SIMPLE)</a:t>
            </a:r>
          </a:p>
          <a:p>
            <a:pPr algn="l">
              <a:lnSpc>
                <a:spcPts val="4192"/>
              </a:lnSpc>
              <a:spcBef>
                <a:spcPct val="0"/>
              </a:spcBef>
            </a:pPr>
            <a:endParaRPr lang="en-US" sz="2620">
              <a:solidFill>
                <a:srgbClr val="191919"/>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Tạo ảnh trống cùng kích thước ảnh gốc (thay cho thresh)</a:t>
            </a:r>
          </a:p>
          <a:p>
            <a:pPr algn="l">
              <a:lnSpc>
                <a:spcPts val="4192"/>
              </a:lnSpc>
              <a:spcBef>
                <a:spcPct val="0"/>
              </a:spcBef>
            </a:pPr>
            <a:r>
              <a:rPr lang="en-US" sz="2620">
                <a:solidFill>
                  <a:srgbClr val="191919"/>
                </a:solidFill>
                <a:latin typeface="Open Sauce"/>
                <a:ea typeface="Open Sauce"/>
                <a:cs typeface="Open Sauce"/>
                <a:sym typeface="Open Sauce"/>
              </a:rPr>
              <a:t>drawing_1 = img.copy()</a:t>
            </a:r>
          </a:p>
          <a:p>
            <a:pPr algn="l">
              <a:lnSpc>
                <a:spcPts val="4192"/>
              </a:lnSpc>
              <a:spcBef>
                <a:spcPct val="0"/>
              </a:spcBef>
            </a:pPr>
            <a:r>
              <a:rPr lang="en-US" sz="2620">
                <a:solidFill>
                  <a:srgbClr val="191919"/>
                </a:solidFill>
                <a:latin typeface="Open Sauce"/>
                <a:ea typeface="Open Sauce"/>
                <a:cs typeface="Open Sauce"/>
                <a:sym typeface="Open Sauce"/>
              </a:rPr>
              <a:t>drawing_2 = img.copy()</a:t>
            </a:r>
          </a:p>
          <a:p>
            <a:pPr algn="l">
              <a:lnSpc>
                <a:spcPts val="4192"/>
              </a:lnSpc>
              <a:spcBef>
                <a:spcPct val="0"/>
              </a:spcBef>
            </a:pPr>
            <a:r>
              <a:rPr lang="en-US" sz="2620">
                <a:solidFill>
                  <a:srgbClr val="00BF63"/>
                </a:solidFill>
                <a:latin typeface="Open Sauce"/>
                <a:ea typeface="Open Sauce"/>
                <a:cs typeface="Open Sauce"/>
                <a:sym typeface="Open Sauce"/>
              </a:rPr>
              <a:t># Danh sách chứa diem bao loi cho từng contour</a:t>
            </a:r>
          </a:p>
          <a:p>
            <a:pPr algn="l">
              <a:lnSpc>
                <a:spcPts val="4192"/>
              </a:lnSpc>
              <a:spcBef>
                <a:spcPct val="0"/>
              </a:spcBef>
            </a:pPr>
            <a:r>
              <a:rPr lang="en-US" sz="2620">
                <a:solidFill>
                  <a:srgbClr val="191919"/>
                </a:solidFill>
                <a:latin typeface="Open Sauce"/>
                <a:ea typeface="Open Sauce"/>
                <a:cs typeface="Open Sauce"/>
                <a:sym typeface="Open Sauce"/>
              </a:rPr>
              <a:t>hull = [cv2.convexHull(cnt, False) for cnt in contours]</a:t>
            </a:r>
          </a:p>
          <a:p>
            <a:pPr algn="l">
              <a:lnSpc>
                <a:spcPts val="4192"/>
              </a:lnSpc>
              <a:spcBef>
                <a:spcPct val="0"/>
              </a:spcBef>
            </a:pPr>
            <a:endParaRPr lang="en-US" sz="2620">
              <a:solidFill>
                <a:srgbClr val="191919"/>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Vẽ contour và convex hull</a:t>
            </a:r>
          </a:p>
          <a:p>
            <a:pPr algn="l">
              <a:lnSpc>
                <a:spcPts val="4192"/>
              </a:lnSpc>
              <a:spcBef>
                <a:spcPct val="0"/>
              </a:spcBef>
            </a:pPr>
            <a:r>
              <a:rPr lang="en-US" sz="2620">
                <a:solidFill>
                  <a:srgbClr val="191919"/>
                </a:solidFill>
                <a:latin typeface="Open Sauce"/>
                <a:ea typeface="Open Sauce"/>
                <a:cs typeface="Open Sauce"/>
                <a:sym typeface="Open Sauce"/>
              </a:rPr>
              <a:t>for i in range(len(contours)):</a:t>
            </a:r>
          </a:p>
          <a:p>
            <a:pPr algn="l">
              <a:lnSpc>
                <a:spcPts val="4192"/>
              </a:lnSpc>
              <a:spcBef>
                <a:spcPct val="0"/>
              </a:spcBef>
            </a:pPr>
            <a:r>
              <a:rPr lang="en-US" sz="2620">
                <a:solidFill>
                  <a:srgbClr val="191919"/>
                </a:solidFill>
                <a:latin typeface="Open Sauce"/>
                <a:ea typeface="Open Sauce"/>
                <a:cs typeface="Open Sauce"/>
                <a:sym typeface="Open Sauce"/>
              </a:rPr>
              <a:t>  cv2.polylines(drawing_1, [hull[i]], isClosed=True, color=(255,0,0), thickness=10)</a:t>
            </a:r>
          </a:p>
          <a:p>
            <a:pPr algn="l">
              <a:lnSpc>
                <a:spcPts val="4192"/>
              </a:lnSpc>
              <a:spcBef>
                <a:spcPct val="0"/>
              </a:spcBef>
            </a:pPr>
            <a:endParaRPr lang="en-US" sz="2620">
              <a:solidFill>
                <a:srgbClr val="191919"/>
              </a:solidFill>
              <a:latin typeface="Open Sauce"/>
              <a:ea typeface="Open Sauce"/>
              <a:cs typeface="Open Sauce"/>
              <a:sym typeface="Open Sauce"/>
            </a:endParaRPr>
          </a:p>
          <a:p>
            <a:pPr algn="l">
              <a:lnSpc>
                <a:spcPts val="4192"/>
              </a:lnSpc>
              <a:spcBef>
                <a:spcPct val="0"/>
              </a:spcBef>
            </a:pPr>
            <a:r>
              <a:rPr lang="en-US" sz="2620">
                <a:solidFill>
                  <a:srgbClr val="191919"/>
                </a:solidFill>
                <a:latin typeface="Open Sauce"/>
                <a:ea typeface="Open Sauce"/>
                <a:cs typeface="Open Sauce"/>
                <a:sym typeface="Open Sauce"/>
              </a:rPr>
              <a:t>for cntr in contours:</a:t>
            </a:r>
          </a:p>
          <a:p>
            <a:pPr algn="l">
              <a:lnSpc>
                <a:spcPts val="4192"/>
              </a:lnSpc>
              <a:spcBef>
                <a:spcPct val="0"/>
              </a:spcBef>
            </a:pPr>
            <a:r>
              <a:rPr lang="en-US" sz="2620">
                <a:solidFill>
                  <a:srgbClr val="191919"/>
                </a:solidFill>
                <a:latin typeface="Open Sauce"/>
                <a:ea typeface="Open Sauce"/>
                <a:cs typeface="Open Sauce"/>
                <a:sym typeface="Open Sauce"/>
              </a:rPr>
              <a:t>  x,y,w,h = cv2.boundingRect(cntr)</a:t>
            </a:r>
          </a:p>
          <a:p>
            <a:pPr algn="l">
              <a:lnSpc>
                <a:spcPts val="4192"/>
              </a:lnSpc>
              <a:spcBef>
                <a:spcPct val="0"/>
              </a:spcBef>
            </a:pPr>
            <a:r>
              <a:rPr lang="en-US" sz="2620">
                <a:solidFill>
                  <a:srgbClr val="191919"/>
                </a:solidFill>
                <a:latin typeface="Open Sauce"/>
                <a:ea typeface="Open Sauce"/>
                <a:cs typeface="Open Sauce"/>
                <a:sym typeface="Open Sauce"/>
              </a:rPr>
              <a:t>  cv2.rectangle(drawing_2, (x, y), (x+w, y+h), (0, 0, 255), 5)</a:t>
            </a:r>
          </a:p>
          <a:p>
            <a:pPr algn="just">
              <a:lnSpc>
                <a:spcPts val="2112"/>
              </a:lnSpc>
              <a:spcBef>
                <a:spcPct val="0"/>
              </a:spcBef>
            </a:pPr>
            <a:endParaRPr lang="en-US" sz="2620">
              <a:solidFill>
                <a:srgbClr val="191919"/>
              </a:solidFill>
              <a:latin typeface="Open Sauce"/>
              <a:ea typeface="Open Sauce"/>
              <a:cs typeface="Open Sauce"/>
              <a:sym typeface="Open Sauce"/>
            </a:endParaRPr>
          </a:p>
        </p:txBody>
      </p:sp>
      <p:sp>
        <p:nvSpPr>
          <p:cNvPr id="6" name="TextBox 6"/>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XÁC ĐỊNH ĐỐI TƯỢNG BẰNG CONNECTED COMPONENTS VÀ CONTOUR</a:t>
            </a:r>
          </a:p>
        </p:txBody>
      </p:sp>
      <p:sp>
        <p:nvSpPr>
          <p:cNvPr id="7" name="TextBox 7"/>
          <p:cNvSpPr txBox="1"/>
          <p:nvPr/>
        </p:nvSpPr>
        <p:spPr>
          <a:xfrm>
            <a:off x="11593862" y="4380160"/>
            <a:ext cx="3376436" cy="57340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MỞ RỘNG</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194744" y="3338904"/>
            <a:ext cx="15898512" cy="6538263"/>
          </a:xfrm>
          <a:custGeom>
            <a:rect l="l" t="t" r="r" b="b"/>
            <a:pathLst>
              <a:path w="15898512" h="6538263">
                <a:moveTo>
                  <a:pt x="0" y="0"/>
                </a:moveTo>
                <a:lnTo>
                  <a:pt x="15898512" y="0"/>
                </a:lnTo>
                <a:lnTo>
                  <a:pt x="15898512" y="6538263"/>
                </a:lnTo>
                <a:lnTo>
                  <a:pt x="0" y="653826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6" name="TextBox 6"/>
          <p:cNvSpPr txBox="1"/>
          <p:nvPr/>
        </p:nvSpPr>
        <p:spPr>
          <a:xfrm>
            <a:off x="7455782" y="1812997"/>
            <a:ext cx="3376436"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MINH HỌA MỞ RỘNG</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933814" y="1690234"/>
            <a:ext cx="6564999" cy="8914107"/>
          </a:xfrm>
          <a:prstGeom prst="rect">
            <a:avLst/>
          </a:prstGeom>
        </p:spPr>
        <p:txBody>
          <a:bodyPr lIns="0" tIns="0" rIns="0" bIns="0" rtlCol="0" anchor="t">
            <a:spAutoFit/>
          </a:bodyPr>
          <a:lstStyle/>
          <a:p>
            <a:pPr algn="l">
              <a:lnSpc>
                <a:spcPts val="4192"/>
              </a:lnSpc>
            </a:pPr>
            <a:r>
              <a:rPr lang="en-US" sz="3200">
                <a:solidFill>
                  <a:srgbClr val="191919"/>
                </a:solidFill>
                <a:latin typeface="Open Sauce"/>
                <a:ea typeface="Open Sauce"/>
                <a:cs typeface="Open Sauce"/>
                <a:sym typeface="Open Sauce"/>
              </a:rPr>
              <a:t>def freeman_chain_code_8(contours):</a:t>
            </a:r>
          </a:p>
          <a:p>
            <a:pPr algn="l">
              <a:lnSpc>
                <a:spcPts val="4192"/>
              </a:lnSpc>
            </a:pPr>
            <a:r>
              <a:rPr lang="en-US" sz="3200">
                <a:solidFill>
                  <a:srgbClr val="191919"/>
                </a:solidFill>
                <a:latin typeface="Open Sauce"/>
                <a:ea typeface="Open Sauce"/>
                <a:cs typeface="Open Sauce"/>
                <a:sym typeface="Open Sauce"/>
              </a:rPr>
              <a:t>  chain_code_8 = []</a:t>
            </a:r>
          </a:p>
          <a:p>
            <a:pPr algn="l">
              <a:lnSpc>
                <a:spcPts val="4192"/>
              </a:lnSpc>
              <a:spcBef>
                <a:spcPct val="0"/>
              </a:spcBef>
            </a:pPr>
            <a:r>
              <a:rPr lang="en-US" sz="3200">
                <a:solidFill>
                  <a:srgbClr val="191919"/>
                </a:solidFill>
                <a:latin typeface="Open Sauce"/>
                <a:ea typeface="Open Sauce"/>
                <a:cs typeface="Open Sauce"/>
                <a:sym typeface="Open Sauce"/>
              </a:rPr>
              <a:t>  for contour in contours:</a:t>
            </a:r>
          </a:p>
          <a:p>
            <a:pPr algn="l">
              <a:lnSpc>
                <a:spcPts val="4192"/>
              </a:lnSpc>
              <a:spcBef>
                <a:spcPct val="0"/>
              </a:spcBef>
            </a:pPr>
            <a:r>
              <a:rPr lang="en-US" sz="3200">
                <a:solidFill>
                  <a:srgbClr val="191919"/>
                </a:solidFill>
                <a:latin typeface="Open Sauce"/>
                <a:ea typeface="Open Sauce"/>
                <a:cs typeface="Open Sauce"/>
                <a:sym typeface="Open Sauce"/>
              </a:rPr>
              <a:t>    for i in range(1, len(contour)):</a:t>
            </a:r>
          </a:p>
          <a:p>
            <a:pPr algn="l">
              <a:lnSpc>
                <a:spcPts val="4192"/>
              </a:lnSpc>
              <a:spcBef>
                <a:spcPct val="0"/>
              </a:spcBef>
            </a:pPr>
            <a:r>
              <a:rPr lang="en-US" sz="3200">
                <a:solidFill>
                  <a:srgbClr val="191919"/>
                </a:solidFill>
                <a:latin typeface="Open Sauce"/>
                <a:ea typeface="Open Sauce"/>
                <a:cs typeface="Open Sauce"/>
                <a:sym typeface="Open Sauce"/>
              </a:rPr>
              <a:t>      x1, y1 = contour[i - 1][0]</a:t>
            </a:r>
          </a:p>
          <a:p>
            <a:pPr algn="l">
              <a:lnSpc>
                <a:spcPts val="4192"/>
              </a:lnSpc>
              <a:spcBef>
                <a:spcPct val="0"/>
              </a:spcBef>
            </a:pPr>
            <a:r>
              <a:rPr lang="en-US" sz="3200">
                <a:solidFill>
                  <a:srgbClr val="191919"/>
                </a:solidFill>
                <a:latin typeface="Open Sauce"/>
                <a:ea typeface="Open Sauce"/>
                <a:cs typeface="Open Sauce"/>
                <a:sym typeface="Open Sauce"/>
              </a:rPr>
              <a:t>      x2, y2 = contour[i][0]</a:t>
            </a:r>
          </a:p>
          <a:p>
            <a:pPr algn="l">
              <a:lnSpc>
                <a:spcPts val="4192"/>
              </a:lnSpc>
              <a:spcBef>
                <a:spcPct val="0"/>
              </a:spcBef>
            </a:pPr>
            <a:r>
              <a:rPr lang="en-US" sz="3200">
                <a:solidFill>
                  <a:srgbClr val="191919"/>
                </a:solidFill>
                <a:latin typeface="Open Sauce"/>
                <a:ea typeface="Open Sauce"/>
                <a:cs typeface="Open Sauce"/>
                <a:sym typeface="Open Sauce"/>
              </a:rPr>
              <a:t>      dx = np.sign(x2 - x1)</a:t>
            </a:r>
          </a:p>
          <a:p>
            <a:pPr algn="l">
              <a:lnSpc>
                <a:spcPts val="4192"/>
              </a:lnSpc>
              <a:spcBef>
                <a:spcPct val="0"/>
              </a:spcBef>
            </a:pPr>
            <a:r>
              <a:rPr lang="en-US" sz="3200">
                <a:solidFill>
                  <a:srgbClr val="191919"/>
                </a:solidFill>
                <a:latin typeface="Open Sauce"/>
                <a:ea typeface="Open Sauce"/>
                <a:cs typeface="Open Sauce"/>
                <a:sym typeface="Open Sauce"/>
              </a:rPr>
              <a:t>      dy = np.sign(y1 - y2)</a:t>
            </a:r>
          </a:p>
          <a:p>
            <a:pPr algn="l">
              <a:lnSpc>
                <a:spcPts val="4192"/>
              </a:lnSpc>
              <a:spcBef>
                <a:spcPct val="0"/>
              </a:spcBef>
            </a:pPr>
            <a:r>
              <a:rPr lang="en-US" sz="3200">
                <a:solidFill>
                  <a:srgbClr val="191919"/>
                </a:solidFill>
                <a:latin typeface="Open Sauce"/>
                <a:ea typeface="Open Sauce"/>
                <a:cs typeface="Open Sauce"/>
                <a:sym typeface="Open Sauce"/>
              </a:rPr>
              <a:t>      if dx == 1 and dy == 0:</a:t>
            </a:r>
          </a:p>
          <a:p>
            <a:pPr algn="l">
              <a:lnSpc>
                <a:spcPts val="4192"/>
              </a:lnSpc>
              <a:spcBef>
                <a:spcPct val="0"/>
              </a:spcBef>
            </a:pPr>
            <a:r>
              <a:rPr lang="en-US" sz="3200">
                <a:solidFill>
                  <a:srgbClr val="191919"/>
                </a:solidFill>
                <a:latin typeface="Open Sauce"/>
                <a:ea typeface="Open Sauce"/>
                <a:cs typeface="Open Sauce"/>
                <a:sym typeface="Open Sauce"/>
              </a:rPr>
              <a:t>        code = 0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1 and dy == -1:</a:t>
            </a:r>
          </a:p>
          <a:p>
            <a:pPr algn="l">
              <a:lnSpc>
                <a:spcPts val="4192"/>
              </a:lnSpc>
              <a:spcBef>
                <a:spcPct val="0"/>
              </a:spcBef>
            </a:pPr>
            <a:r>
              <a:rPr lang="en-US" sz="3200">
                <a:solidFill>
                  <a:srgbClr val="191919"/>
                </a:solidFill>
                <a:latin typeface="Open Sauce"/>
                <a:ea typeface="Open Sauce"/>
                <a:cs typeface="Open Sauce"/>
                <a:sym typeface="Open Sauce"/>
              </a:rPr>
              <a:t>        code = 1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0 and dy == -1:</a:t>
            </a:r>
          </a:p>
          <a:p>
            <a:pPr algn="l">
              <a:lnSpc>
                <a:spcPts val="4192"/>
              </a:lnSpc>
              <a:spcBef>
                <a:spcPct val="0"/>
              </a:spcBef>
            </a:pPr>
            <a:r>
              <a:rPr lang="en-US" sz="3200">
                <a:solidFill>
                  <a:srgbClr val="191919"/>
                </a:solidFill>
                <a:latin typeface="Open Sauce"/>
                <a:ea typeface="Open Sauce"/>
                <a:cs typeface="Open Sauce"/>
                <a:sym typeface="Open Sauce"/>
              </a:rPr>
              <a:t>        code = 2 </a:t>
            </a:r>
            <a:r>
              <a:rPr lang="en-US" sz="3200">
                <a:solidFill>
                  <a:srgbClr val="00BF63"/>
                </a:solidFill>
                <a:latin typeface="Open Sauce"/>
                <a:ea typeface="Open Sauce"/>
                <a:cs typeface="Open Sauce"/>
                <a:sym typeface="Open Sauce"/>
              </a:rPr>
              <a:t># ↑</a:t>
            </a:r>
          </a:p>
          <a:p>
            <a:pPr algn="l">
              <a:lnSpc>
                <a:spcPts val="4192"/>
              </a:lnSpc>
              <a:spcBef>
                <a:spcPct val="0"/>
              </a:spcBef>
            </a:pPr>
            <a:endParaRPr lang="en-US" sz="3200">
              <a:solidFill>
                <a:srgbClr val="00BF63"/>
              </a:solidFill>
              <a:latin typeface="Open Sauce"/>
              <a:ea typeface="Open Sauce"/>
              <a:cs typeface="Open Sauce"/>
              <a:sym typeface="Open Sauce"/>
            </a:endParaRPr>
          </a:p>
          <a:p>
            <a:pPr algn="just">
              <a:lnSpc>
                <a:spcPts val="2112"/>
              </a:lnSpc>
              <a:spcBef>
                <a:spcPct val="0"/>
              </a:spcBef>
            </a:pPr>
            <a:endParaRPr lang="en-US" sz="3200">
              <a:solidFill>
                <a:srgbClr val="00BF63"/>
              </a:solidFill>
              <a:latin typeface="Open Sauce"/>
              <a:ea typeface="Open Sauce"/>
              <a:cs typeface="Open Sauce"/>
              <a:sym typeface="Open Sauce"/>
            </a:endParaRPr>
          </a:p>
        </p:txBody>
      </p:sp>
      <p:sp>
        <p:nvSpPr>
          <p:cNvPr id="6" name="TextBox 6"/>
          <p:cNvSpPr txBox="1"/>
          <p:nvPr/>
        </p:nvSpPr>
        <p:spPr>
          <a:xfrm>
            <a:off x="9483474" y="2131212"/>
            <a:ext cx="6876730" cy="7836889"/>
          </a:xfrm>
          <a:prstGeom prst="rect">
            <a:avLst/>
          </a:prstGeom>
        </p:spPr>
        <p:txBody>
          <a:bodyPr lIns="0" tIns="0" rIns="0" bIns="0" rtlCol="0" anchor="t">
            <a:spAutoFit/>
          </a:bodyPr>
          <a:lstStyle/>
          <a:p>
            <a:pPr algn="l">
              <a:lnSpc>
                <a:spcPts val="4192"/>
              </a:lnSpc>
              <a:spcBef>
                <a:spcPct val="0"/>
              </a:spcBef>
            </a:pPr>
            <a:r>
              <a:rPr lang="en-US" sz="3200">
                <a:solidFill>
                  <a:srgbClr val="191919"/>
                </a:solidFill>
                <a:latin typeface="Open Sauce"/>
                <a:ea typeface="Open Sauce"/>
                <a:cs typeface="Open Sauce"/>
                <a:sym typeface="Open Sauce"/>
              </a:rPr>
              <a:t>      elif dx == -1 and dy == -1:</a:t>
            </a:r>
          </a:p>
          <a:p>
            <a:pPr algn="l">
              <a:lnSpc>
                <a:spcPts val="4192"/>
              </a:lnSpc>
              <a:spcBef>
                <a:spcPct val="0"/>
              </a:spcBef>
            </a:pPr>
            <a:r>
              <a:rPr lang="en-US" sz="3200">
                <a:solidFill>
                  <a:srgbClr val="191919"/>
                </a:solidFill>
                <a:latin typeface="Open Sauce"/>
                <a:ea typeface="Open Sauce"/>
                <a:cs typeface="Open Sauce"/>
                <a:sym typeface="Open Sauce"/>
              </a:rPr>
              <a:t>        code = 3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-1 and dy == 0:</a:t>
            </a:r>
          </a:p>
          <a:p>
            <a:pPr algn="l">
              <a:lnSpc>
                <a:spcPts val="4192"/>
              </a:lnSpc>
              <a:spcBef>
                <a:spcPct val="0"/>
              </a:spcBef>
            </a:pPr>
            <a:r>
              <a:rPr lang="en-US" sz="3200">
                <a:solidFill>
                  <a:srgbClr val="191919"/>
                </a:solidFill>
                <a:latin typeface="Open Sauce"/>
                <a:ea typeface="Open Sauce"/>
                <a:cs typeface="Open Sauce"/>
                <a:sym typeface="Open Sauce"/>
              </a:rPr>
              <a:t>        code = 4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-1 and dy == 1:</a:t>
            </a:r>
          </a:p>
          <a:p>
            <a:pPr algn="l">
              <a:lnSpc>
                <a:spcPts val="4192"/>
              </a:lnSpc>
              <a:spcBef>
                <a:spcPct val="0"/>
              </a:spcBef>
            </a:pPr>
            <a:r>
              <a:rPr lang="en-US" sz="3200">
                <a:solidFill>
                  <a:srgbClr val="191919"/>
                </a:solidFill>
                <a:latin typeface="Open Sauce"/>
                <a:ea typeface="Open Sauce"/>
                <a:cs typeface="Open Sauce"/>
                <a:sym typeface="Open Sauce"/>
              </a:rPr>
              <a:t>        code = 5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0 and dy == 1:</a:t>
            </a:r>
          </a:p>
          <a:p>
            <a:pPr algn="l">
              <a:lnSpc>
                <a:spcPts val="4192"/>
              </a:lnSpc>
              <a:spcBef>
                <a:spcPct val="0"/>
              </a:spcBef>
            </a:pPr>
            <a:r>
              <a:rPr lang="en-US" sz="3200">
                <a:solidFill>
                  <a:srgbClr val="191919"/>
                </a:solidFill>
                <a:latin typeface="Open Sauce"/>
                <a:ea typeface="Open Sauce"/>
                <a:cs typeface="Open Sauce"/>
                <a:sym typeface="Open Sauce"/>
              </a:rPr>
              <a:t>        code = 6 </a:t>
            </a:r>
            <a:r>
              <a:rPr lang="en-US" sz="3200">
                <a:solidFill>
                  <a:srgbClr val="00BF63"/>
                </a:solidFill>
                <a:latin typeface="Open Sauce"/>
                <a:ea typeface="Open Sauce"/>
                <a:cs typeface="Open Sauce"/>
                <a:sym typeface="Open Sauce"/>
              </a:rPr>
              <a:t># ↓</a:t>
            </a:r>
          </a:p>
          <a:p>
            <a:pPr algn="l">
              <a:lnSpc>
                <a:spcPts val="4192"/>
              </a:lnSpc>
              <a:spcBef>
                <a:spcPct val="0"/>
              </a:spcBef>
            </a:pPr>
            <a:r>
              <a:rPr lang="en-US" sz="3200">
                <a:solidFill>
                  <a:srgbClr val="191919"/>
                </a:solidFill>
                <a:latin typeface="Open Sauce"/>
                <a:ea typeface="Open Sauce"/>
                <a:cs typeface="Open Sauce"/>
                <a:sym typeface="Open Sauce"/>
              </a:rPr>
              <a:t>      elif dx == 1 and dy == 1:</a:t>
            </a:r>
          </a:p>
          <a:p>
            <a:pPr algn="l">
              <a:lnSpc>
                <a:spcPts val="4192"/>
              </a:lnSpc>
              <a:spcBef>
                <a:spcPct val="0"/>
              </a:spcBef>
            </a:pPr>
            <a:r>
              <a:rPr lang="en-US" sz="3200">
                <a:solidFill>
                  <a:srgbClr val="191919"/>
                </a:solidFill>
                <a:latin typeface="Open Sauce"/>
                <a:ea typeface="Open Sauce"/>
                <a:cs typeface="Open Sauce"/>
                <a:sym typeface="Open Sauce"/>
              </a:rPr>
              <a:t>        code = 7</a:t>
            </a:r>
            <a:r>
              <a:rPr lang="en-US" sz="3200">
                <a:solidFill>
                  <a:srgbClr val="00BF63"/>
                </a:solidFill>
                <a:latin typeface="Open Sauce"/>
                <a:ea typeface="Open Sauce"/>
                <a:cs typeface="Open Sauce"/>
                <a:sym typeface="Open Sauce"/>
              </a:rPr>
              <a:t> # ↘</a:t>
            </a:r>
          </a:p>
          <a:p>
            <a:pPr algn="l">
              <a:lnSpc>
                <a:spcPts val="4192"/>
              </a:lnSpc>
              <a:spcBef>
                <a:spcPct val="0"/>
              </a:spcBef>
            </a:pPr>
            <a:r>
              <a:rPr lang="en-US" sz="3200">
                <a:solidFill>
                  <a:srgbClr val="191919"/>
                </a:solidFill>
                <a:latin typeface="Open Sauce"/>
                <a:ea typeface="Open Sauce"/>
                <a:cs typeface="Open Sauce"/>
                <a:sym typeface="Open Sauce"/>
              </a:rPr>
              <a:t>      if code != -1:</a:t>
            </a:r>
          </a:p>
          <a:p>
            <a:pPr algn="l">
              <a:lnSpc>
                <a:spcPts val="4192"/>
              </a:lnSpc>
              <a:spcBef>
                <a:spcPct val="0"/>
              </a:spcBef>
            </a:pPr>
            <a:r>
              <a:rPr lang="en-US" sz="3200">
                <a:solidFill>
                  <a:srgbClr val="191919"/>
                </a:solidFill>
                <a:latin typeface="Open Sauce"/>
                <a:ea typeface="Open Sauce"/>
                <a:cs typeface="Open Sauce"/>
                <a:sym typeface="Open Sauce"/>
              </a:rPr>
              <a:t>        chain_code_8.append(code)</a:t>
            </a:r>
          </a:p>
          <a:p>
            <a:pPr algn="l">
              <a:lnSpc>
                <a:spcPts val="4192"/>
              </a:lnSpc>
              <a:spcBef>
                <a:spcPct val="0"/>
              </a:spcBef>
            </a:pPr>
            <a:r>
              <a:rPr lang="en-US" sz="3200">
                <a:solidFill>
                  <a:srgbClr val="191919"/>
                </a:solidFill>
                <a:latin typeface="Open Sauce"/>
                <a:ea typeface="Open Sauce"/>
                <a:cs typeface="Open Sauce"/>
                <a:sym typeface="Open Sauce"/>
              </a:rPr>
              <a:t>  return chain_code_8</a:t>
            </a:r>
          </a:p>
          <a:p>
            <a:pPr algn="l">
              <a:lnSpc>
                <a:spcPts val="4192"/>
              </a:lnSpc>
              <a:spcBef>
                <a:spcPct val="0"/>
              </a:spcBef>
            </a:pPr>
            <a:endParaRPr lang="en-US" sz="3200">
              <a:solidFill>
                <a:srgbClr val="191919"/>
              </a:solidFill>
              <a:latin typeface="Open Sauce"/>
              <a:ea typeface="Open Sauce"/>
              <a:cs typeface="Open Sauce"/>
              <a:sym typeface="Open Sauce"/>
            </a:endParaRPr>
          </a:p>
          <a:p>
            <a:pPr algn="just">
              <a:lnSpc>
                <a:spcPts val="2112"/>
              </a:lnSpc>
              <a:spcBef>
                <a:spcPct val="0"/>
              </a:spcBef>
            </a:pPr>
            <a:endParaRPr lang="en-US" sz="3200">
              <a:solidFill>
                <a:srgbClr val="191919"/>
              </a:solidFill>
              <a:latin typeface="Open Sauce"/>
              <a:ea typeface="Open Sauce"/>
              <a:cs typeface="Open Sauce"/>
              <a:sym typeface="Open Sauce"/>
            </a:endParaRPr>
          </a:p>
        </p:txBody>
      </p:sp>
      <p:sp>
        <p:nvSpPr>
          <p:cNvPr id="7" name="TextBox 7"/>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BIỂU DIỄN BIÊN – BOUNDARY REPRESENTATION</a:t>
            </a:r>
          </a:p>
          <a:p>
            <a:pPr algn="ctr">
              <a:lnSpc>
                <a:spcPts val="4619"/>
              </a:lnSpc>
              <a:spcBef>
                <a:spcPct val="0"/>
              </a:spcBef>
            </a:pPr>
            <a:endParaRPr lang="en-US" sz="3299" b="1" spc="329">
              <a:solidFill>
                <a:srgbClr val="000000"/>
              </a:solidFill>
              <a:latin typeface="Open Sauce Bold"/>
              <a:ea typeface="Open Sauce Bold"/>
              <a:cs typeface="Open Sauce Bold"/>
              <a:sym typeface="Open Sauce Bold"/>
            </a:endParaRP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914400" y="1514157"/>
            <a:ext cx="8877300" cy="6747737"/>
          </a:xfrm>
          <a:custGeom>
            <a:rect l="l" t="t" r="r" b="b"/>
            <a:pathLst>
              <a:path w="7621737" h="5186499">
                <a:moveTo>
                  <a:pt x="0" y="0"/>
                </a:moveTo>
                <a:lnTo>
                  <a:pt x="7621737" y="0"/>
                </a:lnTo>
                <a:lnTo>
                  <a:pt x="7621737" y="5186500"/>
                </a:lnTo>
                <a:lnTo>
                  <a:pt x="0" y="5186500"/>
                </a:lnTo>
                <a:lnTo>
                  <a:pt x="0" y="0"/>
                </a:lnTo>
                <a:close/>
              </a:path>
            </a:pathLst>
          </a:custGeom>
          <a:blipFill>
            <a:blip r:embed="rId3"/>
            <a:stretch>
              <a:fillRect/>
            </a:stretch>
          </a:blipFill>
        </p:spPr>
        <p:txBody>
          <a:bodyPr/>
          <a:lstStyle/>
          <a:p>
            <a:endParaRPr lang="en-US"/>
          </a:p>
        </p:txBody>
      </p:sp>
      <p:sp>
        <p:nvSpPr>
          <p:cNvPr id="4" name="Freeform 4"/>
          <p:cNvSpPr/>
          <p:nvPr/>
        </p:nvSpPr>
        <p:spPr>
          <a:xfrm>
            <a:off x="4724400" y="8261894"/>
            <a:ext cx="11732620" cy="1716087"/>
          </a:xfrm>
          <a:custGeom>
            <a:rect l="l" t="t" r="r" b="b"/>
            <a:pathLst>
              <a:path w="10801149" h="1061864">
                <a:moveTo>
                  <a:pt x="0" y="0"/>
                </a:moveTo>
                <a:lnTo>
                  <a:pt x="10801149" y="0"/>
                </a:lnTo>
                <a:lnTo>
                  <a:pt x="10801149" y="1061865"/>
                </a:lnTo>
                <a:lnTo>
                  <a:pt x="0" y="1061865"/>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6" name="TextBox 6"/>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781627" y="2296478"/>
            <a:ext cx="16339975" cy="7954422"/>
          </a:xfrm>
          <a:prstGeom prst="rect">
            <a:avLst/>
          </a:prstGeom>
        </p:spPr>
        <p:txBody>
          <a:bodyPr lIns="0" tIns="0" rIns="0" bIns="0" rtlCol="0" anchor="t">
            <a:spAutoFit/>
          </a:bodyPr>
          <a:lstStyle/>
          <a:p>
            <a:pPr algn="l">
              <a:lnSpc>
                <a:spcPts val="4799"/>
              </a:lnSpc>
              <a:spcBef>
                <a:spcPct val="0"/>
              </a:spcBef>
            </a:pPr>
            <a:r>
              <a:rPr lang="en-US" sz="3600" err="1">
                <a:solidFill>
                  <a:srgbClr val="191919"/>
                </a:solidFill>
                <a:latin typeface="Open Sauce"/>
                <a:ea typeface="Open Sauce"/>
                <a:cs typeface="Open Sauce"/>
                <a:sym typeface="Open Sauce"/>
              </a:rPr>
              <a:t>handw = cv2.imread("/content/drive/MyDrive/Colab Notebooks/handwriting.jpg")</a:t>
            </a:r>
          </a:p>
          <a:p>
            <a:pPr algn="l">
              <a:lnSpc>
                <a:spcPts val="4799"/>
              </a:lnSpc>
              <a:spcBef>
                <a:spcPct val="0"/>
              </a:spcBef>
            </a:pPr>
            <a:r>
              <a:rPr lang="en-US" sz="3600" err="1">
                <a:solidFill>
                  <a:srgbClr val="191919"/>
                </a:solidFill>
                <a:latin typeface="Open Sauce"/>
                <a:ea typeface="Open Sauce"/>
                <a:cs typeface="Open Sauce"/>
                <a:sym typeface="Open Sauce"/>
              </a:rPr>
              <a:t>hand_gray = cv2.cvtColor(handw,cv2.COLOR_BGR2GRAY)</a:t>
            </a:r>
          </a:p>
          <a:p>
            <a:pPr algn="l">
              <a:lnSpc>
                <a:spcPts val="4799"/>
              </a:lnSpc>
              <a:spcBef>
                <a:spcPct val="0"/>
              </a:spcBef>
            </a:pPr>
            <a:r>
              <a:rPr lang="en-US" sz="3600">
                <a:solidFill>
                  <a:srgbClr val="191919"/>
                </a:solidFill>
                <a:latin typeface="Open Sauce"/>
                <a:ea typeface="Open Sauce"/>
                <a:cs typeface="Open Sauce"/>
                <a:sym typeface="Open Sauce"/>
              </a:rPr>
              <a:t>blur = cv2.GaussianBlur(hand_gray, (11,11), 0)</a:t>
            </a:r>
          </a:p>
          <a:p>
            <a:pPr algn="l">
              <a:lnSpc>
                <a:spcPts val="4799"/>
              </a:lnSpc>
              <a:spcBef>
                <a:spcPct val="0"/>
              </a:spcBef>
            </a:pPr>
            <a:r>
              <a:rPr lang="en-US" sz="3600">
                <a:solidFill>
                  <a:srgbClr val="191919"/>
                </a:solidFill>
                <a:latin typeface="Open Sauce"/>
                <a:ea typeface="Open Sauce"/>
                <a:cs typeface="Open Sauce"/>
                <a:sym typeface="Open Sauce"/>
              </a:rPr>
              <a:t>_, binary_img_hand = cv2.threshold(blur,0, 255, cv2.THRESH_BINARY_INV + cv2.THRESH_OTSU)</a:t>
            </a:r>
          </a:p>
          <a:p>
            <a:pPr algn="l">
              <a:lnSpc>
                <a:spcPts val="4799"/>
              </a:lnSpc>
              <a:spcBef>
                <a:spcPct val="0"/>
              </a:spcBef>
            </a:pPr>
            <a:endParaRPr lang="en-US" sz="3600">
              <a:solidFill>
                <a:srgbClr val="191919"/>
              </a:solidFill>
              <a:latin typeface="Open Sauce"/>
              <a:ea typeface="Open Sauce"/>
              <a:cs typeface="Open Sauce"/>
              <a:sym typeface="Open Sauce"/>
            </a:endParaRPr>
          </a:p>
          <a:p>
            <a:pPr algn="l">
              <a:lnSpc>
                <a:spcPts val="4799"/>
              </a:lnSpc>
              <a:spcBef>
                <a:spcPct val="0"/>
              </a:spcBef>
            </a:pPr>
            <a:r>
              <a:rPr lang="en-US" sz="3600" err="1">
                <a:solidFill>
                  <a:srgbClr val="191919"/>
                </a:solidFill>
                <a:latin typeface="Open Sauce"/>
                <a:ea typeface="Open Sauce"/>
                <a:cs typeface="Open Sauce"/>
                <a:sym typeface="Open Sauce"/>
              </a:rPr>
              <a:t>contours_hand, hierarchy = cv2.findContours(binary_img_hand, cv2.RETR_EXTERNAL, cv2.CHAIN_APPROX_NONE)</a:t>
            </a:r>
          </a:p>
          <a:p>
            <a:pPr algn="l">
              <a:lnSpc>
                <a:spcPts val="4799"/>
              </a:lnSpc>
              <a:spcBef>
                <a:spcPct val="0"/>
              </a:spcBef>
            </a:pPr>
            <a:r>
              <a:rPr lang="en-US" sz="3600">
                <a:solidFill>
                  <a:srgbClr val="191919"/>
                </a:solidFill>
                <a:latin typeface="Open Sauce"/>
                <a:ea typeface="Open Sauce"/>
                <a:cs typeface="Open Sauce"/>
                <a:sym typeface="Open Sauce"/>
              </a:rPr>
              <a:t>hand = handw.copy()</a:t>
            </a:r>
          </a:p>
          <a:p>
            <a:pPr algn="l">
              <a:lnSpc>
                <a:spcPts val="4799"/>
              </a:lnSpc>
              <a:spcBef>
                <a:spcPct val="0"/>
              </a:spcBef>
            </a:pPr>
            <a:r>
              <a:rPr lang="en-US" sz="3600">
                <a:solidFill>
                  <a:srgbClr val="191919"/>
                </a:solidFill>
                <a:latin typeface="Open Sauce"/>
                <a:ea typeface="Open Sauce"/>
                <a:cs typeface="Open Sauce"/>
                <a:sym typeface="Open Sauce"/>
              </a:rPr>
              <a:t>cv2.drawContours(hand, contours_hand, -1, (255, 0, 0), 1)</a:t>
            </a:r>
          </a:p>
          <a:p>
            <a:pPr algn="l">
              <a:lnSpc>
                <a:spcPts val="4799"/>
              </a:lnSpc>
              <a:spcBef>
                <a:spcPct val="0"/>
              </a:spcBef>
            </a:pPr>
            <a:r>
              <a:rPr lang="en-US" sz="3600">
                <a:solidFill>
                  <a:srgbClr val="191919"/>
                </a:solidFill>
                <a:latin typeface="Open Sauce"/>
                <a:ea typeface="Open Sauce"/>
                <a:cs typeface="Open Sauce"/>
                <a:sym typeface="Open Sauce"/>
              </a:rPr>
              <a:t>canvas =cv2.drawContours(hand, contours_hand, -1, (0, 0, 255), 2)</a:t>
            </a:r>
          </a:p>
          <a:p>
            <a:pPr algn="just">
              <a:lnSpc>
                <a:spcPts val="4799"/>
              </a:lnSpc>
              <a:spcBef>
                <a:spcPct val="0"/>
              </a:spcBef>
            </a:pPr>
            <a:endParaRPr lang="en-US" sz="3600">
              <a:solidFill>
                <a:srgbClr val="191919"/>
              </a:solidFill>
              <a:latin typeface="Open Sauce"/>
              <a:ea typeface="Open Sauce"/>
              <a:cs typeface="Open Sauce"/>
              <a:sym typeface="Open Sauce"/>
            </a:endParaRPr>
          </a:p>
        </p:txBody>
      </p:sp>
      <p:sp>
        <p:nvSpPr>
          <p:cNvPr id="6" name="TextBox 6"/>
          <p:cNvSpPr txBox="1"/>
          <p:nvPr/>
        </p:nvSpPr>
        <p:spPr>
          <a:xfrm>
            <a:off x="8276159" y="413384"/>
            <a:ext cx="10011841" cy="1735456"/>
          </a:xfrm>
          <a:prstGeom prst="rect">
            <a:avLst/>
          </a:prstGeom>
        </p:spPr>
        <p:txBody>
          <a:bodyPr lIns="0" tIns="0" rIns="0" bIns="0" rtlCol="0" anchor="t">
            <a:spAutoFit/>
          </a:bodyPr>
          <a:lstStyle/>
          <a:p>
            <a:pPr algn="ctr">
              <a:lnSpc>
                <a:spcPts val="4619"/>
              </a:lnSpc>
            </a:pPr>
            <a:r>
              <a:rPr lang="en-US" sz="3299" b="1" spc="329">
                <a:solidFill>
                  <a:srgbClr val="000000"/>
                </a:solidFill>
                <a:latin typeface="Open Sauce Bold"/>
                <a:ea typeface="Open Sauce Bold"/>
                <a:cs typeface="Open Sauce Bold"/>
                <a:sym typeface="Open Sauce Bold"/>
              </a:rPr>
              <a:t>MỞ RỘNG </a:t>
            </a:r>
          </a:p>
          <a:p>
            <a:pPr algn="ctr">
              <a:lnSpc>
                <a:spcPts val="4619"/>
              </a:lnSpc>
              <a:spcBef>
                <a:spcPct val="0"/>
              </a:spcBef>
            </a:pPr>
            <a:r>
              <a:rPr lang="en-US" sz="3299" b="1" spc="329">
                <a:solidFill>
                  <a:srgbClr val="000000"/>
                </a:solidFill>
                <a:latin typeface="Open Sauce Bold"/>
                <a:ea typeface="Open Sauce Bold"/>
                <a:cs typeface="Open Sauce Bold"/>
                <a:sym typeface="Open Sauce Bold"/>
              </a:rPr>
              <a:t>CHỮ VIẾT TAY</a:t>
            </a:r>
          </a:p>
          <a:p>
            <a:pPr algn="ctr">
              <a:lnSpc>
                <a:spcPts val="4619"/>
              </a:lnSpc>
              <a:spcBef>
                <a:spcPct val="0"/>
              </a:spcBef>
            </a:pPr>
            <a:endParaRPr lang="en-US" sz="3299" b="1" spc="329">
              <a:solidFill>
                <a:srgbClr val="000000"/>
              </a:solidFill>
              <a:latin typeface="Open Sauce Bold"/>
              <a:ea typeface="Open Sauce Bold"/>
              <a:cs typeface="Open Sauce Bold"/>
              <a:sym typeface="Open Sauce Bold"/>
            </a:endParaRPr>
          </a:p>
        </p:txBody>
      </p:sp>
    </p:spTree>
  </p:cSld>
  <p:clrMapOvr>
    <a:masterClrMapping/>
  </p:clrMapOvr>
  <p:transition/>
  <p:timing/>
</p:sld>
</file>

<file path=ppt/slides/slide4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028700" y="4098047"/>
            <a:ext cx="16230600" cy="4848892"/>
          </a:xfrm>
          <a:custGeom>
            <a:rect l="l" t="t" r="r" b="b"/>
            <a:pathLst>
              <a:path w="16230600" h="4848892">
                <a:moveTo>
                  <a:pt x="0" y="0"/>
                </a:moveTo>
                <a:lnTo>
                  <a:pt x="16230600" y="0"/>
                </a:lnTo>
                <a:lnTo>
                  <a:pt x="16230600" y="4848892"/>
                </a:lnTo>
                <a:lnTo>
                  <a:pt x="0" y="484889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6" name="TextBox 6"/>
          <p:cNvSpPr txBox="1"/>
          <p:nvPr/>
        </p:nvSpPr>
        <p:spPr>
          <a:xfrm>
            <a:off x="4138080" y="2133991"/>
            <a:ext cx="10011841" cy="1735456"/>
          </a:xfrm>
          <a:prstGeom prst="rect">
            <a:avLst/>
          </a:prstGeom>
        </p:spPr>
        <p:txBody>
          <a:bodyPr lIns="0" tIns="0" rIns="0" bIns="0" rtlCol="0" anchor="t">
            <a:spAutoFit/>
          </a:bodyPr>
          <a:lstStyle/>
          <a:p>
            <a:pPr algn="ctr">
              <a:lnSpc>
                <a:spcPts val="4619"/>
              </a:lnSpc>
            </a:pPr>
            <a:r>
              <a:rPr lang="en-US" sz="3299" b="1" spc="329">
                <a:solidFill>
                  <a:srgbClr val="000000"/>
                </a:solidFill>
                <a:latin typeface="Open Sauce Bold"/>
                <a:ea typeface="Open Sauce Bold"/>
                <a:cs typeface="Open Sauce Bold"/>
                <a:sym typeface="Open Sauce Bold"/>
              </a:rPr>
              <a:t>MINH HỌA MỞ RỘNG </a:t>
            </a:r>
          </a:p>
          <a:p>
            <a:pPr algn="ctr">
              <a:lnSpc>
                <a:spcPts val="4619"/>
              </a:lnSpc>
              <a:spcBef>
                <a:spcPct val="0"/>
              </a:spcBef>
            </a:pPr>
            <a:r>
              <a:rPr lang="en-US" sz="3299" b="1" spc="329">
                <a:solidFill>
                  <a:srgbClr val="000000"/>
                </a:solidFill>
                <a:latin typeface="Open Sauce Bold"/>
                <a:ea typeface="Open Sauce Bold"/>
                <a:cs typeface="Open Sauce Bold"/>
                <a:sym typeface="Open Sauce Bold"/>
              </a:rPr>
              <a:t>CHỮ VIẾT TAY</a:t>
            </a:r>
          </a:p>
          <a:p>
            <a:pPr algn="ctr">
              <a:lnSpc>
                <a:spcPts val="4619"/>
              </a:lnSpc>
              <a:spcBef>
                <a:spcPct val="0"/>
              </a:spcBef>
            </a:pPr>
            <a:endParaRPr lang="en-US" sz="3299" b="1" spc="329">
              <a:solidFill>
                <a:srgbClr val="000000"/>
              </a:solidFill>
              <a:latin typeface="Open Sauce Bold"/>
              <a:ea typeface="Open Sauce Bold"/>
              <a:cs typeface="Open Sauce Bold"/>
              <a:sym typeface="Open Sauce Bold"/>
            </a:endParaRPr>
          </a:p>
        </p:txBody>
      </p:sp>
    </p:spTree>
  </p:cSld>
  <p:clrMapOvr>
    <a:masterClrMapping/>
  </p:clrMapOvr>
  <p:transition/>
  <p:timing/>
</p:sld>
</file>

<file path=ppt/slides/slide5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1571777" y="1514157"/>
            <a:ext cx="15144446" cy="4599272"/>
          </a:xfrm>
          <a:prstGeom prst="rect">
            <a:avLst/>
          </a:prstGeom>
        </p:spPr>
        <p:txBody>
          <a:bodyPr wrap="square" lIns="0" tIns="0" rIns="0" bIns="0" rtlCol="0" anchor="t">
            <a:spAutoFit/>
          </a:bodyPr>
          <a:lstStyle/>
          <a:p>
            <a:pPr algn="l">
              <a:lnSpc>
                <a:spcPts val="4192"/>
              </a:lnSpc>
            </a:pPr>
            <a:r>
              <a:rPr lang="en-US" sz="3000">
                <a:solidFill>
                  <a:srgbClr val="00BF63"/>
                </a:solidFill>
                <a:latin typeface="Open Sauce"/>
                <a:ea typeface="Open Sauce"/>
                <a:cs typeface="Open Sauce"/>
                <a:sym typeface="Open Sauce"/>
              </a:rPr>
              <a:t>def apdung(duong_dan_anh):</a:t>
            </a:r>
          </a:p>
          <a:p>
            <a:pPr algn="l">
              <a:lnSpc>
                <a:spcPts val="4192"/>
              </a:lnSpc>
              <a:spcBef>
                <a:spcPct val="0"/>
              </a:spcBef>
            </a:pPr>
            <a:r>
              <a:rPr lang="en-US" sz="3000">
                <a:solidFill>
                  <a:srgbClr val="000000"/>
                </a:solidFill>
                <a:latin typeface="Open Sauce"/>
                <a:ea typeface="Open Sauce"/>
                <a:cs typeface="Open Sauce"/>
                <a:sym typeface="Open Sauce"/>
              </a:rPr>
              <a:t>  anh_goc = cv2.imread(duong_dan_anh)</a:t>
            </a:r>
          </a:p>
          <a:p>
            <a:pPr algn="l">
              <a:lnSpc>
                <a:spcPts val="4192"/>
              </a:lnSpc>
              <a:spcBef>
                <a:spcPct val="0"/>
              </a:spcBef>
            </a:pPr>
            <a:r>
              <a:rPr lang="en-US" sz="3000">
                <a:solidFill>
                  <a:srgbClr val="00BF63"/>
                </a:solidFill>
                <a:latin typeface="Open Sauce"/>
                <a:ea typeface="Open Sauce"/>
                <a:cs typeface="Open Sauce"/>
                <a:sym typeface="Open Sauce"/>
              </a:rPr>
              <a:t>  # 1. Tiền xử lý</a:t>
            </a:r>
            <a:endParaRPr lang="en-US" sz="3000">
              <a:solidFill>
                <a:srgbClr val="00BF63"/>
              </a:solidFill>
              <a:latin typeface="Open Sauce"/>
              <a:ea typeface="Open Sauce"/>
              <a:cs typeface="Open Sauce"/>
              <a:sym typeface="Open Sauce"/>
            </a:endParaRPr>
          </a:p>
          <a:p>
            <a:pPr algn="l">
              <a:lnSpc>
                <a:spcPts val="4192"/>
              </a:lnSpc>
              <a:spcBef>
                <a:spcPct val="0"/>
              </a:spcBef>
            </a:pPr>
            <a:r>
              <a:rPr lang="en-US" sz="3000">
                <a:solidFill>
                  <a:srgbClr val="00BF63"/>
                </a:solidFill>
                <a:latin typeface="Open Sauce"/>
                <a:ea typeface="Open Sauce"/>
                <a:cs typeface="Open Sauce"/>
                <a:sym typeface="Open Sauce"/>
              </a:rPr>
              <a:t> </a:t>
            </a:r>
            <a:r>
              <a:rPr lang="en-US" sz="3000">
                <a:solidFill>
                  <a:srgbClr val="000000"/>
                </a:solidFill>
                <a:latin typeface="Open Sauce"/>
                <a:ea typeface="Open Sauce"/>
                <a:cs typeface="Open Sauce"/>
                <a:sym typeface="Open Sauce"/>
              </a:rPr>
              <a:t> anh_xam = cv2.cvtColor(anh_goc, cv2.COLOR_BGR2GRAY)</a:t>
            </a:r>
          </a:p>
          <a:p>
            <a:pPr algn="l">
              <a:lnSpc>
                <a:spcPts val="4192"/>
              </a:lnSpc>
              <a:spcBef>
                <a:spcPct val="0"/>
              </a:spcBef>
            </a:pPr>
            <a:r>
              <a:rPr lang="en-US" sz="3000">
                <a:solidFill>
                  <a:srgbClr val="000000"/>
                </a:solidFill>
                <a:latin typeface="Open Sauce"/>
                <a:ea typeface="Open Sauce"/>
                <a:cs typeface="Open Sauce"/>
                <a:sym typeface="Open Sauce"/>
              </a:rPr>
              <a:t>  clahe = cv2.createCLAHE(</a:t>
            </a:r>
          </a:p>
          <a:p>
            <a:pPr algn="l">
              <a:lnSpc>
                <a:spcPts val="4192"/>
              </a:lnSpc>
              <a:spcBef>
                <a:spcPct val="0"/>
              </a:spcBef>
            </a:pPr>
            <a:r>
              <a:rPr lang="en-US" sz="3000">
                <a:solidFill>
                  <a:srgbClr val="000000"/>
                </a:solidFill>
                <a:latin typeface="Open Sauce"/>
                <a:ea typeface="Open Sauce"/>
                <a:cs typeface="Open Sauce"/>
                <a:sym typeface="Open Sauce"/>
              </a:rPr>
              <a:t>  clipLimit=2.0,</a:t>
            </a:r>
          </a:p>
          <a:p>
            <a:pPr>
              <a:lnSpc>
                <a:spcPts val="4192"/>
              </a:lnSpc>
              <a:spcBef>
                <a:spcPct val="0"/>
              </a:spcBef>
            </a:pPr>
            <a:r>
              <a:rPr lang="en-US" sz="3000">
                <a:solidFill>
                  <a:srgbClr val="000000"/>
                </a:solidFill>
                <a:latin typeface="Open Sauce"/>
                <a:ea typeface="Open Sauce"/>
                <a:cs typeface="Open Sauce"/>
                <a:sym typeface="Open Sauce"/>
              </a:rPr>
              <a:t>  tileGridSize=(8, 8)) </a:t>
            </a:r>
            <a:r>
              <a:rPr lang="en-US" sz="3000">
                <a:solidFill>
                  <a:srgbClr val="00BF63"/>
                </a:solidFill>
                <a:latin typeface="Open Sauce"/>
                <a:ea typeface="Open Sauce"/>
                <a:cs typeface="Open Sauce"/>
                <a:sym typeface="Open Sauce"/>
              </a:rPr>
              <a:t># Kích thước lưới (grid) mà CLAHE tính toán cục bộ</a:t>
            </a:r>
            <a:endParaRPr lang="en-US" sz="3000">
              <a:solidFill>
                <a:srgbClr val="000000"/>
              </a:solidFill>
              <a:latin typeface="Open Sauce"/>
              <a:ea typeface="Open Sauce"/>
              <a:cs typeface="Open Sauce"/>
              <a:sym typeface="Open Sauce"/>
            </a:endParaRPr>
          </a:p>
          <a:p>
            <a:pPr algn="l">
              <a:lnSpc>
                <a:spcPts val="4192"/>
              </a:lnSpc>
              <a:spcBef>
                <a:spcPct val="0"/>
              </a:spcBef>
            </a:pPr>
            <a:r>
              <a:rPr lang="en-US" sz="3000">
                <a:solidFill>
                  <a:srgbClr val="00BF63"/>
                </a:solidFill>
                <a:latin typeface="Open Sauce"/>
                <a:ea typeface="Open Sauce"/>
                <a:cs typeface="Open Sauce"/>
                <a:sym typeface="Open Sauce"/>
              </a:rPr>
              <a:t> </a:t>
            </a:r>
            <a:r>
              <a:rPr lang="en-US" sz="3000">
                <a:solidFill>
                  <a:srgbClr val="000000"/>
                </a:solidFill>
                <a:latin typeface="Open Sauce"/>
                <a:ea typeface="Open Sauce"/>
                <a:cs typeface="Open Sauce"/>
                <a:sym typeface="Open Sauce"/>
              </a:rPr>
              <a:t> anh_clahe = clahe.apply(anh_xam)</a:t>
            </a:r>
          </a:p>
          <a:p>
            <a:pPr algn="just">
              <a:lnSpc>
                <a:spcPts val="2112"/>
              </a:lnSpc>
              <a:spcBef>
                <a:spcPct val="0"/>
              </a:spcBef>
            </a:pPr>
            <a:endParaRPr lang="en-US" sz="3000">
              <a:solidFill>
                <a:srgbClr val="000000"/>
              </a:solidFill>
              <a:latin typeface="Open Sauce"/>
              <a:ea typeface="Open Sauce"/>
              <a:cs typeface="Open Sauce"/>
              <a:sym typeface="Open Sauce"/>
            </a:endParaRPr>
          </a:p>
        </p:txBody>
      </p:sp>
      <p:sp>
        <p:nvSpPr>
          <p:cNvPr id="6" name="TextBox 6"/>
          <p:cNvSpPr txBox="1"/>
          <p:nvPr/>
        </p:nvSpPr>
        <p:spPr>
          <a:xfrm>
            <a:off x="1724177" y="6113429"/>
            <a:ext cx="18135600" cy="4066626"/>
          </a:xfrm>
          <a:prstGeom prst="rect">
            <a:avLst/>
          </a:prstGeom>
        </p:spPr>
        <p:txBody>
          <a:bodyPr wrap="square" lIns="0" tIns="0" rIns="0" bIns="0" rtlCol="0" anchor="t">
            <a:spAutoFit/>
          </a:bodyPr>
          <a:lstStyle/>
          <a:p>
            <a:pPr algn="l">
              <a:lnSpc>
                <a:spcPts val="4192"/>
              </a:lnSpc>
            </a:pPr>
            <a:r>
              <a:rPr lang="en-US" sz="3000" err="1">
                <a:solidFill>
                  <a:srgbClr val="000000"/>
                </a:solidFill>
                <a:latin typeface="Open Sauce"/>
                <a:ea typeface="Open Sauce"/>
                <a:cs typeface="Open Sauce"/>
                <a:sym typeface="Open Sauce"/>
              </a:rPr>
              <a:t>anh_mo = cv2.medianBlur(anh_clahe, 13)</a:t>
            </a:r>
          </a:p>
          <a:p>
            <a:pPr algn="l">
              <a:lnSpc>
                <a:spcPts val="4192"/>
              </a:lnSpc>
              <a:spcBef>
                <a:spcPct val="0"/>
              </a:spcBef>
            </a:pPr>
            <a:r>
              <a:rPr lang="en-US" sz="3000">
                <a:solidFill>
                  <a:srgbClr val="00BF63"/>
                </a:solidFill>
                <a:latin typeface="Open Sauce"/>
                <a:ea typeface="Open Sauce"/>
                <a:cs typeface="Open Sauce"/>
                <a:sym typeface="Open Sauce"/>
              </a:rPr>
              <a:t>  </a:t>
            </a:r>
            <a:r>
              <a:rPr lang="en-US" sz="3000" err="1">
                <a:solidFill>
                  <a:srgbClr val="000000"/>
                </a:solidFill>
                <a:latin typeface="Open Sauce"/>
                <a:ea typeface="Open Sauce"/>
                <a:cs typeface="Open Sauce"/>
                <a:sym typeface="Open Sauce"/>
              </a:rPr>
              <a:t>anh_nhi_phan = cv2.adaptiveThreshold(anh_mo, 255, cv2.ADAPTIVE_THRESH_GAUSSIAN_C,cv2.THRESH_BINARY_INV, 27,8)</a:t>
            </a:r>
          </a:p>
          <a:p>
            <a:pPr algn="l">
              <a:lnSpc>
                <a:spcPts val="4192"/>
              </a:lnSpc>
              <a:spcBef>
                <a:spcPct val="0"/>
              </a:spcBef>
            </a:pPr>
            <a:r>
              <a:rPr lang="en-US" sz="3000">
                <a:solidFill>
                  <a:srgbClr val="00BF63"/>
                </a:solidFill>
                <a:latin typeface="Open Sauce"/>
                <a:ea typeface="Open Sauce"/>
                <a:cs typeface="Open Sauce"/>
                <a:sym typeface="Open Sauce"/>
              </a:rPr>
              <a:t>  # Kích thước khối (Block Size): Kích thước vùng lân cận để tính ngưỡng</a:t>
            </a:r>
            <a:endParaRPr lang="en-US" sz="3000">
              <a:solidFill>
                <a:srgbClr val="00BF63"/>
              </a:solidFill>
              <a:latin typeface="Open Sauce"/>
              <a:ea typeface="Open Sauce"/>
              <a:cs typeface="Open Sauce"/>
              <a:sym typeface="Open Sauce"/>
            </a:endParaRPr>
          </a:p>
          <a:p>
            <a:pPr algn="l">
              <a:lnSpc>
                <a:spcPts val="4192"/>
              </a:lnSpc>
              <a:spcBef>
                <a:spcPct val="0"/>
              </a:spcBef>
            </a:pPr>
            <a:r>
              <a:rPr lang="en-US" sz="3000">
                <a:solidFill>
                  <a:srgbClr val="00BF63"/>
                </a:solidFill>
                <a:latin typeface="Open Sauce"/>
                <a:ea typeface="Open Sauce"/>
                <a:cs typeface="Open Sauce"/>
                <a:sym typeface="Open Sauce"/>
              </a:rPr>
              <a:t>  # C (Constant): Giá trị trừ đi từ ngưỡng trung bình/Gaussian.</a:t>
            </a:r>
          </a:p>
          <a:p>
            <a:pPr algn="l">
              <a:lnSpc>
                <a:spcPts val="4192"/>
              </a:lnSpc>
              <a:spcBef>
                <a:spcPct val="0"/>
              </a:spcBef>
            </a:pPr>
            <a:r>
              <a:rPr lang="en-US" sz="3000">
                <a:solidFill>
                  <a:srgbClr val="00BF63"/>
                </a:solidFill>
                <a:latin typeface="Open Sauce"/>
                <a:ea typeface="Open Sauce"/>
                <a:cs typeface="Open Sauce"/>
                <a:sym typeface="Open Sauce"/>
              </a:rPr>
              <a:t>  # Giá trị dương nhỏ (ví dụ 4-8) giúp tách biên tốt hơn</a:t>
            </a:r>
            <a:endParaRPr lang="en-US" sz="3000">
              <a:solidFill>
                <a:srgbClr val="00BF63"/>
              </a:solidFill>
              <a:latin typeface="Open Sauce"/>
              <a:ea typeface="Open Sauce"/>
              <a:cs typeface="Open Sauce"/>
              <a:sym typeface="Open Sauce"/>
            </a:endParaRPr>
          </a:p>
          <a:p>
            <a:pPr algn="l">
              <a:lnSpc>
                <a:spcPts val="4192"/>
              </a:lnSpc>
              <a:spcBef>
                <a:spcPct val="0"/>
              </a:spcBef>
            </a:pPr>
            <a:endParaRPr lang="en-US" sz="3000">
              <a:solidFill>
                <a:srgbClr val="00BF63"/>
              </a:solidFill>
              <a:latin typeface="Open Sauce"/>
              <a:ea typeface="Open Sauce"/>
              <a:cs typeface="Open Sauce"/>
              <a:sym typeface="Open Sauce"/>
            </a:endParaRPr>
          </a:p>
          <a:p>
            <a:pPr algn="just">
              <a:lnSpc>
                <a:spcPts val="2112"/>
              </a:lnSpc>
              <a:spcBef>
                <a:spcPct val="0"/>
              </a:spcBef>
            </a:pPr>
            <a:endParaRPr lang="en-US" sz="3000">
              <a:solidFill>
                <a:srgbClr val="00BF63"/>
              </a:solidFill>
              <a:latin typeface="Open Sauce"/>
              <a:ea typeface="Open Sauce"/>
              <a:cs typeface="Open Sauce"/>
              <a:sym typeface="Open Sauce"/>
            </a:endParaRPr>
          </a:p>
        </p:txBody>
      </p:sp>
      <p:sp>
        <p:nvSpPr>
          <p:cNvPr id="7" name="TextBox 7"/>
          <p:cNvSpPr txBox="1"/>
          <p:nvPr/>
        </p:nvSpPr>
        <p:spPr>
          <a:xfrm>
            <a:off x="8276159" y="413384"/>
            <a:ext cx="10011841" cy="173545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BIỂU DIỄN BIÊN – BOUNDARY REPRESENTATION</a:t>
            </a:r>
          </a:p>
          <a:p>
            <a:pPr algn="ctr">
              <a:lnSpc>
                <a:spcPts val="4619"/>
              </a:lnSpc>
              <a:spcBef>
                <a:spcPct val="0"/>
              </a:spcBef>
            </a:pPr>
            <a:endParaRPr lang="en-US" sz="3299" b="1" spc="329">
              <a:solidFill>
                <a:srgbClr val="000000"/>
              </a:solidFill>
              <a:latin typeface="Open Sauce Bold"/>
              <a:ea typeface="Open Sauce Bold"/>
              <a:cs typeface="Open Sauce Bold"/>
              <a:sym typeface="Open Sauce Bold"/>
            </a:endParaRPr>
          </a:p>
        </p:txBody>
      </p:sp>
    </p:spTree>
  </p:cSld>
  <p:clrMapOvr>
    <a:masterClrMapping/>
  </p:clrMapOvr>
  <p:transition/>
  <p:timing/>
</p:sld>
</file>

<file path=ppt/slides/slide5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712339"/>
            <a:ext cx="7834187" cy="6759671"/>
          </a:xfrm>
          <a:prstGeom prst="rect">
            <a:avLst/>
          </a:prstGeom>
        </p:spPr>
        <p:txBody>
          <a:bodyPr wrap="square" lIns="0" tIns="0" rIns="0" bIns="0" rtlCol="0" anchor="t">
            <a:spAutoFit/>
          </a:bodyPr>
          <a:lstStyle/>
          <a:p>
            <a:pPr algn="l">
              <a:lnSpc>
                <a:spcPts val="4192"/>
              </a:lnSpc>
            </a:pPr>
            <a:r>
              <a:rPr lang="en-US" sz="3200">
                <a:solidFill>
                  <a:srgbClr val="00BF63"/>
                </a:solidFill>
                <a:latin typeface="Open Sauce"/>
                <a:ea typeface="Open Sauce"/>
                <a:cs typeface="Open Sauce"/>
                <a:sym typeface="Open Sauce"/>
              </a:rPr>
              <a:t># 3. Tìm contour</a:t>
            </a:r>
          </a:p>
          <a:p>
            <a:pPr algn="l">
              <a:lnSpc>
                <a:spcPts val="4192"/>
              </a:lnSpc>
              <a:spcBef>
                <a:spcPct val="0"/>
              </a:spcBef>
            </a:pPr>
            <a:r>
              <a:rPr lang="en-US" sz="3200">
                <a:solidFill>
                  <a:srgbClr val="00BF63"/>
                </a:solidFill>
                <a:latin typeface="Open Sauce"/>
                <a:ea typeface="Open Sauce"/>
                <a:cs typeface="Open Sauce"/>
                <a:sym typeface="Open Sauce"/>
              </a:rPr>
              <a:t> </a:t>
            </a:r>
            <a:r>
              <a:rPr lang="en-US" sz="3200">
                <a:solidFill>
                  <a:srgbClr val="000000"/>
                </a:solidFill>
                <a:latin typeface="Open Sauce"/>
                <a:ea typeface="Open Sauce"/>
                <a:cs typeface="Open Sauce"/>
                <a:sym typeface="Open Sauce"/>
              </a:rPr>
              <a:t> contours, _ = cv2.findContours(anh_nhi_phan, cv2.RETR_EXTERNAL, cv2.CHAIN_APPROX_SIMPLE)</a:t>
            </a:r>
          </a:p>
          <a:p>
            <a:pPr algn="l">
              <a:lnSpc>
                <a:spcPts val="4192"/>
              </a:lnSpc>
              <a:spcBef>
                <a:spcPct val="0"/>
              </a:spcBef>
            </a:pPr>
            <a:r>
              <a:rPr lang="en-US" sz="3200">
                <a:solidFill>
                  <a:srgbClr val="00BF63"/>
                </a:solidFill>
                <a:latin typeface="Open Sauce"/>
                <a:ea typeface="Open Sauce"/>
                <a:cs typeface="Open Sauce"/>
                <a:sym typeface="Open Sauce"/>
              </a:rPr>
              <a:t>  # 4. Vẽ contour lên ảnh gốc</a:t>
            </a:r>
            <a:endParaRPr lang="en-US" sz="3200">
              <a:solidFill>
                <a:srgbClr val="00BF63"/>
              </a:solidFill>
              <a:latin typeface="Open Sauce"/>
              <a:ea typeface="Open Sauce"/>
              <a:cs typeface="Open Sauce"/>
              <a:sym typeface="Open Sauce"/>
            </a:endParaRPr>
          </a:p>
          <a:p>
            <a:pPr algn="l">
              <a:lnSpc>
                <a:spcPts val="4192"/>
              </a:lnSpc>
              <a:spcBef>
                <a:spcPct val="0"/>
              </a:spcBef>
            </a:pPr>
            <a:r>
              <a:rPr lang="en-US" sz="3200">
                <a:solidFill>
                  <a:srgbClr val="00BF63"/>
                </a:solidFill>
                <a:latin typeface="Open Sauce"/>
                <a:ea typeface="Open Sauce"/>
                <a:cs typeface="Open Sauce"/>
                <a:sym typeface="Open Sauce"/>
              </a:rPr>
              <a:t> </a:t>
            </a:r>
            <a:r>
              <a:rPr lang="en-US" sz="3200">
                <a:solidFill>
                  <a:srgbClr val="000000"/>
                </a:solidFill>
                <a:latin typeface="Open Sauce"/>
                <a:ea typeface="Open Sauce"/>
                <a:cs typeface="Open Sauce"/>
                <a:sym typeface="Open Sauce"/>
              </a:rPr>
              <a:t> anh_ket_qua = anh_goc.copy()</a:t>
            </a:r>
          </a:p>
          <a:p>
            <a:pPr algn="l">
              <a:lnSpc>
                <a:spcPts val="4192"/>
              </a:lnSpc>
              <a:spcBef>
                <a:spcPct val="0"/>
              </a:spcBef>
            </a:pPr>
            <a:r>
              <a:rPr lang="en-US" sz="3200">
                <a:solidFill>
                  <a:srgbClr val="000000"/>
                </a:solidFill>
                <a:latin typeface="Open Sauce"/>
                <a:ea typeface="Open Sauce"/>
                <a:cs typeface="Open Sauce"/>
                <a:sym typeface="Open Sauce"/>
              </a:rPr>
              <a:t>  cv2.drawContours(anh_ket_qua, contours, -1, (0, 255, 0), 1</a:t>
            </a:r>
            <a:r>
              <a:rPr lang="en-US" sz="3200">
                <a:solidFill>
                  <a:srgbClr val="00BF63"/>
                </a:solidFill>
                <a:latin typeface="Open Sauce"/>
                <a:ea typeface="Open Sauce"/>
                <a:cs typeface="Open Sauce"/>
                <a:sym typeface="Open Sauce"/>
              </a:rPr>
              <a:t>)</a:t>
            </a:r>
          </a:p>
          <a:p>
            <a:pPr algn="l">
              <a:lnSpc>
                <a:spcPts val="4192"/>
              </a:lnSpc>
              <a:spcBef>
                <a:spcPct val="0"/>
              </a:spcBef>
            </a:pPr>
            <a:endParaRPr lang="en-US" sz="3200">
              <a:solidFill>
                <a:srgbClr val="00BF63"/>
              </a:solidFill>
              <a:latin typeface="Open Sauce"/>
              <a:ea typeface="Open Sauce"/>
              <a:cs typeface="Open Sauce"/>
              <a:sym typeface="Open Sauce"/>
            </a:endParaRPr>
          </a:p>
          <a:p>
            <a:pPr algn="l">
              <a:lnSpc>
                <a:spcPts val="4192"/>
              </a:lnSpc>
              <a:spcBef>
                <a:spcPct val="0"/>
              </a:spcBef>
            </a:pPr>
            <a:r>
              <a:rPr lang="en-US" sz="3200">
                <a:solidFill>
                  <a:srgbClr val="00BF63"/>
                </a:solidFill>
                <a:latin typeface="Open Sauce"/>
                <a:ea typeface="Open Sauce"/>
                <a:cs typeface="Open Sauce"/>
                <a:sym typeface="Open Sauce"/>
              </a:rPr>
              <a:t>  #đếm contour</a:t>
            </a:r>
          </a:p>
          <a:p>
            <a:pPr algn="l">
              <a:lnSpc>
                <a:spcPts val="4192"/>
              </a:lnSpc>
              <a:spcBef>
                <a:spcPct val="0"/>
              </a:spcBef>
            </a:pPr>
            <a:r>
              <a:rPr lang="en-US" sz="3200">
                <a:solidFill>
                  <a:srgbClr val="00BF63"/>
                </a:solidFill>
                <a:latin typeface="Open Sauce"/>
                <a:ea typeface="Open Sauce"/>
                <a:cs typeface="Open Sauce"/>
                <a:sym typeface="Open Sauce"/>
              </a:rPr>
              <a:t> </a:t>
            </a:r>
            <a:r>
              <a:rPr lang="en-US" sz="3200">
                <a:solidFill>
                  <a:srgbClr val="000000"/>
                </a:solidFill>
                <a:latin typeface="Open Sauce"/>
                <a:ea typeface="Open Sauce"/>
                <a:cs typeface="Open Sauce"/>
                <a:sym typeface="Open Sauce"/>
              </a:rPr>
              <a:t> so = len(contours)</a:t>
            </a:r>
          </a:p>
          <a:p>
            <a:pPr algn="just">
              <a:lnSpc>
                <a:spcPts val="2112"/>
              </a:lnSpc>
              <a:spcBef>
                <a:spcPct val="0"/>
              </a:spcBef>
            </a:pPr>
            <a:endParaRPr lang="en-US" sz="3200">
              <a:solidFill>
                <a:srgbClr val="000000"/>
              </a:solidFill>
              <a:latin typeface="Open Sauce"/>
              <a:ea typeface="Open Sauce"/>
              <a:cs typeface="Open Sauce"/>
              <a:sym typeface="Open Sauce"/>
            </a:endParaRPr>
          </a:p>
        </p:txBody>
      </p:sp>
      <p:sp>
        <p:nvSpPr>
          <p:cNvPr id="6" name="TextBox 6"/>
          <p:cNvSpPr txBox="1"/>
          <p:nvPr/>
        </p:nvSpPr>
        <p:spPr>
          <a:xfrm>
            <a:off x="9144000" y="1712339"/>
            <a:ext cx="8591247" cy="4588115"/>
          </a:xfrm>
          <a:prstGeom prst="rect">
            <a:avLst/>
          </a:prstGeom>
        </p:spPr>
        <p:txBody>
          <a:bodyPr lIns="0" tIns="0" rIns="0" bIns="0" rtlCol="0" anchor="t">
            <a:spAutoFit/>
          </a:bodyPr>
          <a:lstStyle/>
          <a:p>
            <a:pPr algn="l">
              <a:lnSpc>
                <a:spcPts val="4192"/>
              </a:lnSpc>
            </a:pPr>
            <a:r>
              <a:rPr lang="en-US" sz="2800">
                <a:solidFill>
                  <a:srgbClr val="00BF63"/>
                </a:solidFill>
                <a:latin typeface="Open Sauce"/>
                <a:ea typeface="Open Sauce"/>
                <a:cs typeface="Open Sauce"/>
                <a:sym typeface="Open Sauce"/>
              </a:rPr>
              <a:t># 6. Hiển thị kết quả</a:t>
            </a:r>
            <a:endParaRPr lang="en-US" sz="2800">
              <a:solidFill>
                <a:srgbClr val="00BF63"/>
              </a:solidFill>
              <a:latin typeface="Open Sauce"/>
              <a:ea typeface="Open Sauce"/>
              <a:cs typeface="Open Sauce"/>
              <a:sym typeface="Open Sauce"/>
            </a:endParaRPr>
          </a:p>
          <a:p>
            <a:pPr algn="l">
              <a:lnSpc>
                <a:spcPts val="4192"/>
              </a:lnSpc>
              <a:spcBef>
                <a:spcPct val="0"/>
              </a:spcBef>
            </a:pPr>
            <a:r>
              <a:rPr lang="en-US" sz="2800">
                <a:solidFill>
                  <a:srgbClr val="00BF63"/>
                </a:solidFill>
                <a:latin typeface="Open Sauce"/>
                <a:ea typeface="Open Sauce"/>
                <a:cs typeface="Open Sauce"/>
                <a:sym typeface="Open Sauce"/>
              </a:rPr>
              <a:t>  </a:t>
            </a:r>
            <a:r>
              <a:rPr lang="en-US" sz="2800" err="1">
                <a:solidFill>
                  <a:srgbClr val="000000"/>
                </a:solidFill>
                <a:latin typeface="Open Sauce"/>
                <a:ea typeface="Open Sauce"/>
                <a:cs typeface="Open Sauce"/>
                <a:sym typeface="Open Sauce"/>
              </a:rPr>
              <a:t>anh_ket_qua_rgb = cv2.cvtColor(anh_ket_qua, cv2.COLOR_BGR2RGB)</a:t>
            </a:r>
          </a:p>
          <a:p>
            <a:pPr algn="l">
              <a:lnSpc>
                <a:spcPts val="4192"/>
              </a:lnSpc>
              <a:spcBef>
                <a:spcPct val="0"/>
              </a:spcBef>
            </a:pPr>
            <a:r>
              <a:rPr lang="en-US" sz="2800">
                <a:solidFill>
                  <a:srgbClr val="000000"/>
                </a:solidFill>
                <a:latin typeface="Open Sauce"/>
                <a:ea typeface="Open Sauce"/>
                <a:cs typeface="Open Sauce"/>
                <a:sym typeface="Open Sauce"/>
              </a:rPr>
              <a:t>  plt.figure(figsize=(12, 6))</a:t>
            </a:r>
          </a:p>
          <a:p>
            <a:pPr algn="l">
              <a:lnSpc>
                <a:spcPts val="4192"/>
              </a:lnSpc>
              <a:spcBef>
                <a:spcPct val="0"/>
              </a:spcBef>
            </a:pPr>
            <a:r>
              <a:rPr lang="en-US" sz="2800">
                <a:solidFill>
                  <a:srgbClr val="000000"/>
                </a:solidFill>
                <a:latin typeface="Open Sauce"/>
                <a:ea typeface="Open Sauce"/>
                <a:cs typeface="Open Sauce"/>
                <a:sym typeface="Open Sauce"/>
              </a:rPr>
              <a:t>  plt.subplot(1, 2, 1)</a:t>
            </a:r>
          </a:p>
          <a:p>
            <a:pPr algn="l">
              <a:lnSpc>
                <a:spcPts val="4192"/>
              </a:lnSpc>
              <a:spcBef>
                <a:spcPct val="0"/>
              </a:spcBef>
            </a:pPr>
            <a:r>
              <a:rPr lang="en-US" sz="2800">
                <a:solidFill>
                  <a:srgbClr val="000000"/>
                </a:solidFill>
                <a:latin typeface="Open Sauce"/>
                <a:ea typeface="Open Sauce"/>
                <a:cs typeface="Open Sauce"/>
                <a:sym typeface="Open Sauce"/>
              </a:rPr>
              <a:t>  plt.imshow(anh_ket_qua_rgb)</a:t>
            </a:r>
          </a:p>
          <a:p>
            <a:pPr algn="l">
              <a:lnSpc>
                <a:spcPts val="4192"/>
              </a:lnSpc>
              <a:spcBef>
                <a:spcPct val="0"/>
              </a:spcBef>
            </a:pPr>
            <a:r>
              <a:rPr lang="en-US" sz="2800">
                <a:solidFill>
                  <a:srgbClr val="000000"/>
                </a:solidFill>
                <a:latin typeface="Open Sauce"/>
                <a:ea typeface="Open Sauce"/>
                <a:cs typeface="Open Sauce"/>
                <a:sym typeface="Open Sauce"/>
              </a:rPr>
              <a:t>  plt.title(f"Ảnh kết quả có số đổi tượng là :{so}")</a:t>
            </a:r>
          </a:p>
          <a:p>
            <a:pPr algn="l">
              <a:lnSpc>
                <a:spcPts val="4192"/>
              </a:lnSpc>
              <a:spcBef>
                <a:spcPct val="0"/>
              </a:spcBef>
            </a:pPr>
            <a:r>
              <a:rPr lang="en-US" sz="2800">
                <a:solidFill>
                  <a:srgbClr val="000000"/>
                </a:solidFill>
                <a:latin typeface="Open Sauce"/>
                <a:ea typeface="Open Sauce"/>
                <a:cs typeface="Open Sauce"/>
                <a:sym typeface="Open Sauce"/>
              </a:rPr>
              <a:t>  plt.axis('off')</a:t>
            </a:r>
          </a:p>
          <a:p>
            <a:pPr algn="just">
              <a:lnSpc>
                <a:spcPts val="2112"/>
              </a:lnSpc>
              <a:spcBef>
                <a:spcPct val="0"/>
              </a:spcBef>
            </a:pPr>
            <a:endParaRPr lang="en-US" sz="2800">
              <a:solidFill>
                <a:srgbClr val="000000"/>
              </a:solidFill>
              <a:latin typeface="Open Sauce"/>
              <a:ea typeface="Open Sauce"/>
              <a:cs typeface="Open Sauce"/>
              <a:sym typeface="Open Sauce"/>
            </a:endParaRPr>
          </a:p>
        </p:txBody>
      </p:sp>
    </p:spTree>
  </p:cSld>
  <p:clrMapOvr>
    <a:masterClrMapping/>
  </p:clrMapOvr>
  <p:transition/>
  <p:timing/>
</p:sld>
</file>

<file path=ppt/slides/slide5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620997" y="1739259"/>
            <a:ext cx="17207957" cy="6560534"/>
          </a:xfrm>
          <a:custGeom>
            <a:rect l="l" t="t" r="r" b="b"/>
            <a:pathLst>
              <a:path w="17207957" h="6560534">
                <a:moveTo>
                  <a:pt x="0" y="0"/>
                </a:moveTo>
                <a:lnTo>
                  <a:pt x="17207958" y="0"/>
                </a:lnTo>
                <a:lnTo>
                  <a:pt x="17207958" y="6560534"/>
                </a:lnTo>
                <a:lnTo>
                  <a:pt x="0" y="656053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5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712339"/>
            <a:ext cx="8457648" cy="8110453"/>
          </a:xfrm>
          <a:prstGeom prst="rect">
            <a:avLst/>
          </a:prstGeom>
        </p:spPr>
        <p:txBody>
          <a:bodyPr lIns="0" tIns="0" rIns="0" bIns="0" rtlCol="0" anchor="t">
            <a:spAutoFit/>
          </a:bodyPr>
          <a:lstStyle/>
          <a:p>
            <a:pPr algn="l">
              <a:lnSpc>
                <a:spcPts val="4192"/>
              </a:lnSpc>
            </a:pPr>
            <a:r>
              <a:rPr lang="en-US" sz="2620">
                <a:solidFill>
                  <a:srgbClr val="000000"/>
                </a:solidFill>
                <a:latin typeface="Open Sauce"/>
                <a:ea typeface="Open Sauce"/>
                <a:cs typeface="Open Sauce"/>
                <a:sym typeface="Open Sauce"/>
              </a:rPr>
              <a:t>def remove_background_with_contours(image, roi):</a:t>
            </a:r>
          </a:p>
          <a:p>
            <a:pPr algn="l">
              <a:lnSpc>
                <a:spcPts val="4192"/>
              </a:lnSpc>
              <a:spcBef>
                <a:spcPct val="0"/>
              </a:spcBef>
            </a:pPr>
            <a:r>
              <a:rPr lang="en-US" sz="2620">
                <a:solidFill>
                  <a:srgbClr val="00BF63"/>
                </a:solidFill>
                <a:latin typeface="Open Sauce"/>
                <a:ea typeface="Open Sauce"/>
                <a:cs typeface="Open Sauce"/>
                <a:sym typeface="Open Sauce"/>
              </a:rPr>
              <a:t>  # Cắt vùng ROI</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roi_image = image[roi[1]:roi[1]+roi[3], roi[0]:roi[0]+roi[2]]</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Chuyển sang gray và áp dụng Canny để tìm cạnh</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gray_roi = cv2.cvtColor(roi_image, cv2.COLOR_BGR2GRAY)</a:t>
            </a:r>
          </a:p>
          <a:p>
            <a:pPr algn="l">
              <a:lnSpc>
                <a:spcPts val="4192"/>
              </a:lnSpc>
              <a:spcBef>
                <a:spcPct val="0"/>
              </a:spcBef>
            </a:pPr>
            <a:r>
              <a:rPr lang="en-US" sz="2620">
                <a:solidFill>
                  <a:srgbClr val="000000"/>
                </a:solidFill>
                <a:latin typeface="Open Sauce"/>
                <a:ea typeface="Open Sauce"/>
                <a:cs typeface="Open Sauce"/>
                <a:sym typeface="Open Sauce"/>
              </a:rPr>
              <a:t>  edges = cv2.Canny(gray_roi, 50, 150)</a:t>
            </a:r>
          </a:p>
          <a:p>
            <a:pPr algn="l">
              <a:lnSpc>
                <a:spcPts val="4192"/>
              </a:lnSpc>
              <a:spcBef>
                <a:spcPct val="0"/>
              </a:spcBef>
            </a:pPr>
            <a:r>
              <a:rPr lang="en-US" sz="2620">
                <a:solidFill>
                  <a:srgbClr val="000000"/>
                </a:solidFill>
                <a:latin typeface="Open Sauce"/>
                <a:ea typeface="Open Sauce"/>
                <a:cs typeface="Open Sauce"/>
                <a:sym typeface="Open Sauce"/>
              </a:rPr>
              <a:t>  contours, _ = cv2.findContours(edges, cv2.RETR_EXTERNAL, cv2.CHAIN_APPROX_SIMPLE)</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Chọn contour lớn nhất (giả định là người)</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largest_contour = max(contours, key=cv2.contourArea)</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
        <p:nvSpPr>
          <p:cNvPr id="6" name="TextBox 6"/>
          <p:cNvSpPr txBox="1"/>
          <p:nvPr/>
        </p:nvSpPr>
        <p:spPr>
          <a:xfrm>
            <a:off x="9144000" y="1712339"/>
            <a:ext cx="9370573" cy="8634328"/>
          </a:xfrm>
          <a:prstGeom prst="rect">
            <a:avLst/>
          </a:prstGeom>
        </p:spPr>
        <p:txBody>
          <a:bodyPr lIns="0" tIns="0" rIns="0" bIns="0" rtlCol="0" anchor="t">
            <a:spAutoFit/>
          </a:bodyPr>
          <a:lstStyle/>
          <a:p>
            <a:pPr algn="l">
              <a:lnSpc>
                <a:spcPts val="4192"/>
              </a:lnSpc>
            </a:pPr>
            <a:r>
              <a:rPr lang="en-US" sz="2620">
                <a:solidFill>
                  <a:srgbClr val="00BF63"/>
                </a:solidFill>
                <a:latin typeface="Open Sauce"/>
                <a:ea typeface="Open Sauce"/>
                <a:cs typeface="Open Sauce"/>
                <a:sym typeface="Open Sauce"/>
              </a:rPr>
              <a:t># Tạo mask từ contour (</a:t>
            </a:r>
          </a:p>
          <a:p>
            <a:pPr algn="l">
              <a:lnSpc>
                <a:spcPts val="4192"/>
              </a:lnSpc>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mask = np.zeros_like(gray_roi)</a:t>
            </a:r>
          </a:p>
          <a:p>
            <a:pPr algn="l">
              <a:lnSpc>
                <a:spcPts val="4192"/>
              </a:lnSpc>
              <a:spcBef>
                <a:spcPct val="0"/>
              </a:spcBef>
            </a:pPr>
            <a:r>
              <a:rPr lang="en-US" sz="2620">
                <a:solidFill>
                  <a:srgbClr val="000000"/>
                </a:solidFill>
                <a:latin typeface="Open Sauce"/>
                <a:ea typeface="Open Sauce"/>
                <a:cs typeface="Open Sauce"/>
                <a:sym typeface="Open Sauce"/>
              </a:rPr>
              <a:t>  cv2.drawContours(mask, [largest_contour], -1, 255, thickness=-1)</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Mở rộng mask về kích thước ảnh gốc</a:t>
            </a:r>
          </a:p>
          <a:p>
            <a:pPr algn="l">
              <a:lnSpc>
                <a:spcPts val="4192"/>
              </a:lnSpc>
              <a:spcBef>
                <a:spcPct val="0"/>
              </a:spcBef>
            </a:pPr>
            <a:r>
              <a:rPr lang="en-US" sz="2620">
                <a:solidFill>
                  <a:srgbClr val="000000"/>
                </a:solidFill>
                <a:latin typeface="Open Sauce"/>
                <a:ea typeface="Open Sauce"/>
                <a:cs typeface="Open Sauce"/>
                <a:sym typeface="Open Sauce"/>
              </a:rPr>
              <a:t>  full_mask = np.zeros(image.shape[:2], np.uint8)</a:t>
            </a:r>
          </a:p>
          <a:p>
            <a:pPr algn="l">
              <a:lnSpc>
                <a:spcPts val="4192"/>
              </a:lnSpc>
              <a:spcBef>
                <a:spcPct val="0"/>
              </a:spcBef>
            </a:pPr>
            <a:r>
              <a:rPr lang="en-US" sz="2620">
                <a:solidFill>
                  <a:srgbClr val="000000"/>
                </a:solidFill>
                <a:latin typeface="Open Sauce"/>
                <a:ea typeface="Open Sauce"/>
                <a:cs typeface="Open Sauce"/>
                <a:sym typeface="Open Sauce"/>
              </a:rPr>
              <a:t>  full_mask[roi[1]:roi[1]+roi[3], roi[0]:roi[0]+roi[2]] = mask</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Áp dụng mask lên ảnh gốc</a:t>
            </a:r>
          </a:p>
          <a:p>
            <a:pPr algn="l">
              <a:lnSpc>
                <a:spcPts val="4192"/>
              </a:lnSpc>
              <a:spcBef>
                <a:spcPct val="0"/>
              </a:spcBef>
            </a:pPr>
            <a:r>
              <a:rPr lang="en-US" sz="2620">
                <a:solidFill>
                  <a:srgbClr val="000000"/>
                </a:solidFill>
                <a:latin typeface="Open Sauce"/>
                <a:ea typeface="Open Sauce"/>
                <a:cs typeface="Open Sauce"/>
                <a:sym typeface="Open Sauce"/>
              </a:rPr>
              <a:t>  result = image * (full_mask[:, :, np.newaxis] // 255)</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Vẽ viền contour lên ảnh kết quả (viền màu xanh lá)</a:t>
            </a:r>
          </a:p>
          <a:p>
            <a:pPr algn="l">
              <a:lnSpc>
                <a:spcPts val="4192"/>
              </a:lnSpc>
              <a:spcBef>
                <a:spcPct val="0"/>
              </a:spcBef>
            </a:pPr>
            <a:r>
              <a:rPr lang="en-US" sz="2620">
                <a:solidFill>
                  <a:srgbClr val="000000"/>
                </a:solidFill>
                <a:latin typeface="Open Sauce"/>
                <a:ea typeface="Open Sauce"/>
                <a:cs typeface="Open Sauce"/>
                <a:sym typeface="Open Sauce"/>
              </a:rPr>
              <a:t>  cv2.drawContours(result, [largest_contour + np.array([roi[0], roi[1]])], -1, (0, 255, 0), 2)</a:t>
            </a:r>
          </a:p>
          <a:p>
            <a:pPr algn="l">
              <a:lnSpc>
                <a:spcPts val="4192"/>
              </a:lnSpc>
              <a:spcBef>
                <a:spcPct val="0"/>
              </a:spcBef>
            </a:pPr>
            <a:r>
              <a:rPr lang="en-US" sz="2620">
                <a:solidFill>
                  <a:srgbClr val="000000"/>
                </a:solidFill>
                <a:latin typeface="Open Sauce"/>
                <a:ea typeface="Open Sauce"/>
                <a:cs typeface="Open Sauce"/>
                <a:sym typeface="Open Sauce"/>
              </a:rPr>
              <a:t>  return result, full_mask</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Tree>
  </p:cSld>
  <p:clrMapOvr>
    <a:masterClrMapping/>
  </p:clrMapOvr>
  <p:transition/>
  <p:timing/>
</p:sld>
</file>

<file path=ppt/slides/slide5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712338"/>
            <a:ext cx="15151105" cy="8667886"/>
          </a:xfrm>
          <a:prstGeom prst="rect">
            <a:avLst/>
          </a:prstGeom>
        </p:spPr>
        <p:txBody>
          <a:bodyPr wrap="square" lIns="0" tIns="0" rIns="0" bIns="0" rtlCol="0" anchor="t">
            <a:spAutoFit/>
          </a:bodyPr>
          <a:lstStyle/>
          <a:p>
            <a:r>
              <a:rPr lang="vi-VN" sz="3200"/>
              <a:t>contours, _ = cv2.findContours(binary, cv2.RETR_EXTERNAL, cv2.CHAIN_APPROX_SIMPLE)</a:t>
            </a:r>
          </a:p>
          <a:p>
            <a:r>
              <a:rPr lang="vi-VN" sz="3200"/>
              <a:t># 4. Lọc chỉ giữ vùng “giống mặt người”</a:t>
            </a:r>
          </a:p>
          <a:p>
            <a:r>
              <a:rPr lang="vi-VN" sz="3200"/>
              <a:t>h, w = img.shape[:2]</a:t>
            </a:r>
          </a:p>
          <a:p>
            <a:r>
              <a:rPr lang="vi-VN" sz="3200"/>
              <a:t>area_img = h * w</a:t>
            </a:r>
          </a:p>
          <a:p>
            <a:r>
              <a:rPr lang="vi-VN" sz="3200"/>
              <a:t>img_out = img.copy()</a:t>
            </a:r>
          </a:p>
          <a:p>
            <a:r>
              <a:rPr lang="vi-VN" sz="3200"/>
              <a:t>face_like = []</a:t>
            </a:r>
            <a:br>
              <a:rPr lang="vi-VN" sz="3200"/>
            </a:br>
            <a:endParaRPr lang="vi-VN" sz="3200"/>
          </a:p>
          <a:p>
            <a:r>
              <a:rPr lang="vi-VN" sz="3200"/>
              <a:t>for c in contours:</a:t>
            </a:r>
          </a:p>
          <a:p>
            <a:r>
              <a:rPr lang="vi-VN" sz="3200"/>
              <a:t>    area = cv2.contourArea(c)</a:t>
            </a:r>
          </a:p>
          <a:p>
            <a:r>
              <a:rPr lang="vi-VN" sz="3200"/>
              <a:t>    if area &lt; 0.01 * area_img or area &gt; 0.5 * area_img:  # loại vùng nhỏ/quá lớn</a:t>
            </a:r>
          </a:p>
          <a:p>
            <a:r>
              <a:rPr lang="vi-VN" sz="3200"/>
              <a:t>        continue</a:t>
            </a:r>
          </a:p>
          <a:p>
            <a:r>
              <a:rPr lang="vi-VN" sz="3200"/>
              <a:t>    x, y, ww, hh = cv2.boundingRect(c)</a:t>
            </a:r>
          </a:p>
          <a:p>
            <a:r>
              <a:rPr lang="vi-VN" sz="3200"/>
              <a:t>    ratio = ww / (hh + 1e-6)</a:t>
            </a:r>
          </a:p>
          <a:p>
            <a:r>
              <a:rPr lang="vi-VN" sz="3200"/>
              <a:t>    if 0.7 &lt; ratio &lt; 1.3 and hh &gt; h * 0.2:  # tỷ lệ gần vuông, cao đủ</a:t>
            </a:r>
          </a:p>
          <a:p>
            <a:r>
              <a:rPr lang="vi-VN" sz="3200"/>
              <a:t>        face_like.append((x, y, ww, hh))</a:t>
            </a:r>
          </a:p>
          <a:p>
            <a:r>
              <a:rPr lang="vi-VN" sz="3200"/>
              <a:t>        cv2.rectangle(img_out, (x, y), (x + ww, y + hh), (0,0,255), 5)</a:t>
            </a:r>
          </a:p>
          <a:p>
            <a:pPr algn="just">
              <a:lnSpc>
                <a:spcPts val="2112"/>
              </a:lnSpc>
              <a:spcBef>
                <a:spcPct val="0"/>
              </a:spcBef>
            </a:pPr>
            <a:endParaRPr lang="en-US" sz="3200">
              <a:solidFill>
                <a:srgbClr val="000000"/>
              </a:solidFill>
              <a:latin typeface="Open Sauce"/>
              <a:ea typeface="Open Sauce"/>
              <a:cs typeface="Open Sauce"/>
              <a:sym typeface="Open Sauce"/>
            </a:endParaRPr>
          </a:p>
        </p:txBody>
      </p:sp>
      <p:pic>
        <p:nvPicPr>
          <p:cNvPr id="8" name="Picture 7">
            <a:extLst>
              <a:ext uri="{FF2B5EF4-FFF2-40B4-BE49-F238E27FC236}">
                <a16:creationId xmlns:a16="http://schemas.microsoft.com/office/drawing/2014/main" id="{AA816781-8519-BC80-0E87-FC61B758A2CD}"/>
              </a:ext>
            </a:extLst>
          </p:cNvPr>
          <p:cNvPicPr>
            <a:picLocks noChangeAspect="1"/>
          </p:cNvPicPr>
          <p:nvPr/>
        </p:nvPicPr>
        <p:blipFill>
          <a:blip r:embed="rId3"/>
          <a:stretch>
            <a:fillRect/>
          </a:stretch>
        </p:blipFill>
        <p:spPr>
          <a:xfrm>
            <a:off x="11861468" y="281579"/>
            <a:ext cx="5956636" cy="6286172"/>
          </a:xfrm>
          <a:prstGeom prst="rect">
            <a:avLst/>
          </a:prstGeom>
        </p:spPr>
      </p:pic>
    </p:spTree>
  </p:cSld>
  <p:clrMapOvr>
    <a:masterClrMapping/>
  </p:clrMapOvr>
  <p:transition/>
  <p:timing/>
</p:sld>
</file>

<file path=ppt/slides/slide5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a:extLst>
            <a:ext uri="{FF2B5EF4-FFF2-40B4-BE49-F238E27FC236}">
              <a16:creationId xmlns:a16="http://schemas.microsoft.com/office/drawing/2014/main" id="{5B2E2B02-0B3D-87E8-ABA4-0EB2A2DA4D45}"/>
            </a:ext>
          </a:extLst>
        </p:cNvPr>
        <p:cNvGrpSpPr/>
        <p:nvPr/>
      </p:nvGrpSpPr>
      <p:grpSpPr>
        <a:xfrm>
          <a:off x="0" y="0"/>
          <a:ext cx="0" cy="0"/>
        </a:xfrm>
      </p:grpSpPr>
      <p:sp>
        <p:nvSpPr>
          <p:cNvPr id="2" name="Freeform 2">
            <a:extLst>
              <a:ext uri="{FF2B5EF4-FFF2-40B4-BE49-F238E27FC236}">
                <a16:creationId xmlns:a16="http://schemas.microsoft.com/office/drawing/2014/main" id="{BD46491C-FF42-A29D-FF25-D2E61CCEB4CB}"/>
              </a:ext>
            </a:extLst>
          </p:cNvPr>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a:extLst>
              <a:ext uri="{FF2B5EF4-FFF2-40B4-BE49-F238E27FC236}">
                <a16:creationId xmlns:a16="http://schemas.microsoft.com/office/drawing/2014/main" id="{72274F90-1EDC-9C08-035A-327C64AD6507}"/>
              </a:ext>
            </a:extLst>
          </p:cNvPr>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a:extLst>
              <a:ext uri="{FF2B5EF4-FFF2-40B4-BE49-F238E27FC236}">
                <a16:creationId xmlns:a16="http://schemas.microsoft.com/office/drawing/2014/main" id="{9E19B985-2348-D6E6-E025-70C378652AC8}"/>
              </a:ext>
            </a:extLst>
          </p:cNvPr>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pic>
        <p:nvPicPr>
          <p:cNvPr id="8" name="Picture 7">
            <a:extLst>
              <a:ext uri="{FF2B5EF4-FFF2-40B4-BE49-F238E27FC236}">
                <a16:creationId xmlns:a16="http://schemas.microsoft.com/office/drawing/2014/main" id="{4022941E-9DC0-81F0-4A13-A5724B3276C1}"/>
              </a:ext>
            </a:extLst>
          </p:cNvPr>
          <p:cNvPicPr>
            <a:picLocks noChangeAspect="1"/>
          </p:cNvPicPr>
          <p:nvPr/>
        </p:nvPicPr>
        <p:blipFill>
          <a:blip r:embed="rId3"/>
          <a:stretch>
            <a:fillRect/>
          </a:stretch>
        </p:blipFill>
        <p:spPr>
          <a:xfrm>
            <a:off x="10134599" y="2185040"/>
            <a:ext cx="5562601" cy="6311260"/>
          </a:xfrm>
          <a:prstGeom prst="rect">
            <a:avLst/>
          </a:prstGeom>
        </p:spPr>
      </p:pic>
      <p:pic>
        <p:nvPicPr>
          <p:cNvPr id="7" name="Picture 6" descr="A person smiling for the camera&#10;&#10;AI-generated content may be incorrect.">
            <a:extLst>
              <a:ext uri="{FF2B5EF4-FFF2-40B4-BE49-F238E27FC236}">
                <a16:creationId xmlns:a16="http://schemas.microsoft.com/office/drawing/2014/main" id="{E097A2AB-B08C-A4A4-F156-77303B5FA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2476500"/>
            <a:ext cx="4572000" cy="6103856"/>
          </a:xfrm>
          <a:prstGeom prst="rect">
            <a:avLst/>
          </a:prstGeom>
        </p:spPr>
      </p:pic>
    </p:spTree>
    <p:extLst>
      <p:ext uri="{BB962C8B-B14F-4D97-AF65-F5344CB8AC3E}">
        <p14:creationId xmlns:p14="http://schemas.microsoft.com/office/powerpoint/2010/main" val="2078756050"/>
      </p:ext>
    </p:extLst>
  </p:cSld>
  <p:clrMapOvr>
    <a:masterClrMapping/>
  </p:clrMapOvr>
  <p:transition/>
  <p:timing/>
</p:sld>
</file>

<file path=ppt/slides/slide5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a:extLst>
            <a:ext uri="{FF2B5EF4-FFF2-40B4-BE49-F238E27FC236}">
              <a16:creationId xmlns:a16="http://schemas.microsoft.com/office/drawing/2014/main" id="{C566253D-1140-99B3-E9D5-1F03288087A5}"/>
            </a:ext>
          </a:extLst>
        </p:cNvPr>
        <p:cNvGrpSpPr/>
        <p:nvPr/>
      </p:nvGrpSpPr>
      <p:grpSpPr>
        <a:xfrm>
          <a:off x="0" y="0"/>
          <a:ext cx="0" cy="0"/>
        </a:xfrm>
      </p:grpSpPr>
      <p:sp>
        <p:nvSpPr>
          <p:cNvPr id="2" name="Freeform 2">
            <a:extLst>
              <a:ext uri="{FF2B5EF4-FFF2-40B4-BE49-F238E27FC236}">
                <a16:creationId xmlns:a16="http://schemas.microsoft.com/office/drawing/2014/main" id="{B66A1C0E-198D-CB5B-695D-6731D5609E2E}"/>
              </a:ext>
            </a:extLst>
          </p:cNvPr>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a:extLst>
              <a:ext uri="{FF2B5EF4-FFF2-40B4-BE49-F238E27FC236}">
                <a16:creationId xmlns:a16="http://schemas.microsoft.com/office/drawing/2014/main" id="{4C0D5D7D-59D4-39EC-149E-5022241893E8}"/>
              </a:ext>
            </a:extLst>
          </p:cNvPr>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a:extLst>
              <a:ext uri="{FF2B5EF4-FFF2-40B4-BE49-F238E27FC236}">
                <a16:creationId xmlns:a16="http://schemas.microsoft.com/office/drawing/2014/main" id="{9ABA5522-2E12-F22D-7CA8-CF19EDB91563}"/>
              </a:ext>
            </a:extLst>
          </p:cNvPr>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a:extLst>
              <a:ext uri="{FF2B5EF4-FFF2-40B4-BE49-F238E27FC236}">
                <a16:creationId xmlns:a16="http://schemas.microsoft.com/office/drawing/2014/main" id="{2F7C4F36-CF0C-F01E-C730-538C1AD481E8}"/>
              </a:ext>
            </a:extLst>
          </p:cNvPr>
          <p:cNvSpPr txBox="1"/>
          <p:nvPr/>
        </p:nvSpPr>
        <p:spPr>
          <a:xfrm>
            <a:off x="469896" y="1712339"/>
            <a:ext cx="8457648" cy="8110453"/>
          </a:xfrm>
          <a:prstGeom prst="rect">
            <a:avLst/>
          </a:prstGeom>
        </p:spPr>
        <p:txBody>
          <a:bodyPr lIns="0" tIns="0" rIns="0" bIns="0" rtlCol="0" anchor="t">
            <a:spAutoFit/>
          </a:bodyPr>
          <a:lstStyle/>
          <a:p>
            <a:pPr algn="l">
              <a:lnSpc>
                <a:spcPts val="4192"/>
              </a:lnSpc>
            </a:pPr>
            <a:r>
              <a:rPr lang="en-US" sz="2620">
                <a:solidFill>
                  <a:srgbClr val="000000"/>
                </a:solidFill>
                <a:latin typeface="Open Sauce"/>
                <a:ea typeface="Open Sauce"/>
                <a:cs typeface="Open Sauce"/>
                <a:sym typeface="Open Sauce"/>
              </a:rPr>
              <a:t>def remove_background_with_contours(image, roi):</a:t>
            </a:r>
          </a:p>
          <a:p>
            <a:pPr algn="l">
              <a:lnSpc>
                <a:spcPts val="4192"/>
              </a:lnSpc>
              <a:spcBef>
                <a:spcPct val="0"/>
              </a:spcBef>
            </a:pPr>
            <a:r>
              <a:rPr lang="en-US" sz="2620">
                <a:solidFill>
                  <a:srgbClr val="00BF63"/>
                </a:solidFill>
                <a:latin typeface="Open Sauce"/>
                <a:ea typeface="Open Sauce"/>
                <a:cs typeface="Open Sauce"/>
                <a:sym typeface="Open Sauce"/>
              </a:rPr>
              <a:t>  # Cắt vùng ROI</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err="1">
                <a:solidFill>
                  <a:srgbClr val="000000"/>
                </a:solidFill>
                <a:latin typeface="Open Sauce"/>
                <a:ea typeface="Open Sauce"/>
                <a:cs typeface="Open Sauce"/>
                <a:sym typeface="Open Sauce"/>
              </a:rPr>
              <a:t>roi_image = image[roi[1]:roi[1]+roi[3], roi[0]:roi[0]+roi[2]]</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Chuyển sang gray và áp dụng Canny để tìm cạnh</a:t>
            </a:r>
            <a:endParaRPr lang="en-US" sz="2620">
              <a:solidFill>
                <a:srgbClr val="00BF63"/>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gray_roi = cv2.cvtColor(roi_image, cv2.COLOR_BGR2GRAY)</a:t>
            </a:r>
          </a:p>
          <a:p>
            <a:pPr algn="l">
              <a:lnSpc>
                <a:spcPts val="4192"/>
              </a:lnSpc>
              <a:spcBef>
                <a:spcPct val="0"/>
              </a:spcBef>
            </a:pPr>
            <a:r>
              <a:rPr lang="en-US" sz="2620">
                <a:solidFill>
                  <a:srgbClr val="000000"/>
                </a:solidFill>
                <a:latin typeface="Open Sauce"/>
                <a:ea typeface="Open Sauce"/>
                <a:cs typeface="Open Sauce"/>
                <a:sym typeface="Open Sauce"/>
              </a:rPr>
              <a:t>  edges = cv2.Canny(gray_roi, 50, 150)</a:t>
            </a:r>
          </a:p>
          <a:p>
            <a:pPr algn="l">
              <a:lnSpc>
                <a:spcPts val="4192"/>
              </a:lnSpc>
              <a:spcBef>
                <a:spcPct val="0"/>
              </a:spcBef>
            </a:pPr>
            <a:r>
              <a:rPr lang="en-US" sz="2620">
                <a:solidFill>
                  <a:srgbClr val="000000"/>
                </a:solidFill>
                <a:latin typeface="Open Sauce"/>
                <a:ea typeface="Open Sauce"/>
                <a:cs typeface="Open Sauce"/>
                <a:sym typeface="Open Sauce"/>
              </a:rPr>
              <a:t>  contours, _ = cv2.findContours(edges, cv2.RETR_EXTERNAL, cv2.CHAIN_APPROX_SIMPLE)</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Chọn contour lớn nhất (giả định là người)</a:t>
            </a:r>
          </a:p>
          <a:p>
            <a:pPr algn="l">
              <a:lnSpc>
                <a:spcPts val="4192"/>
              </a:lnSpc>
              <a:spcBef>
                <a:spcPct val="0"/>
              </a:spcBef>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largest_contour = max(contours, key=cv2.contourArea)</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
        <p:nvSpPr>
          <p:cNvPr id="6" name="TextBox 6">
            <a:extLst>
              <a:ext uri="{FF2B5EF4-FFF2-40B4-BE49-F238E27FC236}">
                <a16:creationId xmlns:a16="http://schemas.microsoft.com/office/drawing/2014/main" id="{8A64F175-35CE-24ED-F4F8-53704D573EC9}"/>
              </a:ext>
            </a:extLst>
          </p:cNvPr>
          <p:cNvSpPr txBox="1"/>
          <p:nvPr/>
        </p:nvSpPr>
        <p:spPr>
          <a:xfrm>
            <a:off x="9144000" y="1712339"/>
            <a:ext cx="9370573" cy="8634328"/>
          </a:xfrm>
          <a:prstGeom prst="rect">
            <a:avLst/>
          </a:prstGeom>
        </p:spPr>
        <p:txBody>
          <a:bodyPr lIns="0" tIns="0" rIns="0" bIns="0" rtlCol="0" anchor="t">
            <a:spAutoFit/>
          </a:bodyPr>
          <a:lstStyle/>
          <a:p>
            <a:pPr algn="l">
              <a:lnSpc>
                <a:spcPts val="4192"/>
              </a:lnSpc>
            </a:pPr>
            <a:r>
              <a:rPr lang="en-US" sz="2620">
                <a:solidFill>
                  <a:srgbClr val="00BF63"/>
                </a:solidFill>
                <a:latin typeface="Open Sauce"/>
                <a:ea typeface="Open Sauce"/>
                <a:cs typeface="Open Sauce"/>
                <a:sym typeface="Open Sauce"/>
              </a:rPr>
              <a:t># Tạo mask từ contour (</a:t>
            </a:r>
          </a:p>
          <a:p>
            <a:pPr algn="l">
              <a:lnSpc>
                <a:spcPts val="4192"/>
              </a:lnSpc>
            </a:pPr>
            <a:r>
              <a:rPr lang="en-US" sz="2620">
                <a:solidFill>
                  <a:srgbClr val="00BF63"/>
                </a:solidFill>
                <a:latin typeface="Open Sauce"/>
                <a:ea typeface="Open Sauce"/>
                <a:cs typeface="Open Sauce"/>
                <a:sym typeface="Open Sauce"/>
              </a:rPr>
              <a:t> </a:t>
            </a:r>
            <a:r>
              <a:rPr lang="en-US" sz="2620">
                <a:solidFill>
                  <a:srgbClr val="000000"/>
                </a:solidFill>
                <a:latin typeface="Open Sauce"/>
                <a:ea typeface="Open Sauce"/>
                <a:cs typeface="Open Sauce"/>
                <a:sym typeface="Open Sauce"/>
              </a:rPr>
              <a:t> mask = np.zeros_like(gray_roi)</a:t>
            </a:r>
          </a:p>
          <a:p>
            <a:pPr algn="l">
              <a:lnSpc>
                <a:spcPts val="4192"/>
              </a:lnSpc>
              <a:spcBef>
                <a:spcPct val="0"/>
              </a:spcBef>
            </a:pPr>
            <a:r>
              <a:rPr lang="en-US" sz="2620">
                <a:solidFill>
                  <a:srgbClr val="000000"/>
                </a:solidFill>
                <a:latin typeface="Open Sauce"/>
                <a:ea typeface="Open Sauce"/>
                <a:cs typeface="Open Sauce"/>
                <a:sym typeface="Open Sauce"/>
              </a:rPr>
              <a:t>  cv2.drawContours(mask, [largest_contour], -1, 255, thickness=-1)</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Mở rộng mask về kích thước ảnh gốc</a:t>
            </a:r>
          </a:p>
          <a:p>
            <a:pPr algn="l">
              <a:lnSpc>
                <a:spcPts val="4192"/>
              </a:lnSpc>
              <a:spcBef>
                <a:spcPct val="0"/>
              </a:spcBef>
            </a:pPr>
            <a:r>
              <a:rPr lang="en-US" sz="2620">
                <a:solidFill>
                  <a:srgbClr val="000000"/>
                </a:solidFill>
                <a:latin typeface="Open Sauce"/>
                <a:ea typeface="Open Sauce"/>
                <a:cs typeface="Open Sauce"/>
                <a:sym typeface="Open Sauce"/>
              </a:rPr>
              <a:t>  full_mask = np.zeros(image.shape[:2], np.uint8)</a:t>
            </a:r>
          </a:p>
          <a:p>
            <a:pPr algn="l">
              <a:lnSpc>
                <a:spcPts val="4192"/>
              </a:lnSpc>
              <a:spcBef>
                <a:spcPct val="0"/>
              </a:spcBef>
            </a:pPr>
            <a:r>
              <a:rPr lang="en-US" sz="2620">
                <a:solidFill>
                  <a:srgbClr val="000000"/>
                </a:solidFill>
                <a:latin typeface="Open Sauce"/>
                <a:ea typeface="Open Sauce"/>
                <a:cs typeface="Open Sauce"/>
                <a:sym typeface="Open Sauce"/>
              </a:rPr>
              <a:t>  full_mask[roi[1]:roi[1]+roi[3], roi[0]:roi[0]+roi[2]] = mask</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Áp dụng mask lên ảnh gốc</a:t>
            </a:r>
          </a:p>
          <a:p>
            <a:pPr algn="l">
              <a:lnSpc>
                <a:spcPts val="4192"/>
              </a:lnSpc>
              <a:spcBef>
                <a:spcPct val="0"/>
              </a:spcBef>
            </a:pPr>
            <a:r>
              <a:rPr lang="en-US" sz="2620">
                <a:solidFill>
                  <a:srgbClr val="000000"/>
                </a:solidFill>
                <a:latin typeface="Open Sauce"/>
                <a:ea typeface="Open Sauce"/>
                <a:cs typeface="Open Sauce"/>
                <a:sym typeface="Open Sauce"/>
              </a:rPr>
              <a:t>  result = image * (full_mask[:, :, np.newaxis] // 255)</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BF63"/>
                </a:solidFill>
                <a:latin typeface="Open Sauce"/>
                <a:ea typeface="Open Sauce"/>
                <a:cs typeface="Open Sauce"/>
                <a:sym typeface="Open Sauce"/>
              </a:rPr>
              <a:t>  # Vẽ viền contour lên ảnh kết quả (viền màu xanh lá)</a:t>
            </a:r>
          </a:p>
          <a:p>
            <a:pPr algn="l">
              <a:lnSpc>
                <a:spcPts val="4192"/>
              </a:lnSpc>
              <a:spcBef>
                <a:spcPct val="0"/>
              </a:spcBef>
            </a:pPr>
            <a:r>
              <a:rPr lang="en-US" sz="2620">
                <a:solidFill>
                  <a:srgbClr val="000000"/>
                </a:solidFill>
                <a:latin typeface="Open Sauce"/>
                <a:ea typeface="Open Sauce"/>
                <a:cs typeface="Open Sauce"/>
                <a:sym typeface="Open Sauce"/>
              </a:rPr>
              <a:t>  cv2.drawContours(result, [largest_contour + np.array([roi[0], roi[1]])], -1, (0, 255, 0), 2)</a:t>
            </a:r>
          </a:p>
          <a:p>
            <a:pPr algn="l">
              <a:lnSpc>
                <a:spcPts val="4192"/>
              </a:lnSpc>
              <a:spcBef>
                <a:spcPct val="0"/>
              </a:spcBef>
            </a:pPr>
            <a:r>
              <a:rPr lang="en-US" sz="2620">
                <a:solidFill>
                  <a:srgbClr val="000000"/>
                </a:solidFill>
                <a:latin typeface="Open Sauce"/>
                <a:ea typeface="Open Sauce"/>
                <a:cs typeface="Open Sauce"/>
                <a:sym typeface="Open Sauce"/>
              </a:rPr>
              <a:t>  return result, full_mask</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Tree>
    <p:extLst>
      <p:ext uri="{BB962C8B-B14F-4D97-AF65-F5344CB8AC3E}">
        <p14:creationId xmlns:p14="http://schemas.microsoft.com/office/powerpoint/2010/main" val="610283773"/>
      </p:ext>
    </p:extLst>
  </p:cSld>
  <p:clrMapOvr>
    <a:masterClrMapping/>
  </p:clrMapOvr>
  <p:transition/>
  <p:timing/>
</p:sld>
</file>

<file path=ppt/slides/slide5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3810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469896" y="1712339"/>
            <a:ext cx="9860435" cy="8110453"/>
          </a:xfrm>
          <a:prstGeom prst="rect">
            <a:avLst/>
          </a:prstGeom>
        </p:spPr>
        <p:txBody>
          <a:bodyPr lIns="0" tIns="0" rIns="0" bIns="0" rtlCol="0" anchor="t">
            <a:spAutoFit/>
          </a:bodyPr>
          <a:lstStyle/>
          <a:p>
            <a:pPr algn="l">
              <a:lnSpc>
                <a:spcPts val="4192"/>
              </a:lnSpc>
              <a:spcBef>
                <a:spcPct val="0"/>
              </a:spcBef>
            </a:pPr>
            <a:r>
              <a:rPr lang="en-US" sz="2620">
                <a:solidFill>
                  <a:srgbClr val="00BF63"/>
                </a:solidFill>
                <a:latin typeface="Open Sauce"/>
                <a:ea typeface="Open Sauce"/>
                <a:cs typeface="Open Sauce"/>
                <a:sym typeface="Open Sauce"/>
              </a:rPr>
              <a:t># Phát hiện khuôn mặt bằng Haar cascades</a:t>
            </a:r>
          </a:p>
          <a:p>
            <a:pPr algn="l">
              <a:lnSpc>
                <a:spcPts val="4192"/>
              </a:lnSpc>
              <a:spcBef>
                <a:spcPct val="0"/>
              </a:spcBef>
            </a:pPr>
            <a:r>
              <a:rPr lang="en-US" sz="2620" err="1">
                <a:solidFill>
                  <a:srgbClr val="000000"/>
                </a:solidFill>
                <a:latin typeface="Open Sauce"/>
                <a:ea typeface="Open Sauce"/>
                <a:cs typeface="Open Sauce"/>
                <a:sym typeface="Open Sauce"/>
              </a:rPr>
              <a:t>face_cascade = cv2.CascadeClassifier(cv2.data.haarcascades + 'haarcascade_frontalface_default.xml')</a:t>
            </a:r>
          </a:p>
          <a:p>
            <a:pPr algn="l">
              <a:lnSpc>
                <a:spcPts val="4192"/>
              </a:lnSpc>
              <a:spcBef>
                <a:spcPct val="0"/>
              </a:spcBef>
            </a:pPr>
            <a:r>
              <a:rPr lang="en-US" sz="2620">
                <a:solidFill>
                  <a:srgbClr val="000000"/>
                </a:solidFill>
                <a:latin typeface="Open Sauce"/>
                <a:ea typeface="Open Sauce"/>
                <a:cs typeface="Open Sauce"/>
                <a:sym typeface="Open Sauce"/>
              </a:rPr>
              <a:t>gray = cv2.cvtColor(image, cv2.COLOR_BGR2GRAY)</a:t>
            </a:r>
          </a:p>
          <a:p>
            <a:pPr algn="l">
              <a:lnSpc>
                <a:spcPts val="4192"/>
              </a:lnSpc>
              <a:spcBef>
                <a:spcPct val="0"/>
              </a:spcBef>
            </a:pPr>
            <a:r>
              <a:rPr lang="en-US" sz="2620">
                <a:solidFill>
                  <a:srgbClr val="000000"/>
                </a:solidFill>
                <a:latin typeface="Open Sauce"/>
                <a:ea typeface="Open Sauce"/>
                <a:cs typeface="Open Sauce"/>
                <a:sym typeface="Open Sauce"/>
              </a:rPr>
              <a:t>faces = face_cascade.detectMultiScale(gray, scaleFactor=1.1, minNeighbors=5, minSize=(30, 30))</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a:solidFill>
                  <a:srgbClr val="000000"/>
                </a:solidFill>
                <a:latin typeface="Open Sauce"/>
                <a:ea typeface="Open Sauce"/>
                <a:cs typeface="Open Sauce"/>
                <a:sym typeface="Open Sauce"/>
              </a:rPr>
              <a:t>x, y, w, h = faces[0]</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err="1">
                <a:solidFill>
                  <a:srgbClr val="000000"/>
                </a:solidFill>
                <a:latin typeface="Open Sauce"/>
                <a:ea typeface="Open Sauce"/>
                <a:cs typeface="Open Sauce"/>
                <a:sym typeface="Open Sauce"/>
              </a:rPr>
              <a:t>roi_x = max(0, x - w // 2)</a:t>
            </a:r>
          </a:p>
          <a:p>
            <a:pPr algn="l">
              <a:lnSpc>
                <a:spcPts val="4192"/>
              </a:lnSpc>
              <a:spcBef>
                <a:spcPct val="0"/>
              </a:spcBef>
            </a:pPr>
            <a:r>
              <a:rPr lang="en-US" sz="2620" err="1">
                <a:solidFill>
                  <a:srgbClr val="000000"/>
                </a:solidFill>
                <a:latin typeface="Open Sauce"/>
                <a:ea typeface="Open Sauce"/>
                <a:cs typeface="Open Sauce"/>
                <a:sym typeface="Open Sauce"/>
              </a:rPr>
              <a:t>roi_y = max(0, y - h // 2)</a:t>
            </a:r>
          </a:p>
          <a:p>
            <a:pPr algn="l">
              <a:lnSpc>
                <a:spcPts val="4192"/>
              </a:lnSpc>
              <a:spcBef>
                <a:spcPct val="0"/>
              </a:spcBef>
            </a:pPr>
            <a:r>
              <a:rPr lang="en-US" sz="2620" err="1">
                <a:solidFill>
                  <a:srgbClr val="000000"/>
                </a:solidFill>
                <a:latin typeface="Open Sauce"/>
                <a:ea typeface="Open Sauce"/>
                <a:cs typeface="Open Sauce"/>
                <a:sym typeface="Open Sauce"/>
              </a:rPr>
              <a:t>roi_w = min(image.shape[1] - roi_x, w * 2)</a:t>
            </a:r>
          </a:p>
          <a:p>
            <a:pPr algn="l">
              <a:lnSpc>
                <a:spcPts val="4192"/>
              </a:lnSpc>
              <a:spcBef>
                <a:spcPct val="0"/>
              </a:spcBef>
            </a:pPr>
            <a:r>
              <a:rPr lang="en-US" sz="2620" err="1">
                <a:solidFill>
                  <a:srgbClr val="000000"/>
                </a:solidFill>
                <a:latin typeface="Open Sauce"/>
                <a:ea typeface="Open Sauce"/>
                <a:cs typeface="Open Sauce"/>
                <a:sym typeface="Open Sauce"/>
              </a:rPr>
              <a:t>roi_h = min(image.shape[0] - roi_y, h * 15)</a:t>
            </a:r>
          </a:p>
          <a:p>
            <a:pPr algn="l">
              <a:lnSpc>
                <a:spcPts val="4192"/>
              </a:lnSpc>
              <a:spcBef>
                <a:spcPct val="0"/>
              </a:spcBef>
            </a:pPr>
            <a:r>
              <a:rPr lang="en-US" sz="2620" err="1">
                <a:solidFill>
                  <a:srgbClr val="000000"/>
                </a:solidFill>
                <a:latin typeface="Open Sauce"/>
                <a:ea typeface="Open Sauce"/>
                <a:cs typeface="Open Sauce"/>
                <a:sym typeface="Open Sauce"/>
              </a:rPr>
              <a:t>roi = (roi_x, roi_y, roi_w, roi_h)</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Tree>
  </p:cSld>
  <p:clrMapOvr>
    <a:masterClrMapping/>
  </p:clrMapOvr>
  <p:transition/>
  <p:timing/>
</p:sld>
</file>

<file path=ppt/slides/slide5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479555" y="2793429"/>
            <a:ext cx="17328890" cy="6151756"/>
          </a:xfrm>
          <a:custGeom>
            <a:rect l="l" t="t" r="r" b="b"/>
            <a:pathLst>
              <a:path w="17328889" h="6151756">
                <a:moveTo>
                  <a:pt x="0" y="0"/>
                </a:moveTo>
                <a:lnTo>
                  <a:pt x="17328890" y="0"/>
                </a:lnTo>
                <a:lnTo>
                  <a:pt x="17328890" y="6151756"/>
                </a:lnTo>
                <a:lnTo>
                  <a:pt x="0" y="615175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5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1231896" y="2248489"/>
            <a:ext cx="17056105" cy="7304179"/>
          </a:xfrm>
          <a:prstGeom prst="rect">
            <a:avLst/>
          </a:prstGeom>
        </p:spPr>
        <p:txBody>
          <a:bodyPr wrap="square" lIns="0" tIns="0" rIns="0" bIns="0" rtlCol="0" anchor="t">
            <a:spAutoFit/>
          </a:bodyPr>
          <a:lstStyle/>
          <a:p>
            <a:pPr algn="l">
              <a:lnSpc>
                <a:spcPts val="4192"/>
              </a:lnSpc>
              <a:spcBef>
                <a:spcPct val="0"/>
              </a:spcBef>
            </a:pPr>
            <a:r>
              <a:rPr lang="en-US" sz="3400" err="1">
                <a:solidFill>
                  <a:srgbClr val="000000"/>
                </a:solidFill>
                <a:latin typeface="Open Sauce"/>
                <a:ea typeface="Open Sauce"/>
                <a:cs typeface="Open Sauce"/>
                <a:sym typeface="Open Sauce"/>
              </a:rPr>
              <a:t>gray_d= cv2.cvtColor(imgd, cv2.COLOR_BGR2GRAY)</a:t>
            </a:r>
          </a:p>
          <a:p>
            <a:pPr algn="l">
              <a:lnSpc>
                <a:spcPts val="4192"/>
              </a:lnSpc>
              <a:spcBef>
                <a:spcPct val="0"/>
              </a:spcBef>
            </a:pPr>
            <a:r>
              <a:rPr lang="en-US" sz="3400" err="1">
                <a:solidFill>
                  <a:srgbClr val="000000"/>
                </a:solidFill>
                <a:latin typeface="Open Sauce"/>
                <a:ea typeface="Open Sauce"/>
                <a:cs typeface="Open Sauce"/>
                <a:sym typeface="Open Sauce"/>
              </a:rPr>
              <a:t>gray_d</a:t>
            </a:r>
            <a:endParaRPr lang="en-US" sz="3400">
              <a:solidFill>
                <a:srgbClr val="000000"/>
              </a:solidFill>
              <a:latin typeface="Open Sauce"/>
              <a:ea typeface="Open Sauce"/>
              <a:cs typeface="Open Sauce"/>
              <a:sym typeface="Open Sauce"/>
            </a:endParaRPr>
          </a:p>
          <a:p>
            <a:pPr algn="l">
              <a:lnSpc>
                <a:spcPts val="4192"/>
              </a:lnSpc>
              <a:spcBef>
                <a:spcPct val="0"/>
              </a:spcBef>
            </a:pPr>
            <a:r>
              <a:rPr lang="en-US" sz="3400">
                <a:solidFill>
                  <a:srgbClr val="000000"/>
                </a:solidFill>
                <a:latin typeface="Open Sauce"/>
                <a:ea typeface="Open Sauce"/>
                <a:cs typeface="Open Sauce"/>
                <a:sym typeface="Open Sauce"/>
              </a:rPr>
              <a:t>blur= cv2.GaussianBlur(gray_d, (9,9), 0)</a:t>
            </a:r>
          </a:p>
          <a:p>
            <a:pPr algn="l">
              <a:lnSpc>
                <a:spcPts val="4192"/>
              </a:lnSpc>
              <a:spcBef>
                <a:spcPct val="0"/>
              </a:spcBef>
            </a:pPr>
            <a:r>
              <a:rPr lang="en-US" sz="3400">
                <a:solidFill>
                  <a:srgbClr val="000000"/>
                </a:solidFill>
                <a:latin typeface="Open Sauce"/>
                <a:ea typeface="Open Sauce"/>
                <a:cs typeface="Open Sauce"/>
                <a:sym typeface="Open Sauce"/>
              </a:rPr>
              <a:t>blur</a:t>
            </a:r>
          </a:p>
          <a:p>
            <a:pPr algn="l">
              <a:lnSpc>
                <a:spcPts val="4192"/>
              </a:lnSpc>
              <a:spcBef>
                <a:spcPct val="0"/>
              </a:spcBef>
            </a:pPr>
            <a:r>
              <a:rPr lang="en-US" sz="3400">
                <a:solidFill>
                  <a:srgbClr val="000000"/>
                </a:solidFill>
                <a:latin typeface="Open Sauce"/>
                <a:ea typeface="Open Sauce"/>
                <a:cs typeface="Open Sauce"/>
                <a:sym typeface="Open Sauce"/>
              </a:rPr>
              <a:t>bd = cv2.adaptiveThreshold(blur, 255, cv2.ADAPTIVE_THRESH_GAUSSIAN_C, cv2.THRESH_BINARY, 11, 2)</a:t>
            </a:r>
          </a:p>
          <a:p>
            <a:pPr algn="l">
              <a:lnSpc>
                <a:spcPts val="4192"/>
              </a:lnSpc>
              <a:spcBef>
                <a:spcPct val="0"/>
              </a:spcBef>
            </a:pPr>
            <a:r>
              <a:rPr lang="en-US" sz="3400">
                <a:solidFill>
                  <a:srgbClr val="00BF63"/>
                </a:solidFill>
                <a:latin typeface="Open Sauce"/>
                <a:ea typeface="Open Sauce"/>
                <a:cs typeface="Open Sauce"/>
                <a:sym typeface="Open Sauce"/>
              </a:rPr>
              <a:t># plt.imshow(bd, cmap='gray')</a:t>
            </a:r>
          </a:p>
          <a:p>
            <a:pPr algn="l">
              <a:lnSpc>
                <a:spcPts val="4192"/>
              </a:lnSpc>
              <a:spcBef>
                <a:spcPct val="0"/>
              </a:spcBef>
            </a:pPr>
            <a:r>
              <a:rPr lang="en-US" sz="3400">
                <a:solidFill>
                  <a:srgbClr val="000000"/>
                </a:solidFill>
                <a:latin typeface="Open Sauce"/>
                <a:ea typeface="Open Sauce"/>
                <a:cs typeface="Open Sauce"/>
                <a:sym typeface="Open Sauce"/>
              </a:rPr>
              <a:t>bd</a:t>
            </a:r>
          </a:p>
          <a:p>
            <a:pPr algn="l">
              <a:lnSpc>
                <a:spcPts val="4192"/>
              </a:lnSpc>
              <a:spcBef>
                <a:spcPct val="0"/>
              </a:spcBef>
            </a:pPr>
            <a:r>
              <a:rPr lang="en-US" sz="3400">
                <a:solidFill>
                  <a:srgbClr val="000000"/>
                </a:solidFill>
                <a:latin typeface="Open Sauce"/>
                <a:ea typeface="Open Sauce"/>
                <a:cs typeface="Open Sauce"/>
                <a:sym typeface="Open Sauce"/>
              </a:rPr>
              <a:t>contours, _ = cv2.findContours(bd, cv2.RETR_EXTERNAL, cv2.CHAIN_APPROX_SIMPLE)</a:t>
            </a:r>
          </a:p>
          <a:p>
            <a:pPr algn="l">
              <a:lnSpc>
                <a:spcPts val="4192"/>
              </a:lnSpc>
              <a:spcBef>
                <a:spcPct val="0"/>
              </a:spcBef>
            </a:pPr>
            <a:r>
              <a:rPr lang="en-US" sz="3400">
                <a:solidFill>
                  <a:srgbClr val="00BF63"/>
                </a:solidFill>
                <a:latin typeface="Open Sauce"/>
                <a:ea typeface="Open Sauce"/>
                <a:cs typeface="Open Sauce"/>
                <a:sym typeface="Open Sauce"/>
              </a:rPr>
              <a:t>  # 4. Vẽ contour lên ảnh gốc</a:t>
            </a:r>
            <a:endParaRPr lang="en-US" sz="3400">
              <a:solidFill>
                <a:srgbClr val="00BF63"/>
              </a:solidFill>
              <a:latin typeface="Open Sauce"/>
              <a:ea typeface="Open Sauce"/>
              <a:cs typeface="Open Sauce"/>
              <a:sym typeface="Open Sauce"/>
            </a:endParaRPr>
          </a:p>
          <a:p>
            <a:pPr algn="l">
              <a:lnSpc>
                <a:spcPts val="4192"/>
              </a:lnSpc>
              <a:spcBef>
                <a:spcPct val="0"/>
              </a:spcBef>
            </a:pPr>
            <a:r>
              <a:rPr lang="en-US" sz="3400" err="1">
                <a:solidFill>
                  <a:srgbClr val="000000"/>
                </a:solidFill>
                <a:latin typeface="Open Sauce"/>
                <a:ea typeface="Open Sauce"/>
                <a:cs typeface="Open Sauce"/>
                <a:sym typeface="Open Sauce"/>
              </a:rPr>
              <a:t>anh_ket_qua = imgd.copy()</a:t>
            </a:r>
          </a:p>
          <a:p>
            <a:pPr algn="l">
              <a:lnSpc>
                <a:spcPts val="4192"/>
              </a:lnSpc>
              <a:spcBef>
                <a:spcPct val="0"/>
              </a:spcBef>
            </a:pPr>
            <a:r>
              <a:rPr lang="en-US" sz="3400">
                <a:solidFill>
                  <a:srgbClr val="000000"/>
                </a:solidFill>
                <a:latin typeface="Open Sauce"/>
                <a:ea typeface="Open Sauce"/>
                <a:cs typeface="Open Sauce"/>
                <a:sym typeface="Open Sauce"/>
              </a:rPr>
              <a:t>cv2.drawContours(anh_ket_qua, contours, -1, (0, 255, 0), 1)</a:t>
            </a:r>
          </a:p>
          <a:p>
            <a:pPr algn="just">
              <a:lnSpc>
                <a:spcPts val="2112"/>
              </a:lnSpc>
              <a:spcBef>
                <a:spcPct val="0"/>
              </a:spcBef>
            </a:pPr>
            <a:endParaRPr lang="en-US" sz="3400">
              <a:solidFill>
                <a:srgbClr val="000000"/>
              </a:solidFill>
              <a:latin typeface="Open Sauce"/>
              <a:ea typeface="Open Sauce"/>
              <a:cs typeface="Open Sauce"/>
              <a:sym typeface="Open Sauce"/>
            </a:endParaRPr>
          </a:p>
        </p:txBody>
      </p:sp>
    </p:spTree>
  </p:cSld>
  <p:clrMapOvr>
    <a:masterClrMapping/>
  </p:clrMapOvr>
  <p:transition/>
  <p:timing/>
</p:sld>
</file>

<file path=ppt/slides/slide6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4" name="TextBox 4"/>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
        <p:nvSpPr>
          <p:cNvPr id="5" name="TextBox 5"/>
          <p:cNvSpPr txBox="1"/>
          <p:nvPr/>
        </p:nvSpPr>
        <p:spPr>
          <a:xfrm>
            <a:off x="5867400" y="1730403"/>
            <a:ext cx="10883904" cy="8110453"/>
          </a:xfrm>
          <a:prstGeom prst="rect">
            <a:avLst/>
          </a:prstGeom>
        </p:spPr>
        <p:txBody>
          <a:bodyPr wrap="square" lIns="0" tIns="0" rIns="0" bIns="0" rtlCol="0" anchor="t">
            <a:spAutoFit/>
          </a:bodyPr>
          <a:lstStyle/>
          <a:p>
            <a:pPr algn="l">
              <a:lnSpc>
                <a:spcPts val="4192"/>
              </a:lnSpc>
              <a:spcBef>
                <a:spcPct val="0"/>
              </a:spcBef>
            </a:pPr>
            <a:r>
              <a:rPr lang="en-US" sz="2620" err="1">
                <a:solidFill>
                  <a:srgbClr val="000000"/>
                </a:solidFill>
                <a:latin typeface="Open Sauce"/>
                <a:ea typeface="Open Sauce"/>
                <a:cs typeface="Open Sauce"/>
                <a:sym typeface="Open Sauce"/>
              </a:rPr>
              <a:t>plt.figure(figsize=(12, 6))</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err="1">
                <a:solidFill>
                  <a:srgbClr val="000000"/>
                </a:solidFill>
                <a:latin typeface="Open Sauce"/>
                <a:ea typeface="Open Sauce"/>
                <a:cs typeface="Open Sauce"/>
                <a:sym typeface="Open Sauce"/>
              </a:rPr>
              <a:t>plt.subplot(1, 2, 1)</a:t>
            </a:r>
          </a:p>
          <a:p>
            <a:pPr algn="l">
              <a:lnSpc>
                <a:spcPts val="4192"/>
              </a:lnSpc>
              <a:spcBef>
                <a:spcPct val="0"/>
              </a:spcBef>
            </a:pPr>
            <a:r>
              <a:rPr lang="en-US" sz="2620" err="1">
                <a:solidFill>
                  <a:srgbClr val="000000"/>
                </a:solidFill>
                <a:latin typeface="Open Sauce"/>
                <a:ea typeface="Open Sauce"/>
                <a:cs typeface="Open Sauce"/>
                <a:sym typeface="Open Sauce"/>
              </a:rPr>
              <a:t>plt.imshow(cv2.cvtColor(imgd, cv2.COLOR_BGR2RGB))</a:t>
            </a:r>
          </a:p>
          <a:p>
            <a:pPr algn="l">
              <a:lnSpc>
                <a:spcPts val="4192"/>
              </a:lnSpc>
              <a:spcBef>
                <a:spcPct val="0"/>
              </a:spcBef>
            </a:pPr>
            <a:r>
              <a:rPr lang="en-US" sz="2620" err="1">
                <a:solidFill>
                  <a:srgbClr val="000000"/>
                </a:solidFill>
                <a:latin typeface="Open Sauce"/>
                <a:ea typeface="Open Sauce"/>
                <a:cs typeface="Open Sauce"/>
                <a:sym typeface="Open Sauce"/>
              </a:rPr>
              <a:t>plt.title(f"Ảnh gốc")</a:t>
            </a:r>
          </a:p>
          <a:p>
            <a:pPr algn="l">
              <a:lnSpc>
                <a:spcPts val="4192"/>
              </a:lnSpc>
              <a:spcBef>
                <a:spcPct val="0"/>
              </a:spcBef>
            </a:pPr>
            <a:r>
              <a:rPr lang="en-US" sz="2620" err="1">
                <a:solidFill>
                  <a:srgbClr val="000000"/>
                </a:solidFill>
                <a:latin typeface="Open Sauce"/>
                <a:ea typeface="Open Sauce"/>
                <a:cs typeface="Open Sauce"/>
                <a:sym typeface="Open Sauce"/>
              </a:rPr>
              <a:t>plt.axis('off')</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err="1">
                <a:solidFill>
                  <a:srgbClr val="000000"/>
                </a:solidFill>
                <a:latin typeface="Open Sauce"/>
                <a:ea typeface="Open Sauce"/>
                <a:cs typeface="Open Sauce"/>
                <a:sym typeface="Open Sauce"/>
              </a:rPr>
              <a:t>plt.subplot(1, 2, 2)</a:t>
            </a:r>
          </a:p>
          <a:p>
            <a:pPr algn="l">
              <a:lnSpc>
                <a:spcPts val="4192"/>
              </a:lnSpc>
              <a:spcBef>
                <a:spcPct val="0"/>
              </a:spcBef>
            </a:pPr>
            <a:r>
              <a:rPr lang="en-US" sz="2620" err="1">
                <a:solidFill>
                  <a:srgbClr val="000000"/>
                </a:solidFill>
                <a:latin typeface="Open Sauce"/>
                <a:ea typeface="Open Sauce"/>
                <a:cs typeface="Open Sauce"/>
                <a:sym typeface="Open Sauce"/>
              </a:rPr>
              <a:t>plt.imshow(cv2.cvtColor(anh_ket_qua, cv2.COLOR_BGR2RGB))</a:t>
            </a:r>
          </a:p>
          <a:p>
            <a:pPr algn="l">
              <a:lnSpc>
                <a:spcPts val="4192"/>
              </a:lnSpc>
              <a:spcBef>
                <a:spcPct val="0"/>
              </a:spcBef>
            </a:pPr>
            <a:r>
              <a:rPr lang="en-US" sz="2620" err="1">
                <a:solidFill>
                  <a:srgbClr val="000000"/>
                </a:solidFill>
                <a:latin typeface="Open Sauce"/>
                <a:ea typeface="Open Sauce"/>
                <a:cs typeface="Open Sauce"/>
                <a:sym typeface="Open Sauce"/>
              </a:rPr>
              <a:t>plt.title(f"Ảnh kết quả (Đếm: {len(contours)} quả)")</a:t>
            </a:r>
          </a:p>
          <a:p>
            <a:pPr algn="l">
              <a:lnSpc>
                <a:spcPts val="4192"/>
              </a:lnSpc>
              <a:spcBef>
                <a:spcPct val="0"/>
              </a:spcBef>
            </a:pPr>
            <a:r>
              <a:rPr lang="en-US" sz="2620" err="1">
                <a:solidFill>
                  <a:srgbClr val="000000"/>
                </a:solidFill>
                <a:latin typeface="Open Sauce"/>
                <a:ea typeface="Open Sauce"/>
                <a:cs typeface="Open Sauce"/>
                <a:sym typeface="Open Sauce"/>
              </a:rPr>
              <a:t>plt.axis('off')</a:t>
            </a:r>
          </a:p>
          <a:p>
            <a:pPr algn="l">
              <a:lnSpc>
                <a:spcPts val="4192"/>
              </a:lnSpc>
              <a:spcBef>
                <a:spcPct val="0"/>
              </a:spcBef>
            </a:pPr>
            <a:endParaRPr lang="en-US" sz="2620">
              <a:solidFill>
                <a:srgbClr val="000000"/>
              </a:solidFill>
              <a:latin typeface="Open Sauce"/>
              <a:ea typeface="Open Sauce"/>
              <a:cs typeface="Open Sauce"/>
              <a:sym typeface="Open Sauce"/>
            </a:endParaRPr>
          </a:p>
          <a:p>
            <a:pPr algn="l">
              <a:lnSpc>
                <a:spcPts val="4192"/>
              </a:lnSpc>
              <a:spcBef>
                <a:spcPct val="0"/>
              </a:spcBef>
            </a:pPr>
            <a:r>
              <a:rPr lang="en-US" sz="2620" err="1">
                <a:solidFill>
                  <a:srgbClr val="000000"/>
                </a:solidFill>
                <a:latin typeface="Open Sauce"/>
                <a:ea typeface="Open Sauce"/>
                <a:cs typeface="Open Sauce"/>
                <a:sym typeface="Open Sauce"/>
              </a:rPr>
              <a:t>plt.tight_layout()</a:t>
            </a:r>
          </a:p>
          <a:p>
            <a:pPr algn="l">
              <a:lnSpc>
                <a:spcPts val="4192"/>
              </a:lnSpc>
              <a:spcBef>
                <a:spcPct val="0"/>
              </a:spcBef>
            </a:pPr>
            <a:r>
              <a:rPr lang="en-US" sz="2620" err="1">
                <a:solidFill>
                  <a:srgbClr val="000000"/>
                </a:solidFill>
                <a:latin typeface="Open Sauce"/>
                <a:ea typeface="Open Sauce"/>
                <a:cs typeface="Open Sauce"/>
                <a:sym typeface="Open Sauce"/>
              </a:rPr>
              <a:t>plt.show()</a:t>
            </a:r>
          </a:p>
          <a:p>
            <a:pPr algn="just">
              <a:lnSpc>
                <a:spcPts val="2112"/>
              </a:lnSpc>
              <a:spcBef>
                <a:spcPct val="0"/>
              </a:spcBef>
            </a:pPr>
            <a:endParaRPr lang="en-US" sz="2620">
              <a:solidFill>
                <a:srgbClr val="000000"/>
              </a:solidFill>
              <a:latin typeface="Open Sauce"/>
              <a:ea typeface="Open Sauce"/>
              <a:cs typeface="Open Sauce"/>
              <a:sym typeface="Open Sauce"/>
            </a:endParaRPr>
          </a:p>
        </p:txBody>
      </p:sp>
    </p:spTree>
  </p:cSld>
  <p:clrMapOvr>
    <a:masterClrMapping/>
  </p:clrMapOvr>
  <p:transition/>
  <p:timing/>
</p:sld>
</file>

<file path=ppt/slides/slide6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261812" y="1942347"/>
            <a:ext cx="13764375" cy="8344653"/>
          </a:xfrm>
          <a:custGeom>
            <a:rect l="l" t="t" r="r" b="b"/>
            <a:pathLst>
              <a:path w="13764375" h="8344652">
                <a:moveTo>
                  <a:pt x="0" y="0"/>
                </a:moveTo>
                <a:lnTo>
                  <a:pt x="13764376" y="0"/>
                </a:lnTo>
                <a:lnTo>
                  <a:pt x="13764376" y="8344653"/>
                </a:lnTo>
                <a:lnTo>
                  <a:pt x="0" y="834465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5" name="TextBox 5"/>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Cài đặt &amp; Minh hoạ</a:t>
            </a:r>
          </a:p>
        </p:txBody>
      </p:sp>
    </p:spTree>
  </p:cSld>
  <p:clrMapOvr>
    <a:masterClrMapping/>
  </p:clrMapOvr>
  <p:transition/>
  <p:timing/>
</p:sld>
</file>

<file path=ppt/slides/slide6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grpSp>
        <p:nvGrpSpPr>
          <p:cNvPr id="3" name="Group 3"/>
          <p:cNvGrpSpPr/>
          <p:nvPr/>
        </p:nvGrpSpPr>
        <p:grpSpPr>
          <a:xfrm>
            <a:off x="469896" y="1779639"/>
            <a:ext cx="17386498" cy="3163836"/>
            <a:chExt cx="2047732" cy="372628"/>
          </a:xfrm>
        </p:grpSpPr>
        <p:sp>
          <p:nvSpPr>
            <p:cNvPr id="4" name="Freeform 4"/>
            <p:cNvSpPr/>
            <p:nvPr/>
          </p:nvSpPr>
          <p:spPr>
            <a:xfrm>
              <a:off x="0" y="0"/>
              <a:ext cx="2047732" cy="372628"/>
            </a:xfrm>
            <a:custGeom>
              <a:rect l="l" t="t" r="r" b="b"/>
              <a:pathLst>
                <a:path w="2047732" h="372628">
                  <a:moveTo>
                    <a:pt x="8697" y="0"/>
                  </a:moveTo>
                  <a:lnTo>
                    <a:pt x="2039035" y="0"/>
                  </a:lnTo>
                  <a:cubicBezTo>
                    <a:pt x="2041342" y="0"/>
                    <a:pt x="2043554" y="916"/>
                    <a:pt x="2045185" y="2547"/>
                  </a:cubicBezTo>
                  <a:cubicBezTo>
                    <a:pt x="2046816" y="4178"/>
                    <a:pt x="2047732" y="6390"/>
                    <a:pt x="2047732" y="8697"/>
                  </a:cubicBezTo>
                  <a:lnTo>
                    <a:pt x="2047732" y="363931"/>
                  </a:lnTo>
                  <a:cubicBezTo>
                    <a:pt x="2047732" y="366237"/>
                    <a:pt x="2046816" y="368449"/>
                    <a:pt x="2045185" y="370080"/>
                  </a:cubicBezTo>
                  <a:cubicBezTo>
                    <a:pt x="2043554" y="371711"/>
                    <a:pt x="2041342" y="372628"/>
                    <a:pt x="2039035" y="372628"/>
                  </a:cubicBezTo>
                  <a:lnTo>
                    <a:pt x="8697" y="372628"/>
                  </a:lnTo>
                  <a:cubicBezTo>
                    <a:pt x="6390" y="372628"/>
                    <a:pt x="4178" y="371711"/>
                    <a:pt x="2547" y="370080"/>
                  </a:cubicBezTo>
                  <a:cubicBezTo>
                    <a:pt x="916" y="368449"/>
                    <a:pt x="0" y="366237"/>
                    <a:pt x="0" y="363931"/>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5" name="TextBox 5"/>
            <p:cNvSpPr txBox="1"/>
            <p:nvPr/>
          </p:nvSpPr>
          <p:spPr>
            <a:xfrm>
              <a:off x="0" y="-38100"/>
              <a:ext cx="2047732" cy="410728"/>
            </a:xfrm>
            <a:prstGeom prst="rect">
              <a:avLst/>
            </a:prstGeom>
          </p:spPr>
          <p:txBody>
            <a:bodyPr lIns="50800" tIns="50800" rIns="50800" bIns="50800" rtlCol="0" anchor="ctr"/>
            <a:lstStyle/>
            <a:p>
              <a:pPr algn="l">
                <a:lnSpc>
                  <a:spcPts val="2239"/>
                </a:lnSpc>
              </a:pPr>
              <a:endParaRPr/>
            </a:p>
          </p:txBody>
        </p:sp>
      </p:gr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7" name="TextBox 7"/>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6. Kết quả &amp; Đánh giá </a:t>
            </a:r>
          </a:p>
        </p:txBody>
      </p:sp>
      <p:sp>
        <p:nvSpPr>
          <p:cNvPr id="8" name="TextBox 8"/>
          <p:cNvSpPr txBox="1"/>
          <p:nvPr/>
        </p:nvSpPr>
        <p:spPr>
          <a:xfrm>
            <a:off x="9322683" y="422909"/>
            <a:ext cx="7175464" cy="114490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Literata Bold"/>
                <a:ea typeface="Literata Bold"/>
                <a:cs typeface="Literata Bold"/>
                <a:sym typeface="Literata Bold"/>
              </a:rPr>
              <a:t>PHÂN ĐOẠN ẢNH DỰA TRÊN NGƯỠNG – THRESHOLDING</a:t>
            </a:r>
          </a:p>
        </p:txBody>
      </p:sp>
      <p:grpSp>
        <p:nvGrpSpPr>
          <p:cNvPr id="9" name="Group 9"/>
          <p:cNvGrpSpPr/>
          <p:nvPr/>
        </p:nvGrpSpPr>
        <p:grpSpPr>
          <a:xfrm>
            <a:off x="450751" y="6366617"/>
            <a:ext cx="17386498" cy="3634496"/>
            <a:chExt cx="2047732" cy="428061"/>
          </a:xfrm>
        </p:grpSpPr>
        <p:sp>
          <p:nvSpPr>
            <p:cNvPr id="10" name="Freeform 10"/>
            <p:cNvSpPr/>
            <p:nvPr/>
          </p:nvSpPr>
          <p:spPr>
            <a:xfrm>
              <a:off x="0" y="0"/>
              <a:ext cx="2047732" cy="428061"/>
            </a:xfrm>
            <a:custGeom>
              <a:rect l="l" t="t" r="r" b="b"/>
              <a:pathLst>
                <a:path w="2047732" h="428061">
                  <a:moveTo>
                    <a:pt x="8697" y="0"/>
                  </a:moveTo>
                  <a:lnTo>
                    <a:pt x="2039035" y="0"/>
                  </a:lnTo>
                  <a:cubicBezTo>
                    <a:pt x="2041342" y="0"/>
                    <a:pt x="2043554" y="916"/>
                    <a:pt x="2045185" y="2547"/>
                  </a:cubicBezTo>
                  <a:cubicBezTo>
                    <a:pt x="2046816" y="4178"/>
                    <a:pt x="2047732" y="6390"/>
                    <a:pt x="2047732" y="8697"/>
                  </a:cubicBezTo>
                  <a:lnTo>
                    <a:pt x="2047732" y="419364"/>
                  </a:lnTo>
                  <a:cubicBezTo>
                    <a:pt x="2047732" y="421670"/>
                    <a:pt x="2046816" y="423882"/>
                    <a:pt x="2045185" y="425513"/>
                  </a:cubicBezTo>
                  <a:cubicBezTo>
                    <a:pt x="2043554" y="427144"/>
                    <a:pt x="2041342" y="428061"/>
                    <a:pt x="2039035" y="428061"/>
                  </a:cubicBezTo>
                  <a:lnTo>
                    <a:pt x="8697" y="428061"/>
                  </a:lnTo>
                  <a:cubicBezTo>
                    <a:pt x="6390" y="428061"/>
                    <a:pt x="4178" y="427144"/>
                    <a:pt x="2547" y="425513"/>
                  </a:cubicBezTo>
                  <a:cubicBezTo>
                    <a:pt x="916" y="423882"/>
                    <a:pt x="0" y="421670"/>
                    <a:pt x="0" y="419364"/>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1" name="TextBox 11"/>
            <p:cNvSpPr txBox="1"/>
            <p:nvPr/>
          </p:nvSpPr>
          <p:spPr>
            <a:xfrm>
              <a:off x="0" y="-38100"/>
              <a:ext cx="2047732" cy="466161"/>
            </a:xfrm>
            <a:prstGeom prst="rect">
              <a:avLst/>
            </a:prstGeom>
          </p:spPr>
          <p:txBody>
            <a:bodyPr lIns="50800" tIns="50800" rIns="50800" bIns="50800" rtlCol="0" anchor="ctr"/>
            <a:lstStyle/>
            <a:p>
              <a:pPr algn="l">
                <a:lnSpc>
                  <a:spcPts val="2239"/>
                </a:lnSpc>
              </a:pPr>
              <a:endParaRPr/>
            </a:p>
          </p:txBody>
        </p:sp>
      </p:grpSp>
      <p:grpSp>
        <p:nvGrpSpPr>
          <p:cNvPr id="12" name="Group 12"/>
          <p:cNvGrpSpPr/>
          <p:nvPr/>
        </p:nvGrpSpPr>
        <p:grpSpPr>
          <a:xfrm>
            <a:off x="450751" y="5069516"/>
            <a:ext cx="17386498" cy="1154351"/>
            <a:chExt cx="2047732" cy="135956"/>
          </a:xfrm>
        </p:grpSpPr>
        <p:sp>
          <p:nvSpPr>
            <p:cNvPr id="13" name="Freeform 13"/>
            <p:cNvSpPr/>
            <p:nvPr/>
          </p:nvSpPr>
          <p:spPr>
            <a:xfrm>
              <a:off x="0" y="0"/>
              <a:ext cx="2047732" cy="135956"/>
            </a:xfrm>
            <a:custGeom>
              <a:rect l="l" t="t" r="r" b="b"/>
              <a:pathLst>
                <a:path w="2047732" h="135956">
                  <a:moveTo>
                    <a:pt x="8697" y="0"/>
                  </a:moveTo>
                  <a:lnTo>
                    <a:pt x="2039035" y="0"/>
                  </a:lnTo>
                  <a:cubicBezTo>
                    <a:pt x="2041342" y="0"/>
                    <a:pt x="2043554" y="916"/>
                    <a:pt x="2045185" y="2547"/>
                  </a:cubicBezTo>
                  <a:cubicBezTo>
                    <a:pt x="2046816" y="4178"/>
                    <a:pt x="2047732" y="6390"/>
                    <a:pt x="2047732" y="8697"/>
                  </a:cubicBezTo>
                  <a:lnTo>
                    <a:pt x="2047732" y="127259"/>
                  </a:lnTo>
                  <a:cubicBezTo>
                    <a:pt x="2047732" y="129566"/>
                    <a:pt x="2046816" y="131778"/>
                    <a:pt x="2045185" y="133409"/>
                  </a:cubicBezTo>
                  <a:cubicBezTo>
                    <a:pt x="2043554" y="135040"/>
                    <a:pt x="2041342" y="135956"/>
                    <a:pt x="2039035" y="135956"/>
                  </a:cubicBezTo>
                  <a:lnTo>
                    <a:pt x="8697" y="135956"/>
                  </a:lnTo>
                  <a:cubicBezTo>
                    <a:pt x="6390" y="135956"/>
                    <a:pt x="4178" y="135040"/>
                    <a:pt x="2547" y="133409"/>
                  </a:cubicBezTo>
                  <a:cubicBezTo>
                    <a:pt x="916" y="131778"/>
                    <a:pt x="0" y="129566"/>
                    <a:pt x="0" y="127259"/>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4" name="TextBox 14"/>
            <p:cNvSpPr txBox="1"/>
            <p:nvPr/>
          </p:nvSpPr>
          <p:spPr>
            <a:xfrm>
              <a:off x="0" y="-38100"/>
              <a:ext cx="2047732" cy="174056"/>
            </a:xfrm>
            <a:prstGeom prst="rect">
              <a:avLst/>
            </a:prstGeom>
          </p:spPr>
          <p:txBody>
            <a:bodyPr lIns="50800" tIns="50800" rIns="50800" bIns="50800" rtlCol="0" anchor="ctr"/>
            <a:lstStyle/>
            <a:p>
              <a:pPr algn="l">
                <a:lnSpc>
                  <a:spcPts val="2239"/>
                </a:lnSpc>
              </a:pPr>
              <a:endParaRPr/>
            </a:p>
          </p:txBody>
        </p:sp>
      </p:grpSp>
      <p:sp>
        <p:nvSpPr>
          <p:cNvPr id="15" name="TextBox 15"/>
          <p:cNvSpPr txBox="1"/>
          <p:nvPr/>
        </p:nvSpPr>
        <p:spPr>
          <a:xfrm>
            <a:off x="625761" y="1910146"/>
            <a:ext cx="3673902" cy="8248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KẾT QUẢ TRÊN</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 DỮ LIỆU:</a:t>
            </a:r>
          </a:p>
        </p:txBody>
      </p:sp>
      <p:sp>
        <p:nvSpPr>
          <p:cNvPr id="16" name="TextBox 16"/>
          <p:cNvSpPr txBox="1"/>
          <p:nvPr/>
        </p:nvSpPr>
        <p:spPr>
          <a:xfrm>
            <a:off x="625761" y="5162550"/>
            <a:ext cx="4230564"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SO SÁNH TRƯỚC</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/SAU</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7" name="TextBox 17"/>
          <p:cNvSpPr txBox="1"/>
          <p:nvPr/>
        </p:nvSpPr>
        <p:spPr>
          <a:xfrm>
            <a:off x="625761" y="6606541"/>
            <a:ext cx="3477558"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ĐÁNH GIÁ HIỆU QUẢ</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8" name="TextBox 18"/>
          <p:cNvSpPr txBox="1"/>
          <p:nvPr/>
        </p:nvSpPr>
        <p:spPr>
          <a:xfrm>
            <a:off x="3902922" y="1760477"/>
            <a:ext cx="13934328" cy="3060700"/>
          </a:xfrm>
          <a:prstGeom prst="rect">
            <a:avLst/>
          </a:prstGeom>
        </p:spPr>
        <p:txBody>
          <a:bodyPr lIns="0" tIns="0" rIns="0" bIns="0" rtlCol="0" anchor="t">
            <a:spAutoFit/>
          </a:bodyPr>
          <a:lstStyle/>
          <a:p>
            <a:pPr marL="539751" lvl="1" indent="-269876" algn="l">
              <a:lnSpc>
                <a:spcPts val="3500"/>
              </a:lnSpc>
              <a:spcBef>
                <a:spcPct val="0"/>
              </a:spcBef>
              <a:buFont typeface="Arial"/>
              <a:buChar char="•"/>
            </a:pPr>
            <a:r>
              <a:rPr lang="en-US" sz="2500" b="1" spc="250">
                <a:solidFill>
                  <a:srgbClr val="FFFFFF"/>
                </a:solidFill>
                <a:latin typeface="Literata Bold"/>
                <a:ea typeface="Literata Bold"/>
                <a:cs typeface="Literata Bold"/>
                <a:sym typeface="Literata Bold"/>
              </a:rPr>
              <a:t>Phân ngưỡng toàn cục (Global Threshold):</a:t>
            </a:r>
            <a:r>
              <a:rPr lang="en-US" sz="2500" spc="250">
                <a:solidFill>
                  <a:srgbClr val="FFFFFF"/>
                </a:solidFill>
                <a:latin typeface="Literata"/>
                <a:ea typeface="Literata"/>
                <a:cs typeface="Literata"/>
                <a:sym typeface="Literata"/>
              </a:rPr>
              <a:t> Ảnh được xử lý ko hiệu quả mất toàn bộ chi tiết gốc</a:t>
            </a:r>
          </a:p>
          <a:p>
            <a:pPr marL="539751" lvl="1" indent="-269876" algn="l">
              <a:lnSpc>
                <a:spcPts val="3500"/>
              </a:lnSpc>
              <a:spcBef>
                <a:spcPct val="0"/>
              </a:spcBef>
              <a:buFont typeface="Arial"/>
              <a:buChar char="•"/>
            </a:pPr>
            <a:r>
              <a:rPr lang="en-US" sz="2500" spc="250">
                <a:solidFill>
                  <a:srgbClr val="FFFFFF"/>
                </a:solidFill>
                <a:latin typeface="Literata"/>
                <a:ea typeface="Literata"/>
                <a:cs typeface="Literata"/>
                <a:sym typeface="Literata"/>
              </a:rPr>
              <a:t>P</a:t>
            </a:r>
            <a:r>
              <a:rPr lang="en-US" sz="2500" b="1" spc="250">
                <a:solidFill>
                  <a:srgbClr val="FFFFFF"/>
                </a:solidFill>
                <a:latin typeface="Literata Bold"/>
                <a:ea typeface="Literata Bold"/>
                <a:cs typeface="Literata Bold"/>
                <a:sym typeface="Literata Bold"/>
              </a:rPr>
              <a:t>hân ngưỡng Otus's Method:</a:t>
            </a:r>
            <a:r>
              <a:rPr lang="en-US" sz="2500" spc="250">
                <a:solidFill>
                  <a:srgbClr val="FFFFFF"/>
                </a:solidFill>
                <a:latin typeface="Literata"/>
                <a:ea typeface="Literata"/>
                <a:cs typeface="Literata"/>
                <a:sym typeface="Literata"/>
              </a:rPr>
              <a:t> Ảnh hai lớp rõ ràng, độ sáng ổn định.</a:t>
            </a:r>
          </a:p>
          <a:p>
            <a:pPr marL="539751" lvl="1" indent="-269876" algn="l">
              <a:lnSpc>
                <a:spcPts val="3500"/>
              </a:lnSpc>
              <a:spcBef>
                <a:spcPct val="0"/>
              </a:spcBef>
              <a:buFont typeface="Arial"/>
              <a:buChar char="•"/>
            </a:pPr>
            <a:r>
              <a:rPr lang="en-US" sz="2500" spc="250">
                <a:solidFill>
                  <a:srgbClr val="FFFFFF"/>
                </a:solidFill>
                <a:latin typeface="Literata"/>
                <a:ea typeface="Literata"/>
                <a:cs typeface="Literata"/>
                <a:sym typeface="Literata"/>
              </a:rPr>
              <a:t>P</a:t>
            </a:r>
            <a:r>
              <a:rPr lang="en-US" sz="2500" b="1" spc="250">
                <a:solidFill>
                  <a:srgbClr val="FFFFFF"/>
                </a:solidFill>
                <a:latin typeface="Literata Bold"/>
                <a:ea typeface="Literata Bold"/>
                <a:cs typeface="Literata Bold"/>
                <a:sym typeface="Literata Bold"/>
              </a:rPr>
              <a:t>hân ngưỡng Adaptive Threshold - Mean:</a:t>
            </a:r>
            <a:r>
              <a:rPr lang="en-US" sz="2500" spc="250">
                <a:solidFill>
                  <a:srgbClr val="FFFFFF"/>
                </a:solidFill>
                <a:latin typeface="Literata"/>
                <a:ea typeface="Literata"/>
                <a:cs typeface="Literata"/>
                <a:sym typeface="Literata"/>
              </a:rPr>
              <a:t> Ảnh được phân ngưỡng rõ nét đặc biệt các đường biên dọc ngang</a:t>
            </a:r>
          </a:p>
          <a:p>
            <a:pPr marL="539751" lvl="1" indent="-269876" algn="l">
              <a:lnSpc>
                <a:spcPts val="3500"/>
              </a:lnSpc>
              <a:spcBef>
                <a:spcPct val="0"/>
              </a:spcBef>
              <a:buFont typeface="Arial"/>
              <a:buChar char="•"/>
            </a:pPr>
            <a:r>
              <a:rPr lang="en-US" sz="2500" spc="250">
                <a:solidFill>
                  <a:srgbClr val="FFFFFF"/>
                </a:solidFill>
                <a:latin typeface="Literata"/>
                <a:ea typeface="Literata"/>
                <a:cs typeface="Literata"/>
                <a:sym typeface="Literata"/>
              </a:rPr>
              <a:t>P</a:t>
            </a:r>
            <a:r>
              <a:rPr lang="en-US" sz="2500" b="1" spc="250">
                <a:solidFill>
                  <a:srgbClr val="FFFFFF"/>
                </a:solidFill>
                <a:latin typeface="Literata Bold"/>
                <a:ea typeface="Literata Bold"/>
                <a:cs typeface="Literata Bold"/>
                <a:sym typeface="Literata Bold"/>
              </a:rPr>
              <a:t>hân ngưỡng Adaptive Threshold - Gaussian:</a:t>
            </a:r>
            <a:r>
              <a:rPr lang="en-US" sz="2500" spc="250">
                <a:solidFill>
                  <a:srgbClr val="FFFFFF"/>
                </a:solidFill>
                <a:latin typeface="Literata"/>
                <a:ea typeface="Literata"/>
                <a:cs typeface="Literata"/>
                <a:sym typeface="Literata"/>
              </a:rPr>
              <a:t> Kết quả tương tự như Mean xong xuất hiện các pixel nhiễu</a:t>
            </a:r>
          </a:p>
        </p:txBody>
      </p:sp>
      <p:sp>
        <p:nvSpPr>
          <p:cNvPr id="19" name="TextBox 19"/>
          <p:cNvSpPr txBox="1"/>
          <p:nvPr/>
        </p:nvSpPr>
        <p:spPr>
          <a:xfrm>
            <a:off x="4372333" y="5086350"/>
            <a:ext cx="12995504" cy="905593"/>
          </a:xfrm>
          <a:prstGeom prst="rect">
            <a:avLst/>
          </a:prstGeom>
        </p:spPr>
        <p:txBody>
          <a:bodyPr lIns="0" tIns="0" rIns="0" bIns="0" rtlCol="0" anchor="t">
            <a:spAutoFit/>
          </a:bodyPr>
          <a:lstStyle/>
          <a:p>
            <a:pPr algn="l">
              <a:lnSpc>
                <a:spcPts val="3635"/>
              </a:lnSpc>
            </a:pPr>
            <a:r>
              <a:rPr lang="en-US" sz="2596" spc="259">
                <a:solidFill>
                  <a:srgbClr val="FFFFFF"/>
                </a:solidFill>
                <a:latin typeface="Literata"/>
                <a:ea typeface="Literata"/>
                <a:cs typeface="Literata"/>
                <a:sym typeface="Literata"/>
              </a:rPr>
              <a:t>Trước: Ảnh chưa rõ các vùng, các chi tiết biên </a:t>
            </a:r>
          </a:p>
          <a:p>
            <a:pPr algn="l">
              <a:lnSpc>
                <a:spcPts val="3635"/>
              </a:lnSpc>
              <a:spcBef>
                <a:spcPct val="0"/>
              </a:spcBef>
            </a:pPr>
            <a:r>
              <a:rPr lang="en-US" sz="2596" spc="259">
                <a:solidFill>
                  <a:srgbClr val="FFFFFF"/>
                </a:solidFill>
                <a:latin typeface="Literata"/>
                <a:ea typeface="Literata"/>
                <a:cs typeface="Literata"/>
                <a:sym typeface="Literata"/>
              </a:rPr>
              <a:t>Sau: Chi tiết góc cạnh các đường phân ngưỡng xuất hiện rõ nét</a:t>
            </a:r>
          </a:p>
        </p:txBody>
      </p:sp>
      <p:sp>
        <p:nvSpPr>
          <p:cNvPr id="20" name="TextBox 20"/>
          <p:cNvSpPr txBox="1"/>
          <p:nvPr/>
        </p:nvSpPr>
        <p:spPr>
          <a:xfrm>
            <a:off x="3902922" y="6415390"/>
            <a:ext cx="13934328" cy="3489325"/>
          </a:xfrm>
          <a:prstGeom prst="rect">
            <a:avLst/>
          </a:prstGeom>
        </p:spPr>
        <p:txBody>
          <a:bodyPr lIns="0" tIns="0" rIns="0" bIns="0" rtlCol="0" anchor="t">
            <a:spAutoFit/>
          </a:bodyPr>
          <a:lstStyle/>
          <a:p>
            <a:pPr marL="539748" lvl="1" indent="-269874" algn="l">
              <a:lnSpc>
                <a:spcPts val="3499"/>
              </a:lnSpc>
              <a:spcBef>
                <a:spcPct val="0"/>
              </a:spcBef>
              <a:buFont typeface="Arial"/>
              <a:buChar char="•"/>
            </a:pPr>
            <a:r>
              <a:rPr lang="en-US" sz="2499" b="1" spc="249">
                <a:solidFill>
                  <a:srgbClr val="FFFFFF"/>
                </a:solidFill>
                <a:latin typeface="Literata Bold"/>
                <a:ea typeface="Literata Bold"/>
                <a:cs typeface="Literata Bold"/>
                <a:sym typeface="Literata Bold"/>
              </a:rPr>
              <a:t>Phân ngưỡng toàn cục (Global Threshold):</a:t>
            </a:r>
            <a:r>
              <a:rPr lang="en-US" sz="2499" spc="249">
                <a:solidFill>
                  <a:srgbClr val="FFFFFF"/>
                </a:solidFill>
                <a:latin typeface="Literata"/>
                <a:ea typeface="Literata"/>
                <a:cs typeface="Literata"/>
                <a:sym typeface="Literata"/>
              </a:rPr>
              <a:t> Chỉ tốt khi xử lí các ảnh có đường biên, ko hiệu quả với các ảnh có chi tiết phức tạp như ảnh ý tế vuông,</a:t>
            </a:r>
          </a:p>
          <a:p>
            <a:pPr marL="539748" lvl="1" indent="-269874" algn="l">
              <a:lnSpc>
                <a:spcPts val="3499"/>
              </a:lnSpc>
              <a:spcBef>
                <a:spcPct val="0"/>
              </a:spcBef>
              <a:buFont typeface="Arial"/>
              <a:buChar char="•"/>
            </a:pPr>
            <a:r>
              <a:rPr lang="en-US" sz="2499" spc="249">
                <a:solidFill>
                  <a:srgbClr val="FFFFFF"/>
                </a:solidFill>
                <a:latin typeface="Literata"/>
                <a:ea typeface="Literata"/>
                <a:cs typeface="Literata"/>
                <a:sym typeface="Literata"/>
              </a:rPr>
              <a:t>P</a:t>
            </a:r>
            <a:r>
              <a:rPr lang="en-US" sz="2499" b="1" spc="249">
                <a:solidFill>
                  <a:srgbClr val="FFFFFF"/>
                </a:solidFill>
                <a:latin typeface="Literata Bold"/>
                <a:ea typeface="Literata Bold"/>
                <a:cs typeface="Literata Bold"/>
                <a:sym typeface="Literata Bold"/>
              </a:rPr>
              <a:t>hân ngưỡng Otus's Method:</a:t>
            </a:r>
            <a:r>
              <a:rPr lang="en-US" sz="2499" spc="249">
                <a:solidFill>
                  <a:srgbClr val="FFFFFF"/>
                </a:solidFill>
                <a:latin typeface="Literata"/>
                <a:ea typeface="Literata"/>
                <a:cs typeface="Literata"/>
                <a:sym typeface="Literata"/>
              </a:rPr>
              <a:t> Ảnh được phẫn ngưỡng ổn nhưng ko hiệu quả sẽ mất các chi tiết nhỏ</a:t>
            </a:r>
          </a:p>
          <a:p>
            <a:pPr marL="539748" lvl="1" indent="-269874" algn="l">
              <a:lnSpc>
                <a:spcPts val="3499"/>
              </a:lnSpc>
              <a:spcBef>
                <a:spcPct val="0"/>
              </a:spcBef>
              <a:buFont typeface="Arial"/>
              <a:buChar char="•"/>
            </a:pPr>
            <a:r>
              <a:rPr lang="en-US" sz="2499" spc="249">
                <a:solidFill>
                  <a:srgbClr val="FFFFFF"/>
                </a:solidFill>
                <a:latin typeface="Literata"/>
                <a:ea typeface="Literata"/>
                <a:cs typeface="Literata"/>
                <a:sym typeface="Literata"/>
              </a:rPr>
              <a:t>P</a:t>
            </a:r>
            <a:r>
              <a:rPr lang="en-US" sz="2499" b="1" spc="249">
                <a:solidFill>
                  <a:srgbClr val="FFFFFF"/>
                </a:solidFill>
                <a:latin typeface="Literata Bold"/>
                <a:ea typeface="Literata Bold"/>
                <a:cs typeface="Literata Bold"/>
                <a:sym typeface="Literata Bold"/>
              </a:rPr>
              <a:t>hân ngưỡng Adaptive Threshold - Mean:</a:t>
            </a:r>
            <a:r>
              <a:rPr lang="en-US" sz="2499" spc="249">
                <a:solidFill>
                  <a:srgbClr val="FFFFFF"/>
                </a:solidFill>
                <a:latin typeface="Literata"/>
                <a:ea typeface="Literata"/>
                <a:cs typeface="Literata"/>
                <a:sym typeface="Literata"/>
              </a:rPr>
              <a:t> Hiệu quả với hầu hết với các ảnh thực tế nhưng phải tiền xử lí lọc nhiễu ảnh gốc</a:t>
            </a:r>
          </a:p>
          <a:p>
            <a:pPr marL="539748" lvl="1" indent="-269874" algn="l">
              <a:lnSpc>
                <a:spcPts val="3499"/>
              </a:lnSpc>
              <a:spcBef>
                <a:spcPct val="0"/>
              </a:spcBef>
              <a:buFont typeface="Arial"/>
              <a:buChar char="•"/>
            </a:pPr>
            <a:r>
              <a:rPr lang="en-US" sz="2499" spc="249">
                <a:solidFill>
                  <a:srgbClr val="FFFFFF"/>
                </a:solidFill>
                <a:latin typeface="Literata"/>
                <a:ea typeface="Literata"/>
                <a:cs typeface="Literata"/>
                <a:sym typeface="Literata"/>
              </a:rPr>
              <a:t>P</a:t>
            </a:r>
            <a:r>
              <a:rPr lang="en-US" sz="2499" b="1" spc="249">
                <a:solidFill>
                  <a:srgbClr val="FFFFFF"/>
                </a:solidFill>
                <a:latin typeface="Literata Bold"/>
                <a:ea typeface="Literata Bold"/>
                <a:cs typeface="Literata Bold"/>
                <a:sym typeface="Literata Bold"/>
              </a:rPr>
              <a:t>hân ngưỡng Adaptive Threshold - Gaussian:</a:t>
            </a:r>
            <a:r>
              <a:rPr lang="en-US" sz="2499" spc="249">
                <a:solidFill>
                  <a:srgbClr val="FFFFFF"/>
                </a:solidFill>
                <a:latin typeface="Literata"/>
                <a:ea typeface="Literata"/>
                <a:cs typeface="Literata"/>
                <a:sym typeface="Literata"/>
              </a:rPr>
              <a:t> Tương tự như Mean</a:t>
            </a:r>
          </a:p>
        </p:txBody>
      </p:sp>
    </p:spTree>
  </p:cSld>
  <p:clrMapOvr>
    <a:masterClrMapping/>
  </p:clrMapOvr>
  <p:transition/>
  <p:timing/>
</p:sld>
</file>

<file path=ppt/slides/slide6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grpSp>
        <p:nvGrpSpPr>
          <p:cNvPr id="3" name="Group 3"/>
          <p:cNvGrpSpPr/>
          <p:nvPr/>
        </p:nvGrpSpPr>
        <p:grpSpPr>
          <a:xfrm>
            <a:off x="469896" y="1779639"/>
            <a:ext cx="17386498" cy="1836802"/>
            <a:chExt cx="2047732" cy="216333"/>
          </a:xfrm>
        </p:grpSpPr>
        <p:sp>
          <p:nvSpPr>
            <p:cNvPr id="4" name="Freeform 4"/>
            <p:cNvSpPr/>
            <p:nvPr/>
          </p:nvSpPr>
          <p:spPr>
            <a:xfrm>
              <a:off x="0" y="0"/>
              <a:ext cx="2047732" cy="216333"/>
            </a:xfrm>
            <a:custGeom>
              <a:rect l="l" t="t" r="r" b="b"/>
              <a:pathLst>
                <a:path w="2047732" h="216333">
                  <a:moveTo>
                    <a:pt x="8697" y="0"/>
                  </a:moveTo>
                  <a:lnTo>
                    <a:pt x="2039035" y="0"/>
                  </a:lnTo>
                  <a:cubicBezTo>
                    <a:pt x="2041342" y="0"/>
                    <a:pt x="2043554" y="916"/>
                    <a:pt x="2045185" y="2547"/>
                  </a:cubicBezTo>
                  <a:cubicBezTo>
                    <a:pt x="2046816" y="4178"/>
                    <a:pt x="2047732" y="6390"/>
                    <a:pt x="2047732" y="8697"/>
                  </a:cubicBezTo>
                  <a:lnTo>
                    <a:pt x="2047732" y="207636"/>
                  </a:lnTo>
                  <a:cubicBezTo>
                    <a:pt x="2047732" y="209943"/>
                    <a:pt x="2046816" y="212155"/>
                    <a:pt x="2045185" y="213786"/>
                  </a:cubicBezTo>
                  <a:cubicBezTo>
                    <a:pt x="2043554" y="215417"/>
                    <a:pt x="2041342" y="216333"/>
                    <a:pt x="2039035" y="216333"/>
                  </a:cubicBezTo>
                  <a:lnTo>
                    <a:pt x="8697" y="216333"/>
                  </a:lnTo>
                  <a:cubicBezTo>
                    <a:pt x="6390" y="216333"/>
                    <a:pt x="4178" y="215417"/>
                    <a:pt x="2547" y="213786"/>
                  </a:cubicBezTo>
                  <a:cubicBezTo>
                    <a:pt x="916" y="212155"/>
                    <a:pt x="0" y="209943"/>
                    <a:pt x="0" y="207636"/>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5" name="TextBox 5"/>
            <p:cNvSpPr txBox="1"/>
            <p:nvPr/>
          </p:nvSpPr>
          <p:spPr>
            <a:xfrm>
              <a:off x="0" y="-38100"/>
              <a:ext cx="2047732" cy="254433"/>
            </a:xfrm>
            <a:prstGeom prst="rect">
              <a:avLst/>
            </a:prstGeom>
          </p:spPr>
          <p:txBody>
            <a:bodyPr lIns="50800" tIns="50800" rIns="50800" bIns="50800" rtlCol="0" anchor="ctr"/>
            <a:lstStyle/>
            <a:p>
              <a:pPr algn="l">
                <a:lnSpc>
                  <a:spcPts val="2239"/>
                </a:lnSpc>
              </a:pPr>
              <a:endParaRPr/>
            </a:p>
          </p:txBody>
        </p:sp>
      </p:gr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7" name="TextBox 7"/>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6. Kết quả &amp; Đánh giá </a:t>
            </a:r>
          </a:p>
        </p:txBody>
      </p:sp>
      <p:sp>
        <p:nvSpPr>
          <p:cNvPr id="8" name="TextBox 8"/>
          <p:cNvSpPr txBox="1"/>
          <p:nvPr/>
        </p:nvSpPr>
        <p:spPr>
          <a:xfrm>
            <a:off x="9322683" y="422909"/>
            <a:ext cx="7175464" cy="1144906"/>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Literata Bold"/>
                <a:ea typeface="Literata Bold"/>
                <a:cs typeface="Literata Bold"/>
                <a:sym typeface="Literata Bold"/>
              </a:rPr>
              <a:t>PHÂN ĐOẠN ẢNH DỰA TRÊN VÙNG – REGION GROWING</a:t>
            </a:r>
          </a:p>
        </p:txBody>
      </p:sp>
      <p:grpSp>
        <p:nvGrpSpPr>
          <p:cNvPr id="9" name="Group 9"/>
          <p:cNvGrpSpPr/>
          <p:nvPr/>
        </p:nvGrpSpPr>
        <p:grpSpPr>
          <a:xfrm>
            <a:off x="450751" y="8258329"/>
            <a:ext cx="17386498" cy="1413896"/>
            <a:chExt cx="2047732" cy="166525"/>
          </a:xfrm>
        </p:grpSpPr>
        <p:sp>
          <p:nvSpPr>
            <p:cNvPr id="10" name="Freeform 10"/>
            <p:cNvSpPr/>
            <p:nvPr/>
          </p:nvSpPr>
          <p:spPr>
            <a:xfrm>
              <a:off x="0" y="0"/>
              <a:ext cx="2047732" cy="166525"/>
            </a:xfrm>
            <a:custGeom>
              <a:rect l="l" t="t" r="r" b="b"/>
              <a:pathLst>
                <a:path w="2047732" h="166525">
                  <a:moveTo>
                    <a:pt x="8697" y="0"/>
                  </a:moveTo>
                  <a:lnTo>
                    <a:pt x="2039035" y="0"/>
                  </a:lnTo>
                  <a:cubicBezTo>
                    <a:pt x="2041342" y="0"/>
                    <a:pt x="2043554" y="916"/>
                    <a:pt x="2045185" y="2547"/>
                  </a:cubicBezTo>
                  <a:cubicBezTo>
                    <a:pt x="2046816" y="4178"/>
                    <a:pt x="2047732" y="6390"/>
                    <a:pt x="2047732" y="8697"/>
                  </a:cubicBezTo>
                  <a:lnTo>
                    <a:pt x="2047732" y="157828"/>
                  </a:lnTo>
                  <a:cubicBezTo>
                    <a:pt x="2047732" y="160134"/>
                    <a:pt x="2046816" y="162346"/>
                    <a:pt x="2045185" y="163977"/>
                  </a:cubicBezTo>
                  <a:cubicBezTo>
                    <a:pt x="2043554" y="165608"/>
                    <a:pt x="2041342" y="166525"/>
                    <a:pt x="2039035" y="166525"/>
                  </a:cubicBezTo>
                  <a:lnTo>
                    <a:pt x="8697" y="166525"/>
                  </a:lnTo>
                  <a:cubicBezTo>
                    <a:pt x="6390" y="166525"/>
                    <a:pt x="4178" y="165608"/>
                    <a:pt x="2547" y="163977"/>
                  </a:cubicBezTo>
                  <a:cubicBezTo>
                    <a:pt x="916" y="162346"/>
                    <a:pt x="0" y="160134"/>
                    <a:pt x="0" y="157828"/>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1" name="TextBox 11"/>
            <p:cNvSpPr txBox="1"/>
            <p:nvPr/>
          </p:nvSpPr>
          <p:spPr>
            <a:xfrm>
              <a:off x="0" y="-38100"/>
              <a:ext cx="2047732" cy="204625"/>
            </a:xfrm>
            <a:prstGeom prst="rect">
              <a:avLst/>
            </a:prstGeom>
          </p:spPr>
          <p:txBody>
            <a:bodyPr lIns="50800" tIns="50800" rIns="50800" bIns="50800" rtlCol="0" anchor="ctr"/>
            <a:lstStyle/>
            <a:p>
              <a:pPr algn="l">
                <a:lnSpc>
                  <a:spcPts val="2239"/>
                </a:lnSpc>
              </a:pPr>
              <a:endParaRPr/>
            </a:p>
          </p:txBody>
        </p:sp>
      </p:grpSp>
      <p:grpSp>
        <p:nvGrpSpPr>
          <p:cNvPr id="12" name="Group 12"/>
          <p:cNvGrpSpPr/>
          <p:nvPr/>
        </p:nvGrpSpPr>
        <p:grpSpPr>
          <a:xfrm>
            <a:off x="469896" y="3968866"/>
            <a:ext cx="17386498" cy="3975583"/>
            <a:chExt cx="2047732" cy="468233"/>
          </a:xfrm>
        </p:grpSpPr>
        <p:sp>
          <p:nvSpPr>
            <p:cNvPr id="13" name="Freeform 13"/>
            <p:cNvSpPr/>
            <p:nvPr/>
          </p:nvSpPr>
          <p:spPr>
            <a:xfrm>
              <a:off x="0" y="0"/>
              <a:ext cx="2047732" cy="468233"/>
            </a:xfrm>
            <a:custGeom>
              <a:rect l="l" t="t" r="r" b="b"/>
              <a:pathLst>
                <a:path w="2047732" h="468233">
                  <a:moveTo>
                    <a:pt x="8697" y="0"/>
                  </a:moveTo>
                  <a:lnTo>
                    <a:pt x="2039035" y="0"/>
                  </a:lnTo>
                  <a:cubicBezTo>
                    <a:pt x="2041342" y="0"/>
                    <a:pt x="2043554" y="916"/>
                    <a:pt x="2045185" y="2547"/>
                  </a:cubicBezTo>
                  <a:cubicBezTo>
                    <a:pt x="2046816" y="4178"/>
                    <a:pt x="2047732" y="6390"/>
                    <a:pt x="2047732" y="8697"/>
                  </a:cubicBezTo>
                  <a:lnTo>
                    <a:pt x="2047732" y="459536"/>
                  </a:lnTo>
                  <a:cubicBezTo>
                    <a:pt x="2047732" y="461842"/>
                    <a:pt x="2046816" y="464055"/>
                    <a:pt x="2045185" y="465686"/>
                  </a:cubicBezTo>
                  <a:cubicBezTo>
                    <a:pt x="2043554" y="467317"/>
                    <a:pt x="2041342" y="468233"/>
                    <a:pt x="2039035" y="468233"/>
                  </a:cubicBezTo>
                  <a:lnTo>
                    <a:pt x="8697" y="468233"/>
                  </a:lnTo>
                  <a:cubicBezTo>
                    <a:pt x="6390" y="468233"/>
                    <a:pt x="4178" y="467317"/>
                    <a:pt x="2547" y="465686"/>
                  </a:cubicBezTo>
                  <a:cubicBezTo>
                    <a:pt x="916" y="464055"/>
                    <a:pt x="0" y="461842"/>
                    <a:pt x="0" y="459536"/>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4" name="TextBox 14"/>
            <p:cNvSpPr txBox="1"/>
            <p:nvPr/>
          </p:nvSpPr>
          <p:spPr>
            <a:xfrm>
              <a:off x="0" y="-38100"/>
              <a:ext cx="2047732" cy="506333"/>
            </a:xfrm>
            <a:prstGeom prst="rect">
              <a:avLst/>
            </a:prstGeom>
          </p:spPr>
          <p:txBody>
            <a:bodyPr lIns="50800" tIns="50800" rIns="50800" bIns="50800" rtlCol="0" anchor="ctr"/>
            <a:lstStyle/>
            <a:p>
              <a:pPr algn="l">
                <a:lnSpc>
                  <a:spcPts val="2239"/>
                </a:lnSpc>
              </a:pPr>
              <a:endParaRPr/>
            </a:p>
          </p:txBody>
        </p:sp>
      </p:grpSp>
      <p:sp>
        <p:nvSpPr>
          <p:cNvPr id="15" name="TextBox 15"/>
          <p:cNvSpPr txBox="1"/>
          <p:nvPr/>
        </p:nvSpPr>
        <p:spPr>
          <a:xfrm>
            <a:off x="625761" y="2053070"/>
            <a:ext cx="4230564" cy="8248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KẾT QUẢ TRÊN</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 DỮ LIỆU:</a:t>
            </a:r>
          </a:p>
        </p:txBody>
      </p:sp>
      <p:sp>
        <p:nvSpPr>
          <p:cNvPr id="16" name="TextBox 16"/>
          <p:cNvSpPr txBox="1"/>
          <p:nvPr/>
        </p:nvSpPr>
        <p:spPr>
          <a:xfrm>
            <a:off x="625761" y="4240448"/>
            <a:ext cx="4230564"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SO SÁNH TRƯỚC</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/SAU</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7" name="TextBox 17"/>
          <p:cNvSpPr txBox="1"/>
          <p:nvPr/>
        </p:nvSpPr>
        <p:spPr>
          <a:xfrm>
            <a:off x="625761" y="8428260"/>
            <a:ext cx="3339906"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ĐÁNH GIÁ HIỆU QUẢ</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8" name="TextBox 18"/>
          <p:cNvSpPr txBox="1"/>
          <p:nvPr/>
        </p:nvSpPr>
        <p:spPr>
          <a:xfrm>
            <a:off x="4345130" y="1948931"/>
            <a:ext cx="13511265" cy="1810385"/>
          </a:xfrm>
          <a:prstGeom prst="rect">
            <a:avLst/>
          </a:prstGeom>
        </p:spPr>
        <p:txBody>
          <a:bodyPr lIns="0" tIns="0" rIns="0" bIns="0" rtlCol="0" anchor="t">
            <a:spAutoFit/>
          </a:bodyPr>
          <a:lstStyle/>
          <a:p>
            <a:pPr algn="l">
              <a:lnSpc>
                <a:spcPts val="3639"/>
              </a:lnSpc>
              <a:spcBef>
                <a:spcPct val="0"/>
              </a:spcBef>
            </a:pPr>
            <a:r>
              <a:rPr lang="en-US" sz="2599" b="1" spc="259">
                <a:solidFill>
                  <a:srgbClr val="FFFFFF"/>
                </a:solidFill>
                <a:latin typeface="Literata Bold"/>
                <a:ea typeface="Literata Bold"/>
                <a:cs typeface="Literata Bold"/>
                <a:sym typeface="Literata Bold"/>
              </a:rPr>
              <a:t>Xét các pixel lân cận 4-neighbors: Chất lượng phân đoạn ảnh sẽ càng tốt tùy theo giá trị</a:t>
            </a:r>
          </a:p>
          <a:p>
            <a:pPr algn="l">
              <a:lnSpc>
                <a:spcPts val="3639"/>
              </a:lnSpc>
              <a:spcBef>
                <a:spcPct val="0"/>
              </a:spcBef>
            </a:pPr>
            <a:r>
              <a:rPr lang="en-US" sz="2599" spc="259">
                <a:solidFill>
                  <a:srgbClr val="FFFFFF"/>
                </a:solidFill>
                <a:latin typeface="Literata"/>
                <a:ea typeface="Literata"/>
                <a:cs typeface="Literata"/>
                <a:sym typeface="Literata"/>
              </a:rPr>
              <a:t>|I(p) – I(seed)| có đang gần giá trị Δ không</a:t>
            </a:r>
          </a:p>
          <a:p>
            <a:pPr algn="l">
              <a:lnSpc>
                <a:spcPts val="3639"/>
              </a:lnSpc>
              <a:spcBef>
                <a:spcPct val="0"/>
              </a:spcBef>
            </a:pPr>
            <a:endParaRPr lang="en-US" sz="2599" spc="259">
              <a:solidFill>
                <a:srgbClr val="FFFFFF"/>
              </a:solidFill>
              <a:latin typeface="Literata"/>
              <a:ea typeface="Literata"/>
              <a:cs typeface="Literata"/>
              <a:sym typeface="Literata"/>
            </a:endParaRPr>
          </a:p>
        </p:txBody>
      </p:sp>
      <p:sp>
        <p:nvSpPr>
          <p:cNvPr id="19" name="TextBox 19"/>
          <p:cNvSpPr txBox="1"/>
          <p:nvPr/>
        </p:nvSpPr>
        <p:spPr>
          <a:xfrm>
            <a:off x="4345130" y="4165640"/>
            <a:ext cx="13355400" cy="3639185"/>
          </a:xfrm>
          <a:prstGeom prst="rect">
            <a:avLst/>
          </a:prstGeom>
        </p:spPr>
        <p:txBody>
          <a:bodyPr lIns="0" tIns="0" rIns="0" bIns="0" rtlCol="0" anchor="t">
            <a:spAutoFit/>
          </a:bodyPr>
          <a:lstStyle/>
          <a:p>
            <a:pPr algn="l">
              <a:lnSpc>
                <a:spcPts val="3639"/>
              </a:lnSpc>
            </a:pPr>
            <a:r>
              <a:rPr lang="en-US" sz="2599" spc="259">
                <a:solidFill>
                  <a:srgbClr val="FFFFFF"/>
                </a:solidFill>
                <a:latin typeface="Literata"/>
                <a:ea typeface="Literata"/>
                <a:cs typeface="Literata"/>
                <a:sym typeface="Literata"/>
              </a:rPr>
              <a:t>Trước: Ảnh mờ các chi tiết đường phân vùng chưa rõ ràng để được máy tính xử lí phân đoạn</a:t>
            </a:r>
          </a:p>
          <a:p>
            <a:pPr algn="l">
              <a:lnSpc>
                <a:spcPts val="3639"/>
              </a:lnSpc>
            </a:pPr>
            <a:r>
              <a:rPr lang="en-US" sz="2599" spc="259">
                <a:solidFill>
                  <a:srgbClr val="FFFFFF"/>
                </a:solidFill>
                <a:latin typeface="Literata"/>
                <a:ea typeface="Literata"/>
                <a:cs typeface="Literata"/>
                <a:sym typeface="Literata"/>
              </a:rPr>
              <a:t>Sau:</a:t>
            </a:r>
          </a:p>
          <a:p>
            <a:pPr algn="l">
              <a:lnSpc>
                <a:spcPts val="3639"/>
              </a:lnSpc>
              <a:spcBef>
                <a:spcPct val="0"/>
              </a:spcBef>
            </a:pPr>
            <a:r>
              <a:rPr lang="en-US" sz="2599" spc="259">
                <a:solidFill>
                  <a:srgbClr val="FFFFFF"/>
                </a:solidFill>
                <a:latin typeface="Literata"/>
                <a:ea typeface="Literata"/>
                <a:cs typeface="Literata"/>
                <a:sym typeface="Literata"/>
              </a:rPr>
              <a:t>Δ = 5: Ảnh mất toàn bộ chi tiết không phân vùng được</a:t>
            </a:r>
          </a:p>
          <a:p>
            <a:pPr algn="l">
              <a:lnSpc>
                <a:spcPts val="3639"/>
              </a:lnSpc>
              <a:spcBef>
                <a:spcPct val="0"/>
              </a:spcBef>
            </a:pPr>
            <a:r>
              <a:rPr lang="en-US" sz="2599" spc="259">
                <a:solidFill>
                  <a:srgbClr val="FFFFFF"/>
                </a:solidFill>
                <a:latin typeface="Literata"/>
                <a:ea typeface="Literata"/>
                <a:cs typeface="Literata"/>
                <a:sym typeface="Literata"/>
              </a:rPr>
              <a:t>Δ = 30: Ảnh được phân vùng tương đối song các đường phân ngưỡng vẫn còn góc cạnh</a:t>
            </a:r>
          </a:p>
          <a:p>
            <a:pPr algn="l">
              <a:lnSpc>
                <a:spcPts val="3639"/>
              </a:lnSpc>
              <a:spcBef>
                <a:spcPct val="0"/>
              </a:spcBef>
            </a:pPr>
            <a:r>
              <a:rPr lang="en-US" sz="2599" spc="259">
                <a:solidFill>
                  <a:srgbClr val="FFFFFF"/>
                </a:solidFill>
                <a:latin typeface="Literata"/>
                <a:ea typeface="Literata"/>
                <a:cs typeface="Literata"/>
                <a:sym typeface="Literata"/>
              </a:rPr>
              <a:t>Δ = 50: Ảnh đã được phân vùng khá rõ ràng nhưng chỉ chia ảnh được 2 vùng khác biệt </a:t>
            </a:r>
          </a:p>
        </p:txBody>
      </p:sp>
      <p:sp>
        <p:nvSpPr>
          <p:cNvPr id="20" name="TextBox 20"/>
          <p:cNvSpPr txBox="1"/>
          <p:nvPr/>
        </p:nvSpPr>
        <p:spPr>
          <a:xfrm>
            <a:off x="4345130" y="8428260"/>
            <a:ext cx="13355400" cy="895985"/>
          </a:xfrm>
          <a:prstGeom prst="rect">
            <a:avLst/>
          </a:prstGeom>
        </p:spPr>
        <p:txBody>
          <a:bodyPr lIns="0" tIns="0" rIns="0" bIns="0" rtlCol="0" anchor="t">
            <a:spAutoFit/>
          </a:bodyPr>
          <a:lstStyle/>
          <a:p>
            <a:pPr algn="l">
              <a:lnSpc>
                <a:spcPts val="3639"/>
              </a:lnSpc>
              <a:spcBef>
                <a:spcPct val="0"/>
              </a:spcBef>
            </a:pPr>
            <a:r>
              <a:rPr lang="en-US" sz="2599" spc="259">
                <a:solidFill>
                  <a:srgbClr val="FFFFFF"/>
                </a:solidFill>
                <a:latin typeface="Literata"/>
                <a:ea typeface="Literata"/>
                <a:cs typeface="Literata"/>
                <a:sym typeface="Literata"/>
              </a:rPr>
              <a:t>Ảnh được xử lý càng có hệ số Δ càng cao thì ảnh càng được phân vùng hiệu quả</a:t>
            </a:r>
          </a:p>
        </p:txBody>
      </p:sp>
    </p:spTree>
  </p:cSld>
  <p:clrMapOvr>
    <a:masterClrMapping/>
  </p:clrMapOvr>
  <p:transition/>
  <p:timing/>
</p:sld>
</file>

<file path=ppt/slides/slide6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grpSp>
        <p:nvGrpSpPr>
          <p:cNvPr id="3" name="Group 3"/>
          <p:cNvGrpSpPr/>
          <p:nvPr/>
        </p:nvGrpSpPr>
        <p:grpSpPr>
          <a:xfrm>
            <a:off x="469896" y="1779639"/>
            <a:ext cx="17386498" cy="4182269"/>
            <a:chExt cx="2047732" cy="492576"/>
          </a:xfrm>
        </p:grpSpPr>
        <p:sp>
          <p:nvSpPr>
            <p:cNvPr id="4" name="Freeform 4"/>
            <p:cNvSpPr/>
            <p:nvPr/>
          </p:nvSpPr>
          <p:spPr>
            <a:xfrm>
              <a:off x="0" y="0"/>
              <a:ext cx="2047732" cy="492576"/>
            </a:xfrm>
            <a:custGeom>
              <a:rect l="l" t="t" r="r" b="b"/>
              <a:pathLst>
                <a:path w="2047732" h="492576">
                  <a:moveTo>
                    <a:pt x="8697" y="0"/>
                  </a:moveTo>
                  <a:lnTo>
                    <a:pt x="2039035" y="0"/>
                  </a:lnTo>
                  <a:cubicBezTo>
                    <a:pt x="2041342" y="0"/>
                    <a:pt x="2043554" y="916"/>
                    <a:pt x="2045185" y="2547"/>
                  </a:cubicBezTo>
                  <a:cubicBezTo>
                    <a:pt x="2046816" y="4178"/>
                    <a:pt x="2047732" y="6390"/>
                    <a:pt x="2047732" y="8697"/>
                  </a:cubicBezTo>
                  <a:lnTo>
                    <a:pt x="2047732" y="483879"/>
                  </a:lnTo>
                  <a:cubicBezTo>
                    <a:pt x="2047732" y="486185"/>
                    <a:pt x="2046816" y="488397"/>
                    <a:pt x="2045185" y="490028"/>
                  </a:cubicBezTo>
                  <a:cubicBezTo>
                    <a:pt x="2043554" y="491659"/>
                    <a:pt x="2041342" y="492576"/>
                    <a:pt x="2039035" y="492576"/>
                  </a:cubicBezTo>
                  <a:lnTo>
                    <a:pt x="8697" y="492576"/>
                  </a:lnTo>
                  <a:cubicBezTo>
                    <a:pt x="6390" y="492576"/>
                    <a:pt x="4178" y="491659"/>
                    <a:pt x="2547" y="490028"/>
                  </a:cubicBezTo>
                  <a:cubicBezTo>
                    <a:pt x="916" y="488397"/>
                    <a:pt x="0" y="486185"/>
                    <a:pt x="0" y="483879"/>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5" name="TextBox 5"/>
            <p:cNvSpPr txBox="1"/>
            <p:nvPr/>
          </p:nvSpPr>
          <p:spPr>
            <a:xfrm>
              <a:off x="0" y="-38100"/>
              <a:ext cx="2047732" cy="530676"/>
            </a:xfrm>
            <a:prstGeom prst="rect">
              <a:avLst/>
            </a:prstGeom>
          </p:spPr>
          <p:txBody>
            <a:bodyPr lIns="50800" tIns="50800" rIns="50800" bIns="50800" rtlCol="0" anchor="ctr"/>
            <a:lstStyle/>
            <a:p>
              <a:pPr algn="l">
                <a:lnSpc>
                  <a:spcPts val="2239"/>
                </a:lnSpc>
              </a:pPr>
              <a:endParaRPr/>
            </a:p>
          </p:txBody>
        </p:sp>
      </p:gr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7" name="TextBox 7"/>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6. Kết quả &amp; Đánh giá </a:t>
            </a:r>
          </a:p>
        </p:txBody>
      </p:sp>
      <p:sp>
        <p:nvSpPr>
          <p:cNvPr id="8" name="TextBox 8"/>
          <p:cNvSpPr txBox="1"/>
          <p:nvPr/>
        </p:nvSpPr>
        <p:spPr>
          <a:xfrm>
            <a:off x="9322683" y="413384"/>
            <a:ext cx="7798919"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Open Sauce Bold"/>
                <a:ea typeface="Open Sauce Bold"/>
                <a:cs typeface="Open Sauce Bold"/>
                <a:sym typeface="Open Sauce Bold"/>
              </a:rPr>
              <a:t>PHÂN ĐOẠN BẰNG WATERSHED – WATERSHED SEGMENTATION</a:t>
            </a:r>
          </a:p>
        </p:txBody>
      </p:sp>
      <p:grpSp>
        <p:nvGrpSpPr>
          <p:cNvPr id="9" name="Group 9"/>
          <p:cNvGrpSpPr/>
          <p:nvPr/>
        </p:nvGrpSpPr>
        <p:grpSpPr>
          <a:xfrm>
            <a:off x="450751" y="8395092"/>
            <a:ext cx="17386498" cy="1606021"/>
            <a:chExt cx="2047732" cy="189153"/>
          </a:xfrm>
        </p:grpSpPr>
        <p:sp>
          <p:nvSpPr>
            <p:cNvPr id="10" name="Freeform 10"/>
            <p:cNvSpPr/>
            <p:nvPr/>
          </p:nvSpPr>
          <p:spPr>
            <a:xfrm>
              <a:off x="0" y="0"/>
              <a:ext cx="2047732" cy="189153"/>
            </a:xfrm>
            <a:custGeom>
              <a:rect l="l" t="t" r="r" b="b"/>
              <a:pathLst>
                <a:path w="2047732" h="189153">
                  <a:moveTo>
                    <a:pt x="8697" y="0"/>
                  </a:moveTo>
                  <a:lnTo>
                    <a:pt x="2039035" y="0"/>
                  </a:lnTo>
                  <a:cubicBezTo>
                    <a:pt x="2041342" y="0"/>
                    <a:pt x="2043554" y="916"/>
                    <a:pt x="2045185" y="2547"/>
                  </a:cubicBezTo>
                  <a:cubicBezTo>
                    <a:pt x="2046816" y="4178"/>
                    <a:pt x="2047732" y="6390"/>
                    <a:pt x="2047732" y="8697"/>
                  </a:cubicBezTo>
                  <a:lnTo>
                    <a:pt x="2047732" y="180456"/>
                  </a:lnTo>
                  <a:cubicBezTo>
                    <a:pt x="2047732" y="182762"/>
                    <a:pt x="2046816" y="184974"/>
                    <a:pt x="2045185" y="186605"/>
                  </a:cubicBezTo>
                  <a:cubicBezTo>
                    <a:pt x="2043554" y="188236"/>
                    <a:pt x="2041342" y="189153"/>
                    <a:pt x="2039035" y="189153"/>
                  </a:cubicBezTo>
                  <a:lnTo>
                    <a:pt x="8697" y="189153"/>
                  </a:lnTo>
                  <a:cubicBezTo>
                    <a:pt x="6390" y="189153"/>
                    <a:pt x="4178" y="188236"/>
                    <a:pt x="2547" y="186605"/>
                  </a:cubicBezTo>
                  <a:cubicBezTo>
                    <a:pt x="916" y="184974"/>
                    <a:pt x="0" y="182762"/>
                    <a:pt x="0" y="180456"/>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1" name="TextBox 11"/>
            <p:cNvSpPr txBox="1"/>
            <p:nvPr/>
          </p:nvSpPr>
          <p:spPr>
            <a:xfrm>
              <a:off x="0" y="-38100"/>
              <a:ext cx="2047732" cy="227253"/>
            </a:xfrm>
            <a:prstGeom prst="rect">
              <a:avLst/>
            </a:prstGeom>
          </p:spPr>
          <p:txBody>
            <a:bodyPr lIns="50800" tIns="50800" rIns="50800" bIns="50800" rtlCol="0" anchor="ctr"/>
            <a:lstStyle/>
            <a:p>
              <a:pPr algn="l">
                <a:lnSpc>
                  <a:spcPts val="2239"/>
                </a:lnSpc>
              </a:pPr>
              <a:endParaRPr/>
            </a:p>
          </p:txBody>
        </p:sp>
      </p:grpSp>
      <p:grpSp>
        <p:nvGrpSpPr>
          <p:cNvPr id="12" name="Group 12"/>
          <p:cNvGrpSpPr/>
          <p:nvPr/>
        </p:nvGrpSpPr>
        <p:grpSpPr>
          <a:xfrm>
            <a:off x="469896" y="6276233"/>
            <a:ext cx="17386498" cy="1805280"/>
            <a:chExt cx="2047732" cy="212621"/>
          </a:xfrm>
        </p:grpSpPr>
        <p:sp>
          <p:nvSpPr>
            <p:cNvPr id="13" name="Freeform 13"/>
            <p:cNvSpPr/>
            <p:nvPr/>
          </p:nvSpPr>
          <p:spPr>
            <a:xfrm>
              <a:off x="0" y="0"/>
              <a:ext cx="2047732" cy="212621"/>
            </a:xfrm>
            <a:custGeom>
              <a:rect l="l" t="t" r="r" b="b"/>
              <a:pathLst>
                <a:path w="2047732" h="212621">
                  <a:moveTo>
                    <a:pt x="8697" y="0"/>
                  </a:moveTo>
                  <a:lnTo>
                    <a:pt x="2039035" y="0"/>
                  </a:lnTo>
                  <a:cubicBezTo>
                    <a:pt x="2041342" y="0"/>
                    <a:pt x="2043554" y="916"/>
                    <a:pt x="2045185" y="2547"/>
                  </a:cubicBezTo>
                  <a:cubicBezTo>
                    <a:pt x="2046816" y="4178"/>
                    <a:pt x="2047732" y="6390"/>
                    <a:pt x="2047732" y="8697"/>
                  </a:cubicBezTo>
                  <a:lnTo>
                    <a:pt x="2047732" y="203924"/>
                  </a:lnTo>
                  <a:cubicBezTo>
                    <a:pt x="2047732" y="206230"/>
                    <a:pt x="2046816" y="208443"/>
                    <a:pt x="2045185" y="210074"/>
                  </a:cubicBezTo>
                  <a:cubicBezTo>
                    <a:pt x="2043554" y="211705"/>
                    <a:pt x="2041342" y="212621"/>
                    <a:pt x="2039035" y="212621"/>
                  </a:cubicBezTo>
                  <a:lnTo>
                    <a:pt x="8697" y="212621"/>
                  </a:lnTo>
                  <a:cubicBezTo>
                    <a:pt x="6390" y="212621"/>
                    <a:pt x="4178" y="211705"/>
                    <a:pt x="2547" y="210074"/>
                  </a:cubicBezTo>
                  <a:cubicBezTo>
                    <a:pt x="916" y="208443"/>
                    <a:pt x="0" y="206230"/>
                    <a:pt x="0" y="203924"/>
                  </a:cubicBezTo>
                  <a:lnTo>
                    <a:pt x="0" y="8697"/>
                  </a:lnTo>
                  <a:cubicBezTo>
                    <a:pt x="0" y="6390"/>
                    <a:pt x="916" y="4178"/>
                    <a:pt x="2547" y="2547"/>
                  </a:cubicBezTo>
                  <a:cubicBezTo>
                    <a:pt x="4178" y="916"/>
                    <a:pt x="6390" y="0"/>
                    <a:pt x="8697" y="0"/>
                  </a:cubicBezTo>
                  <a:close/>
                </a:path>
              </a:pathLst>
            </a:custGeom>
            <a:solidFill>
              <a:srgbClr val="527E98"/>
            </a:solidFill>
          </p:spPr>
          <p:txBody>
            <a:bodyPr/>
            <a:lstStyle/>
            <a:p>
              <a:endParaRPr lang="en-US"/>
            </a:p>
          </p:txBody>
        </p:sp>
        <p:sp>
          <p:nvSpPr>
            <p:cNvPr id="14" name="TextBox 14"/>
            <p:cNvSpPr txBox="1"/>
            <p:nvPr/>
          </p:nvSpPr>
          <p:spPr>
            <a:xfrm>
              <a:off x="0" y="-38100"/>
              <a:ext cx="2047732" cy="250721"/>
            </a:xfrm>
            <a:prstGeom prst="rect">
              <a:avLst/>
            </a:prstGeom>
          </p:spPr>
          <p:txBody>
            <a:bodyPr lIns="50800" tIns="50800" rIns="50800" bIns="50800" rtlCol="0" anchor="ctr"/>
            <a:lstStyle/>
            <a:p>
              <a:pPr algn="l">
                <a:lnSpc>
                  <a:spcPts val="2239"/>
                </a:lnSpc>
              </a:pPr>
              <a:endParaRPr/>
            </a:p>
          </p:txBody>
        </p:sp>
      </p:grpSp>
      <p:sp>
        <p:nvSpPr>
          <p:cNvPr id="15" name="TextBox 15"/>
          <p:cNvSpPr txBox="1"/>
          <p:nvPr/>
        </p:nvSpPr>
        <p:spPr>
          <a:xfrm>
            <a:off x="714827" y="2043744"/>
            <a:ext cx="4230564" cy="8248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KẾT QUẢ TRÊN</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 DỮ LIỆU:</a:t>
            </a:r>
          </a:p>
        </p:txBody>
      </p:sp>
      <p:sp>
        <p:nvSpPr>
          <p:cNvPr id="16" name="TextBox 16"/>
          <p:cNvSpPr txBox="1"/>
          <p:nvPr/>
        </p:nvSpPr>
        <p:spPr>
          <a:xfrm>
            <a:off x="714827" y="6587729"/>
            <a:ext cx="4230564"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SO SÁNH TRƯỚC</a:t>
            </a:r>
          </a:p>
          <a:p>
            <a:pPr algn="l">
              <a:lnSpc>
                <a:spcPts val="3359"/>
              </a:lnSpc>
              <a:spcBef>
                <a:spcPct val="0"/>
              </a:spcBef>
            </a:pPr>
            <a:r>
              <a:rPr lang="en-US" sz="2399" b="1" spc="239">
                <a:solidFill>
                  <a:srgbClr val="FFFFFF"/>
                </a:solidFill>
                <a:latin typeface="Open Sauce Bold"/>
                <a:ea typeface="Open Sauce Bold"/>
                <a:cs typeface="Open Sauce Bold"/>
                <a:sym typeface="Open Sauce Bold"/>
              </a:rPr>
              <a:t>/SAU</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7" name="TextBox 17"/>
          <p:cNvSpPr txBox="1"/>
          <p:nvPr/>
        </p:nvSpPr>
        <p:spPr>
          <a:xfrm>
            <a:off x="714827" y="8519712"/>
            <a:ext cx="3518037" cy="1243966"/>
          </a:xfrm>
          <a:prstGeom prst="rect">
            <a:avLst/>
          </a:prstGeom>
        </p:spPr>
        <p:txBody>
          <a:bodyPr lIns="0" tIns="0" rIns="0" bIns="0" rtlCol="0" anchor="t">
            <a:spAutoFit/>
          </a:bodyPr>
          <a:lstStyle/>
          <a:p>
            <a:pPr algn="l">
              <a:lnSpc>
                <a:spcPts val="3359"/>
              </a:lnSpc>
              <a:spcBef>
                <a:spcPct val="0"/>
              </a:spcBef>
            </a:pPr>
            <a:r>
              <a:rPr lang="en-US" sz="2399" b="1" spc="239">
                <a:solidFill>
                  <a:srgbClr val="FFFFFF"/>
                </a:solidFill>
                <a:latin typeface="Open Sauce Bold"/>
                <a:ea typeface="Open Sauce Bold"/>
                <a:cs typeface="Open Sauce Bold"/>
                <a:sym typeface="Open Sauce Bold"/>
              </a:rPr>
              <a:t>ĐÁNH GIÁ HIỆU QUẢ</a:t>
            </a:r>
          </a:p>
          <a:p>
            <a:pPr algn="l">
              <a:lnSpc>
                <a:spcPts val="3359"/>
              </a:lnSpc>
              <a:spcBef>
                <a:spcPct val="0"/>
              </a:spcBef>
            </a:pPr>
            <a:endParaRPr lang="en-US" sz="2399" b="1" spc="239">
              <a:solidFill>
                <a:srgbClr val="FFFFFF"/>
              </a:solidFill>
              <a:latin typeface="Open Sauce Bold"/>
              <a:ea typeface="Open Sauce Bold"/>
              <a:cs typeface="Open Sauce Bold"/>
              <a:sym typeface="Open Sauce Bold"/>
            </a:endParaRPr>
          </a:p>
        </p:txBody>
      </p:sp>
      <p:sp>
        <p:nvSpPr>
          <p:cNvPr id="18" name="TextBox 18"/>
          <p:cNvSpPr txBox="1"/>
          <p:nvPr/>
        </p:nvSpPr>
        <p:spPr>
          <a:xfrm>
            <a:off x="3408529" y="1903623"/>
            <a:ext cx="14154313" cy="3639185"/>
          </a:xfrm>
          <a:prstGeom prst="rect">
            <a:avLst/>
          </a:prstGeom>
        </p:spPr>
        <p:txBody>
          <a:bodyPr lIns="0" tIns="0" rIns="0" bIns="0" rtlCol="0" anchor="t">
            <a:spAutoFit/>
          </a:bodyPr>
          <a:lstStyle/>
          <a:p>
            <a:pPr marL="561339" lvl="1" indent="-280669" algn="l">
              <a:lnSpc>
                <a:spcPts val="3639"/>
              </a:lnSpc>
              <a:buFont typeface="Arial"/>
              <a:buChar char="•"/>
            </a:pPr>
            <a:r>
              <a:rPr lang="en-US" sz="2599" b="1" spc="259">
                <a:solidFill>
                  <a:srgbClr val="FFFFFF"/>
                </a:solidFill>
                <a:latin typeface="Literata Bold"/>
                <a:ea typeface="Literata Bold"/>
                <a:cs typeface="Literata Bold"/>
                <a:sym typeface="Literata Bold"/>
              </a:rPr>
              <a:t>Otsu, Morphological, Sure background, Sure foreground:</a:t>
            </a:r>
            <a:r>
              <a:rPr lang="en-US" sz="2599" spc="259">
                <a:solidFill>
                  <a:srgbClr val="FFFFFF"/>
                </a:solidFill>
                <a:latin typeface="Literata"/>
                <a:ea typeface="Literata"/>
                <a:cs typeface="Literata"/>
                <a:sym typeface="Literata"/>
              </a:rPr>
              <a:t> Cho ra ảnh xử lí tương đối giống nhau.</a:t>
            </a:r>
          </a:p>
          <a:p>
            <a:pPr marL="561339" lvl="1" indent="-280669" algn="l">
              <a:lnSpc>
                <a:spcPts val="3639"/>
              </a:lnSpc>
              <a:buFont typeface="Arial"/>
              <a:buChar char="•"/>
            </a:pPr>
            <a:r>
              <a:rPr lang="en-US" sz="2599" spc="259">
                <a:solidFill>
                  <a:srgbClr val="FFFFFF"/>
                </a:solidFill>
                <a:latin typeface="Literata"/>
                <a:ea typeface="Literata"/>
                <a:cs typeface="Literata"/>
                <a:sym typeface="Literata"/>
              </a:rPr>
              <a:t>S</a:t>
            </a:r>
            <a:r>
              <a:rPr lang="en-US" sz="2599" b="1" spc="259">
                <a:solidFill>
                  <a:srgbClr val="FFFFFF"/>
                </a:solidFill>
                <a:latin typeface="Literata Bold"/>
                <a:ea typeface="Literata Bold"/>
                <a:cs typeface="Literata Bold"/>
                <a:sym typeface="Literata Bold"/>
              </a:rPr>
              <a:t>ure foreground</a:t>
            </a:r>
            <a:r>
              <a:rPr lang="en-US" sz="2599" spc="259">
                <a:solidFill>
                  <a:srgbClr val="FFFFFF"/>
                </a:solidFill>
                <a:latin typeface="Literata"/>
                <a:ea typeface="Literata"/>
                <a:cs typeface="Literata"/>
                <a:sym typeface="Literata"/>
              </a:rPr>
              <a:t>: Ảnh xử lí không hiệu quả các đường phân đoạn không rõ ràng</a:t>
            </a:r>
          </a:p>
          <a:p>
            <a:pPr marL="561339" lvl="1" indent="-280669" algn="l">
              <a:lnSpc>
                <a:spcPts val="3639"/>
              </a:lnSpc>
              <a:buFont typeface="Arial"/>
              <a:buChar char="•"/>
            </a:pPr>
            <a:r>
              <a:rPr lang="en-US" sz="2599" spc="259">
                <a:solidFill>
                  <a:srgbClr val="FFFFFF"/>
                </a:solidFill>
                <a:latin typeface="Literata"/>
                <a:ea typeface="Literata"/>
                <a:cs typeface="Literata"/>
                <a:sym typeface="Literata"/>
              </a:rPr>
              <a:t>U</a:t>
            </a:r>
            <a:r>
              <a:rPr lang="en-US" sz="2599" b="1" spc="259">
                <a:solidFill>
                  <a:srgbClr val="FFFFFF"/>
                </a:solidFill>
                <a:latin typeface="Literata Bold"/>
                <a:ea typeface="Literata Bold"/>
                <a:cs typeface="Literata Bold"/>
                <a:sym typeface="Literata Bold"/>
              </a:rPr>
              <a:t>nknown region:</a:t>
            </a:r>
            <a:r>
              <a:rPr lang="en-US" sz="2599" spc="259">
                <a:solidFill>
                  <a:srgbClr val="FFFFFF"/>
                </a:solidFill>
                <a:latin typeface="Literata"/>
                <a:ea typeface="Literata"/>
                <a:cs typeface="Literata"/>
                <a:sym typeface="Literata"/>
              </a:rPr>
              <a:t> Ảnh được phân đoạn tương đối ổn nhưng một số chi tiết vẫn còn thô.</a:t>
            </a:r>
          </a:p>
          <a:p>
            <a:pPr marL="561339" lvl="1" indent="-280669" algn="l">
              <a:lnSpc>
                <a:spcPts val="3639"/>
              </a:lnSpc>
              <a:spcBef>
                <a:spcPct val="0"/>
              </a:spcBef>
              <a:buFont typeface="Arial"/>
              <a:buChar char="•"/>
            </a:pPr>
            <a:r>
              <a:rPr lang="en-US" sz="2599" spc="259">
                <a:solidFill>
                  <a:srgbClr val="FFFFFF"/>
                </a:solidFill>
                <a:latin typeface="Literata"/>
                <a:ea typeface="Literata"/>
                <a:cs typeface="Literata"/>
                <a:sym typeface="Literata"/>
              </a:rPr>
              <a:t>W</a:t>
            </a:r>
            <a:r>
              <a:rPr lang="en-US" sz="2599" b="1" spc="259">
                <a:solidFill>
                  <a:srgbClr val="FFFFFF"/>
                </a:solidFill>
                <a:latin typeface="Literata Bold"/>
                <a:ea typeface="Literata Bold"/>
                <a:cs typeface="Literata Bold"/>
                <a:sym typeface="Literata Bold"/>
              </a:rPr>
              <a:t>atershed Result: </a:t>
            </a:r>
            <a:r>
              <a:rPr lang="en-US" sz="2599" spc="259">
                <a:solidFill>
                  <a:srgbClr val="FFFFFF"/>
                </a:solidFill>
                <a:latin typeface="Literata"/>
                <a:ea typeface="Literata"/>
                <a:cs typeface="Literata"/>
                <a:sym typeface="Literata"/>
              </a:rPr>
              <a:t>Các đường biên phân đoạn khá rõ ràng song tiền xử lí ảnh chưa tốt nên kết quả vẫn chưa đúng như mong đợi</a:t>
            </a:r>
          </a:p>
        </p:txBody>
      </p:sp>
      <p:sp>
        <p:nvSpPr>
          <p:cNvPr id="19" name="TextBox 19"/>
          <p:cNvSpPr txBox="1"/>
          <p:nvPr/>
        </p:nvSpPr>
        <p:spPr>
          <a:xfrm>
            <a:off x="3987933" y="6468901"/>
            <a:ext cx="12995504" cy="1362793"/>
          </a:xfrm>
          <a:prstGeom prst="rect">
            <a:avLst/>
          </a:prstGeom>
        </p:spPr>
        <p:txBody>
          <a:bodyPr lIns="0" tIns="0" rIns="0" bIns="0" rtlCol="0" anchor="t">
            <a:spAutoFit/>
          </a:bodyPr>
          <a:lstStyle/>
          <a:p>
            <a:pPr algn="l">
              <a:lnSpc>
                <a:spcPts val="3635"/>
              </a:lnSpc>
            </a:pPr>
            <a:r>
              <a:rPr lang="en-US" sz="2596" spc="259">
                <a:solidFill>
                  <a:srgbClr val="FFFFFF"/>
                </a:solidFill>
                <a:latin typeface="Literata"/>
                <a:ea typeface="Literata"/>
                <a:cs typeface="Literata"/>
                <a:sym typeface="Literata"/>
              </a:rPr>
              <a:t>Trước: Ảnh chưa rõ các phân đoạn còn nhiều nhiễu</a:t>
            </a:r>
          </a:p>
          <a:p>
            <a:pPr algn="l">
              <a:lnSpc>
                <a:spcPts val="3635"/>
              </a:lnSpc>
              <a:spcBef>
                <a:spcPct val="0"/>
              </a:spcBef>
            </a:pPr>
            <a:r>
              <a:rPr lang="en-US" sz="2596" spc="259">
                <a:solidFill>
                  <a:srgbClr val="FFFFFF"/>
                </a:solidFill>
                <a:latin typeface="Literata"/>
                <a:ea typeface="Literata"/>
                <a:cs typeface="Literata"/>
                <a:sym typeface="Literata"/>
              </a:rPr>
              <a:t>Sau: Các đường phân đoạn đã xuất hiện song một số ảnh vẫn chưa hiện phân đoạn hiệu quả</a:t>
            </a:r>
          </a:p>
        </p:txBody>
      </p:sp>
      <p:sp>
        <p:nvSpPr>
          <p:cNvPr id="20" name="TextBox 20"/>
          <p:cNvSpPr txBox="1"/>
          <p:nvPr/>
        </p:nvSpPr>
        <p:spPr>
          <a:xfrm>
            <a:off x="3987933" y="8510187"/>
            <a:ext cx="12995504" cy="905593"/>
          </a:xfrm>
          <a:prstGeom prst="rect">
            <a:avLst/>
          </a:prstGeom>
        </p:spPr>
        <p:txBody>
          <a:bodyPr lIns="0" tIns="0" rIns="0" bIns="0" rtlCol="0" anchor="t">
            <a:spAutoFit/>
          </a:bodyPr>
          <a:lstStyle/>
          <a:p>
            <a:pPr algn="l">
              <a:lnSpc>
                <a:spcPts val="3635"/>
              </a:lnSpc>
              <a:spcBef>
                <a:spcPct val="0"/>
              </a:spcBef>
            </a:pPr>
            <a:r>
              <a:rPr lang="en-US" sz="2596" spc="259">
                <a:solidFill>
                  <a:srgbClr val="FFFFFF"/>
                </a:solidFill>
                <a:latin typeface="Literata"/>
                <a:ea typeface="Literata"/>
                <a:cs typeface="Literata"/>
                <a:sym typeface="Literata"/>
              </a:rPr>
              <a:t>Ảnh được xử lý vẫn chưa hiệu quả với yêu cầu cần tiền xử lý để cho ra ảnh tốt hơn</a:t>
            </a:r>
          </a:p>
        </p:txBody>
      </p:sp>
    </p:spTree>
  </p:cSld>
  <p:clrMapOvr>
    <a:masterClrMapping/>
  </p:clrMapOvr>
  <p:transition/>
  <p:timing/>
</p:sld>
</file>

<file path=ppt/slides/slide6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92211" y="2005686"/>
            <a:ext cx="5429390"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HƯỚNG PHÁT TRIỂN</a:t>
            </a:r>
          </a:p>
        </p:txBody>
      </p:sp>
      <p:sp>
        <p:nvSpPr>
          <p:cNvPr id="4" name="Freeform 4"/>
          <p:cNvSpPr/>
          <p:nvPr/>
        </p:nvSpPr>
        <p:spPr>
          <a:xfrm>
            <a:off x="17121601" y="1723638"/>
            <a:ext cx="661939" cy="697445"/>
          </a:xfrm>
          <a:custGeom>
            <a:rect l="l" t="t" r="r" b="b"/>
            <a:pathLst>
              <a:path w="661939" h="697445">
                <a:moveTo>
                  <a:pt x="0" y="0"/>
                </a:moveTo>
                <a:lnTo>
                  <a:pt x="661940" y="0"/>
                </a:lnTo>
                <a:lnTo>
                  <a:pt x="661940" y="697446"/>
                </a:lnTo>
                <a:lnTo>
                  <a:pt x="0" y="6974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319888" y="1657670"/>
            <a:ext cx="615251" cy="829382"/>
          </a:xfrm>
          <a:custGeom>
            <a:rect l="l" t="t" r="r" b="b"/>
            <a:pathLst>
              <a:path w="615251" h="829382">
                <a:moveTo>
                  <a:pt x="0" y="0"/>
                </a:moveTo>
                <a:lnTo>
                  <a:pt x="615251" y="0"/>
                </a:lnTo>
                <a:lnTo>
                  <a:pt x="615251" y="829382"/>
                </a:lnTo>
                <a:lnTo>
                  <a:pt x="0" y="8293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4033821" y="1657670"/>
            <a:ext cx="517233" cy="829382"/>
          </a:xfrm>
          <a:custGeom>
            <a:rect l="l" t="t" r="r" b="b"/>
            <a:pathLst>
              <a:path w="517233" h="829382">
                <a:moveTo>
                  <a:pt x="0" y="0"/>
                </a:moveTo>
                <a:lnTo>
                  <a:pt x="517233" y="0"/>
                </a:lnTo>
                <a:lnTo>
                  <a:pt x="517233" y="829382"/>
                </a:lnTo>
                <a:lnTo>
                  <a:pt x="0" y="8293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8" name="TextBox 8"/>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Kết luận và đề xuất</a:t>
            </a:r>
          </a:p>
        </p:txBody>
      </p:sp>
      <p:sp>
        <p:nvSpPr>
          <p:cNvPr id="9" name="TextBox 9"/>
          <p:cNvSpPr txBox="1"/>
          <p:nvPr/>
        </p:nvSpPr>
        <p:spPr>
          <a:xfrm>
            <a:off x="1349915" y="1939718"/>
            <a:ext cx="2683907"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KẾT LUẬN</a:t>
            </a:r>
          </a:p>
        </p:txBody>
      </p:sp>
      <p:sp>
        <p:nvSpPr>
          <p:cNvPr id="10" name="TextBox 10"/>
          <p:cNvSpPr txBox="1"/>
          <p:nvPr/>
        </p:nvSpPr>
        <p:spPr>
          <a:xfrm>
            <a:off x="6753375" y="2005686"/>
            <a:ext cx="2390625"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GIỚI HẠN</a:t>
            </a:r>
          </a:p>
        </p:txBody>
      </p:sp>
      <p:sp>
        <p:nvSpPr>
          <p:cNvPr id="11" name="TextBox 11"/>
          <p:cNvSpPr txBox="1"/>
          <p:nvPr/>
        </p:nvSpPr>
        <p:spPr>
          <a:xfrm>
            <a:off x="469896" y="2669480"/>
            <a:ext cx="5358471" cy="7069455"/>
          </a:xfrm>
          <a:prstGeom prst="rect">
            <a:avLst/>
          </a:prstGeom>
        </p:spPr>
        <p:txBody>
          <a:bodyPr lIns="0" tIns="0" rIns="0" bIns="0" rtlCol="0" anchor="t">
            <a:spAutoFit/>
          </a:bodyPr>
          <a:lstStyle/>
          <a:p>
            <a:pPr algn="l">
              <a:lnSpc>
                <a:spcPts val="6240"/>
              </a:lnSpc>
            </a:pPr>
            <a:r>
              <a:rPr lang="en-US" sz="3900">
                <a:solidFill>
                  <a:srgbClr val="000000"/>
                </a:solidFill>
                <a:latin typeface="Literata"/>
                <a:ea typeface="Literata"/>
                <a:cs typeface="Literata"/>
                <a:sym typeface="Literata"/>
              </a:rPr>
              <a:t>Các phép phân đoạn có ưu nhược điểm khác nhau song đều tốt khi phân vùng các chi tiết của ảnh</a:t>
            </a:r>
          </a:p>
          <a:p>
            <a:pPr algn="l">
              <a:lnSpc>
                <a:spcPts val="6240"/>
              </a:lnSpc>
              <a:spcBef>
                <a:spcPct val="0"/>
              </a:spcBef>
            </a:pPr>
            <a:r>
              <a:rPr lang="en-US" sz="3900">
                <a:solidFill>
                  <a:srgbClr val="000000"/>
                </a:solidFill>
                <a:latin typeface="Literata"/>
                <a:ea typeface="Literata"/>
                <a:cs typeface="Literata"/>
                <a:sym typeface="Literata"/>
              </a:rPr>
              <a:t>Có ứng dụng thực tế trong ảnh y tế, ảnh vệ tinh, thị giác máy tính.</a:t>
            </a:r>
          </a:p>
        </p:txBody>
      </p:sp>
      <p:sp>
        <p:nvSpPr>
          <p:cNvPr id="12" name="TextBox 12"/>
          <p:cNvSpPr txBox="1"/>
          <p:nvPr/>
        </p:nvSpPr>
        <p:spPr>
          <a:xfrm>
            <a:off x="6333741" y="2723976"/>
            <a:ext cx="5358471" cy="6278880"/>
          </a:xfrm>
          <a:prstGeom prst="rect">
            <a:avLst/>
          </a:prstGeom>
        </p:spPr>
        <p:txBody>
          <a:bodyPr lIns="0" tIns="0" rIns="0" bIns="0" rtlCol="0" anchor="t">
            <a:spAutoFit/>
          </a:bodyPr>
          <a:lstStyle/>
          <a:p>
            <a:pPr algn="l">
              <a:lnSpc>
                <a:spcPts val="6240"/>
              </a:lnSpc>
            </a:pPr>
            <a:r>
              <a:rPr lang="en-US" sz="3900">
                <a:solidFill>
                  <a:srgbClr val="000000"/>
                </a:solidFill>
                <a:latin typeface="Literata"/>
                <a:ea typeface="Literata"/>
                <a:cs typeface="Literata"/>
                <a:sym typeface="Literata"/>
              </a:rPr>
              <a:t>Hiệu quả đầu ra sau khi xử lí ảnh tùy thuộc vào độ tốt của tiền xử lí ảnh</a:t>
            </a:r>
          </a:p>
          <a:p>
            <a:pPr algn="l">
              <a:lnSpc>
                <a:spcPts val="6240"/>
              </a:lnSpc>
            </a:pPr>
            <a:endParaRPr lang="en-US" sz="3900">
              <a:solidFill>
                <a:srgbClr val="000000"/>
              </a:solidFill>
              <a:latin typeface="Literata"/>
              <a:ea typeface="Literata"/>
              <a:cs typeface="Literata"/>
              <a:sym typeface="Literata"/>
            </a:endParaRPr>
          </a:p>
          <a:p>
            <a:pPr algn="l">
              <a:lnSpc>
                <a:spcPts val="6240"/>
              </a:lnSpc>
              <a:spcBef>
                <a:spcPct val="0"/>
              </a:spcBef>
            </a:pPr>
            <a:r>
              <a:rPr lang="en-US" sz="3900">
                <a:solidFill>
                  <a:srgbClr val="000000"/>
                </a:solidFill>
                <a:latin typeface="Literata"/>
                <a:ea typeface="Literata"/>
                <a:cs typeface="Literata"/>
                <a:sym typeface="Literata"/>
              </a:rPr>
              <a:t>Không phù hợp với các ảnh có chi tiết đường biên vùng mờ</a:t>
            </a:r>
          </a:p>
        </p:txBody>
      </p:sp>
      <p:sp>
        <p:nvSpPr>
          <p:cNvPr id="13" name="TextBox 13"/>
          <p:cNvSpPr txBox="1"/>
          <p:nvPr/>
        </p:nvSpPr>
        <p:spPr>
          <a:xfrm>
            <a:off x="12227531" y="2669480"/>
            <a:ext cx="5358471" cy="5488305"/>
          </a:xfrm>
          <a:prstGeom prst="rect">
            <a:avLst/>
          </a:prstGeom>
        </p:spPr>
        <p:txBody>
          <a:bodyPr lIns="0" tIns="0" rIns="0" bIns="0" rtlCol="0" anchor="t">
            <a:spAutoFit/>
          </a:bodyPr>
          <a:lstStyle/>
          <a:p>
            <a:pPr algn="l">
              <a:lnSpc>
                <a:spcPts val="6240"/>
              </a:lnSpc>
            </a:pPr>
            <a:r>
              <a:rPr lang="en-US" sz="3900">
                <a:solidFill>
                  <a:srgbClr val="000000"/>
                </a:solidFill>
                <a:latin typeface="Literata"/>
                <a:ea typeface="Literata"/>
                <a:cs typeface="Literata"/>
                <a:sym typeface="Literata"/>
              </a:rPr>
              <a:t>Cần lọc nhiễu ảnh trước khi áp dụng các phép phân đoạn</a:t>
            </a:r>
          </a:p>
          <a:p>
            <a:pPr algn="l">
              <a:lnSpc>
                <a:spcPts val="6240"/>
              </a:lnSpc>
            </a:pPr>
            <a:endParaRPr lang="en-US" sz="3900">
              <a:solidFill>
                <a:srgbClr val="000000"/>
              </a:solidFill>
              <a:latin typeface="Literata"/>
              <a:ea typeface="Literata"/>
              <a:cs typeface="Literata"/>
              <a:sym typeface="Literata"/>
            </a:endParaRPr>
          </a:p>
          <a:p>
            <a:pPr algn="l">
              <a:lnSpc>
                <a:spcPts val="6240"/>
              </a:lnSpc>
            </a:pPr>
            <a:r>
              <a:rPr lang="en-US" sz="3900">
                <a:solidFill>
                  <a:srgbClr val="000000"/>
                </a:solidFill>
                <a:latin typeface="Literata"/>
                <a:ea typeface="Literata"/>
                <a:cs typeface="Literata"/>
                <a:sym typeface="Literata"/>
              </a:rPr>
              <a:t>Thay đổi các tham số </a:t>
            </a:r>
          </a:p>
          <a:p>
            <a:pPr algn="l">
              <a:lnSpc>
                <a:spcPts val="6240"/>
              </a:lnSpc>
              <a:spcBef>
                <a:spcPct val="0"/>
              </a:spcBef>
            </a:pPr>
            <a:r>
              <a:rPr lang="en-US" sz="3900">
                <a:solidFill>
                  <a:srgbClr val="000000"/>
                </a:solidFill>
                <a:latin typeface="Literata"/>
                <a:ea typeface="Literata"/>
                <a:cs typeface="Literata"/>
                <a:sym typeface="Literata"/>
              </a:rPr>
              <a:t>đầu vào để tối ưu kết quả</a:t>
            </a:r>
          </a:p>
        </p:txBody>
      </p:sp>
      <p:sp>
        <p:nvSpPr>
          <p:cNvPr id="14" name="TextBox 14"/>
          <p:cNvSpPr txBox="1"/>
          <p:nvPr/>
        </p:nvSpPr>
        <p:spPr>
          <a:xfrm>
            <a:off x="9144000" y="636589"/>
            <a:ext cx="8642988" cy="56388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Literata Bold"/>
                <a:ea typeface="Literata Bold"/>
                <a:cs typeface="Literata Bold"/>
                <a:sym typeface="Literata Bold"/>
              </a:rPr>
              <a:t>CÁC KỸ THUẬT PHÂN ĐOẠN ẢNH </a:t>
            </a:r>
          </a:p>
        </p:txBody>
      </p:sp>
    </p:spTree>
  </p:cSld>
  <p:clrMapOvr>
    <a:masterClrMapping/>
  </p:clrMapOvr>
  <p:transition/>
  <p:timing/>
</p:sld>
</file>

<file path=ppt/slides/slide6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589356" y="1939718"/>
            <a:ext cx="5429390"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HƯỚNG PHÁT TRIỂN</a:t>
            </a:r>
          </a:p>
        </p:txBody>
      </p:sp>
      <p:sp>
        <p:nvSpPr>
          <p:cNvPr id="4" name="Freeform 4"/>
          <p:cNvSpPr/>
          <p:nvPr/>
        </p:nvSpPr>
        <p:spPr>
          <a:xfrm>
            <a:off x="16928330" y="1723638"/>
            <a:ext cx="661939" cy="697445"/>
          </a:xfrm>
          <a:custGeom>
            <a:rect l="l" t="t" r="r" b="b"/>
            <a:pathLst>
              <a:path w="661939" h="697445">
                <a:moveTo>
                  <a:pt x="0" y="0"/>
                </a:moveTo>
                <a:lnTo>
                  <a:pt x="661940" y="0"/>
                </a:lnTo>
                <a:lnTo>
                  <a:pt x="661940" y="697446"/>
                </a:lnTo>
                <a:lnTo>
                  <a:pt x="0" y="6974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286875" y="1700095"/>
            <a:ext cx="615251" cy="829382"/>
          </a:xfrm>
          <a:custGeom>
            <a:rect l="l" t="t" r="r" b="b"/>
            <a:pathLst>
              <a:path w="615251" h="829382">
                <a:moveTo>
                  <a:pt x="0" y="0"/>
                </a:moveTo>
                <a:lnTo>
                  <a:pt x="615251" y="0"/>
                </a:lnTo>
                <a:lnTo>
                  <a:pt x="615251" y="829382"/>
                </a:lnTo>
                <a:lnTo>
                  <a:pt x="0" y="8293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4176001" y="1657670"/>
            <a:ext cx="517233" cy="829382"/>
          </a:xfrm>
          <a:custGeom>
            <a:rect l="l" t="t" r="r" b="b"/>
            <a:pathLst>
              <a:path w="517233" h="829382">
                <a:moveTo>
                  <a:pt x="0" y="0"/>
                </a:moveTo>
                <a:lnTo>
                  <a:pt x="517233" y="0"/>
                </a:lnTo>
                <a:lnTo>
                  <a:pt x="517233" y="829382"/>
                </a:lnTo>
                <a:lnTo>
                  <a:pt x="0" y="8293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8" name="TextBox 8"/>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Kết luận và đề xuất</a:t>
            </a:r>
          </a:p>
        </p:txBody>
      </p:sp>
      <p:sp>
        <p:nvSpPr>
          <p:cNvPr id="9" name="TextBox 9"/>
          <p:cNvSpPr txBox="1"/>
          <p:nvPr/>
        </p:nvSpPr>
        <p:spPr>
          <a:xfrm>
            <a:off x="1349915" y="1939718"/>
            <a:ext cx="2683907"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KẾT LUẬN</a:t>
            </a:r>
          </a:p>
        </p:txBody>
      </p:sp>
      <p:sp>
        <p:nvSpPr>
          <p:cNvPr id="10" name="TextBox 10"/>
          <p:cNvSpPr txBox="1"/>
          <p:nvPr/>
        </p:nvSpPr>
        <p:spPr>
          <a:xfrm>
            <a:off x="6753375" y="1939718"/>
            <a:ext cx="2390625"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GIỚI HẠN</a:t>
            </a:r>
          </a:p>
        </p:txBody>
      </p:sp>
      <p:sp>
        <p:nvSpPr>
          <p:cNvPr id="11" name="TextBox 11"/>
          <p:cNvSpPr txBox="1"/>
          <p:nvPr/>
        </p:nvSpPr>
        <p:spPr>
          <a:xfrm>
            <a:off x="469896" y="2606183"/>
            <a:ext cx="5358471" cy="5488305"/>
          </a:xfrm>
          <a:prstGeom prst="rect">
            <a:avLst/>
          </a:prstGeom>
        </p:spPr>
        <p:txBody>
          <a:bodyPr lIns="0" tIns="0" rIns="0" bIns="0" rtlCol="0" anchor="t">
            <a:spAutoFit/>
          </a:bodyPr>
          <a:lstStyle/>
          <a:p>
            <a:pPr algn="l">
              <a:lnSpc>
                <a:spcPts val="6240"/>
              </a:lnSpc>
            </a:pPr>
            <a:r>
              <a:rPr lang="en-US" sz="3900">
                <a:solidFill>
                  <a:srgbClr val="000000"/>
                </a:solidFill>
                <a:latin typeface="Literata"/>
                <a:ea typeface="Literata"/>
                <a:cs typeface="Literata"/>
                <a:sym typeface="Literata"/>
              </a:rPr>
              <a:t>Hai kỹ thuật trên giúp xác định, tách biệt và mô tả hình dạng đối</a:t>
            </a:r>
          </a:p>
          <a:p>
            <a:pPr algn="l">
              <a:lnSpc>
                <a:spcPts val="6240"/>
              </a:lnSpc>
            </a:pPr>
            <a:r>
              <a:rPr lang="en-US" sz="3900">
                <a:solidFill>
                  <a:srgbClr val="000000"/>
                </a:solidFill>
                <a:latin typeface="Literata"/>
                <a:ea typeface="Literata"/>
                <a:cs typeface="Literata"/>
                <a:sym typeface="Literata"/>
              </a:rPr>
              <a:t>tượng trong ảnh</a:t>
            </a:r>
          </a:p>
          <a:p>
            <a:pPr algn="l">
              <a:lnSpc>
                <a:spcPts val="6240"/>
              </a:lnSpc>
              <a:spcBef>
                <a:spcPct val="0"/>
              </a:spcBef>
            </a:pPr>
            <a:r>
              <a:rPr lang="en-US" sz="3900">
                <a:solidFill>
                  <a:srgbClr val="000000"/>
                </a:solidFill>
                <a:latin typeface="Literata"/>
                <a:ea typeface="Literata"/>
                <a:cs typeface="Literata"/>
                <a:sym typeface="Literata"/>
              </a:rPr>
              <a:t>Có ứng dụng thực tế trong ảnh đường xá, ảnh biển số xe.</a:t>
            </a:r>
          </a:p>
        </p:txBody>
      </p:sp>
      <p:sp>
        <p:nvSpPr>
          <p:cNvPr id="12" name="TextBox 12"/>
          <p:cNvSpPr txBox="1"/>
          <p:nvPr/>
        </p:nvSpPr>
        <p:spPr>
          <a:xfrm>
            <a:off x="6075020" y="2567577"/>
            <a:ext cx="5358471" cy="7069455"/>
          </a:xfrm>
          <a:prstGeom prst="rect">
            <a:avLst/>
          </a:prstGeom>
        </p:spPr>
        <p:txBody>
          <a:bodyPr lIns="0" tIns="0" rIns="0" bIns="0" rtlCol="0" anchor="t">
            <a:spAutoFit/>
          </a:bodyPr>
          <a:lstStyle/>
          <a:p>
            <a:pPr algn="l">
              <a:lnSpc>
                <a:spcPts val="6240"/>
              </a:lnSpc>
              <a:spcBef>
                <a:spcPct val="0"/>
              </a:spcBef>
            </a:pPr>
            <a:r>
              <a:rPr lang="en-US" sz="3900">
                <a:solidFill>
                  <a:srgbClr val="000000"/>
                </a:solidFill>
                <a:latin typeface="Literata"/>
                <a:ea typeface="Literata"/>
                <a:cs typeface="Literata"/>
                <a:sym typeface="Literata"/>
              </a:rPr>
              <a:t>Phụ thuộc vào chất lượng ảnh đầu vào và ngưỡng phân tách; khó xử lý khi các vật thể dính liền hoặc chồng lấn; kết quả dễ sai lệch nếu ảnh bị nhiễu hoặc ánh sáng không đều.</a:t>
            </a:r>
          </a:p>
        </p:txBody>
      </p:sp>
      <p:sp>
        <p:nvSpPr>
          <p:cNvPr id="13" name="TextBox 13"/>
          <p:cNvSpPr txBox="1"/>
          <p:nvPr/>
        </p:nvSpPr>
        <p:spPr>
          <a:xfrm>
            <a:off x="12098200" y="2606183"/>
            <a:ext cx="5358471" cy="7069455"/>
          </a:xfrm>
          <a:prstGeom prst="rect">
            <a:avLst/>
          </a:prstGeom>
        </p:spPr>
        <p:txBody>
          <a:bodyPr lIns="0" tIns="0" rIns="0" bIns="0" rtlCol="0" anchor="t">
            <a:spAutoFit/>
          </a:bodyPr>
          <a:lstStyle/>
          <a:p>
            <a:pPr algn="l">
              <a:lnSpc>
                <a:spcPts val="6240"/>
              </a:lnSpc>
              <a:spcBef>
                <a:spcPct val="0"/>
              </a:spcBef>
            </a:pPr>
            <a:r>
              <a:rPr lang="en-US" sz="3900">
                <a:solidFill>
                  <a:srgbClr val="000000"/>
                </a:solidFill>
                <a:latin typeface="Literata"/>
                <a:ea typeface="Literata"/>
                <a:cs typeface="Literata"/>
                <a:sym typeface="Literata"/>
              </a:rPr>
              <a:t>Kết hợp Connected Components và Contour để phân tích, nhận dạng đối tượng phức tạp hơn; ứng dụng học sâu để tự động phát hiện và gán nhãn; mở rộng sang xử lý ảnh màu.</a:t>
            </a:r>
          </a:p>
        </p:txBody>
      </p:sp>
      <p:sp>
        <p:nvSpPr>
          <p:cNvPr id="14" name="TextBox 14"/>
          <p:cNvSpPr txBox="1"/>
          <p:nvPr/>
        </p:nvSpPr>
        <p:spPr>
          <a:xfrm>
            <a:off x="7948688" y="440689"/>
            <a:ext cx="10497260" cy="1109346"/>
          </a:xfrm>
          <a:prstGeom prst="rect">
            <a:avLst/>
          </a:prstGeom>
        </p:spPr>
        <p:txBody>
          <a:bodyPr lIns="0" tIns="0" rIns="0" bIns="0" rtlCol="0" anchor="t">
            <a:spAutoFit/>
          </a:bodyPr>
          <a:lstStyle/>
          <a:p>
            <a:pPr algn="ctr">
              <a:lnSpc>
                <a:spcPts val="4479"/>
              </a:lnSpc>
              <a:spcBef>
                <a:spcPct val="0"/>
              </a:spcBef>
            </a:pPr>
            <a:r>
              <a:rPr lang="en-US" sz="3199" b="1" spc="319">
                <a:solidFill>
                  <a:srgbClr val="000000"/>
                </a:solidFill>
                <a:latin typeface="Literata Bold"/>
                <a:ea typeface="Literata Bold"/>
                <a:cs typeface="Literata Bold"/>
                <a:sym typeface="Literata Bold"/>
              </a:rPr>
              <a:t>XÁC ĐỊNH ĐỐI TƯỢNG QUA CONNECTED COMPONENTS VÀ CONTOUR</a:t>
            </a:r>
          </a:p>
        </p:txBody>
      </p:sp>
    </p:spTree>
  </p:cSld>
  <p:clrMapOvr>
    <a:masterClrMapping/>
  </p:clrMapOvr>
  <p:transition/>
  <p:timing/>
</p:sld>
</file>

<file path=ppt/slides/slide6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109089"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92211" y="1873749"/>
            <a:ext cx="5429390"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HƯỚNG PHÁT TRIỂN</a:t>
            </a:r>
          </a:p>
        </p:txBody>
      </p:sp>
      <p:sp>
        <p:nvSpPr>
          <p:cNvPr id="4" name="Freeform 4"/>
          <p:cNvSpPr/>
          <p:nvPr/>
        </p:nvSpPr>
        <p:spPr>
          <a:xfrm>
            <a:off x="17121601" y="1657670"/>
            <a:ext cx="661939" cy="697445"/>
          </a:xfrm>
          <a:custGeom>
            <a:rect l="l" t="t" r="r" b="b"/>
            <a:pathLst>
              <a:path w="661939" h="697445">
                <a:moveTo>
                  <a:pt x="0" y="0"/>
                </a:moveTo>
                <a:lnTo>
                  <a:pt x="661940" y="0"/>
                </a:lnTo>
                <a:lnTo>
                  <a:pt x="661940" y="697445"/>
                </a:lnTo>
                <a:lnTo>
                  <a:pt x="0" y="6974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253089" y="1591702"/>
            <a:ext cx="615251" cy="829382"/>
          </a:xfrm>
          <a:custGeom>
            <a:rect l="l" t="t" r="r" b="b"/>
            <a:pathLst>
              <a:path w="615251" h="829382">
                <a:moveTo>
                  <a:pt x="0" y="0"/>
                </a:moveTo>
                <a:lnTo>
                  <a:pt x="615250" y="0"/>
                </a:lnTo>
                <a:lnTo>
                  <a:pt x="615250" y="829382"/>
                </a:lnTo>
                <a:lnTo>
                  <a:pt x="0" y="8293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4033821" y="1657670"/>
            <a:ext cx="517233" cy="829382"/>
          </a:xfrm>
          <a:custGeom>
            <a:rect l="l" t="t" r="r" b="b"/>
            <a:pathLst>
              <a:path w="517233" h="829382">
                <a:moveTo>
                  <a:pt x="0" y="0"/>
                </a:moveTo>
                <a:lnTo>
                  <a:pt x="517233" y="0"/>
                </a:lnTo>
                <a:lnTo>
                  <a:pt x="517233" y="829382"/>
                </a:lnTo>
                <a:lnTo>
                  <a:pt x="0" y="8293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8" name="TextBox 8"/>
          <p:cNvSpPr txBox="1"/>
          <p:nvPr/>
        </p:nvSpPr>
        <p:spPr>
          <a:xfrm>
            <a:off x="469896" y="419417"/>
            <a:ext cx="14012343" cy="1094740"/>
          </a:xfrm>
          <a:prstGeom prst="rect">
            <a:avLst/>
          </a:prstGeom>
        </p:spPr>
        <p:txBody>
          <a:bodyPr lIns="0" tIns="0" rIns="0" bIns="0" rtlCol="0" anchor="t">
            <a:spAutoFit/>
          </a:bodyPr>
          <a:lstStyle/>
          <a:p>
            <a:pPr algn="l">
              <a:lnSpc>
                <a:spcPts val="8959"/>
              </a:lnSpc>
            </a:pPr>
            <a:r>
              <a:rPr lang="en-US" sz="6399">
                <a:solidFill>
                  <a:srgbClr val="000000"/>
                </a:solidFill>
                <a:latin typeface="Calistoga"/>
                <a:ea typeface="Calistoga"/>
                <a:cs typeface="Calistoga"/>
                <a:sym typeface="Calistoga"/>
              </a:rPr>
              <a:t>5. Kết luận và đề xuất</a:t>
            </a:r>
          </a:p>
        </p:txBody>
      </p:sp>
      <p:sp>
        <p:nvSpPr>
          <p:cNvPr id="9" name="TextBox 9"/>
          <p:cNvSpPr txBox="1"/>
          <p:nvPr/>
        </p:nvSpPr>
        <p:spPr>
          <a:xfrm>
            <a:off x="1349915" y="1939718"/>
            <a:ext cx="2683907"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KẾT LUẬN</a:t>
            </a:r>
          </a:p>
        </p:txBody>
      </p:sp>
      <p:sp>
        <p:nvSpPr>
          <p:cNvPr id="10" name="TextBox 10"/>
          <p:cNvSpPr txBox="1"/>
          <p:nvPr/>
        </p:nvSpPr>
        <p:spPr>
          <a:xfrm>
            <a:off x="6753375" y="1939718"/>
            <a:ext cx="2390625" cy="547334"/>
          </a:xfrm>
          <a:prstGeom prst="rect">
            <a:avLst/>
          </a:prstGeom>
        </p:spPr>
        <p:txBody>
          <a:bodyPr lIns="0" tIns="0" rIns="0" bIns="0" rtlCol="0" anchor="t">
            <a:spAutoFit/>
          </a:bodyPr>
          <a:lstStyle/>
          <a:p>
            <a:pPr algn="ctr">
              <a:lnSpc>
                <a:spcPts val="4481"/>
              </a:lnSpc>
              <a:spcBef>
                <a:spcPct val="0"/>
              </a:spcBef>
            </a:pPr>
            <a:r>
              <a:rPr lang="en-US" sz="3201" spc="320">
                <a:solidFill>
                  <a:srgbClr val="000000"/>
                </a:solidFill>
                <a:latin typeface="Literata"/>
                <a:ea typeface="Literata"/>
                <a:cs typeface="Literata"/>
                <a:sym typeface="Literata"/>
              </a:rPr>
              <a:t>GIỚI HẠN</a:t>
            </a:r>
          </a:p>
        </p:txBody>
      </p:sp>
      <p:sp>
        <p:nvSpPr>
          <p:cNvPr id="11" name="TextBox 11"/>
          <p:cNvSpPr txBox="1"/>
          <p:nvPr/>
        </p:nvSpPr>
        <p:spPr>
          <a:xfrm>
            <a:off x="493885" y="2669480"/>
            <a:ext cx="5737001" cy="6278880"/>
          </a:xfrm>
          <a:prstGeom prst="rect">
            <a:avLst/>
          </a:prstGeom>
        </p:spPr>
        <p:txBody>
          <a:bodyPr lIns="0" tIns="0" rIns="0" bIns="0" rtlCol="0" anchor="t">
            <a:spAutoFit/>
          </a:bodyPr>
          <a:lstStyle/>
          <a:p>
            <a:pPr algn="l">
              <a:lnSpc>
                <a:spcPts val="6240"/>
              </a:lnSpc>
              <a:spcBef>
                <a:spcPct val="0"/>
              </a:spcBef>
            </a:pPr>
            <a:r>
              <a:rPr lang="en-US" sz="3900">
                <a:solidFill>
                  <a:srgbClr val="000000"/>
                </a:solidFill>
                <a:latin typeface="Literata"/>
                <a:ea typeface="Literata"/>
                <a:cs typeface="Literata"/>
                <a:sym typeface="Literata"/>
              </a:rPr>
              <a:t>Phương pháp mô tả đối tượng thông qua biên hoặc đường bao, giúp biểu diễn hình dạng, ranh giới và cấu trúc của vật thể một cách trực quan và hiệu quả trong xử lý ảnh.</a:t>
            </a:r>
          </a:p>
        </p:txBody>
      </p:sp>
      <p:sp>
        <p:nvSpPr>
          <p:cNvPr id="12" name="TextBox 12"/>
          <p:cNvSpPr txBox="1"/>
          <p:nvPr/>
        </p:nvSpPr>
        <p:spPr>
          <a:xfrm>
            <a:off x="6230885" y="2669480"/>
            <a:ext cx="5358471" cy="6278880"/>
          </a:xfrm>
          <a:prstGeom prst="rect">
            <a:avLst/>
          </a:prstGeom>
        </p:spPr>
        <p:txBody>
          <a:bodyPr lIns="0" tIns="0" rIns="0" bIns="0" rtlCol="0" anchor="t">
            <a:spAutoFit/>
          </a:bodyPr>
          <a:lstStyle/>
          <a:p>
            <a:pPr algn="l">
              <a:lnSpc>
                <a:spcPts val="6240"/>
              </a:lnSpc>
              <a:spcBef>
                <a:spcPct val="0"/>
              </a:spcBef>
            </a:pPr>
            <a:r>
              <a:rPr lang="en-US" sz="3900">
                <a:solidFill>
                  <a:srgbClr val="000000"/>
                </a:solidFill>
                <a:latin typeface="Literata"/>
                <a:ea typeface="Literata"/>
                <a:cs typeface="Literata"/>
                <a:sym typeface="Literata"/>
              </a:rPr>
              <a:t>Phụ thuộc vào độ chính xác khi trích biên; dễ bị ảnh hưởng bởi nhiễu và biến dạng; khó biểu diễn các vùng nội thất hoặc vật thể có cấu trúc phức tạp bên trong.</a:t>
            </a:r>
          </a:p>
        </p:txBody>
      </p:sp>
      <p:sp>
        <p:nvSpPr>
          <p:cNvPr id="13" name="TextBox 13"/>
          <p:cNvSpPr txBox="1"/>
          <p:nvPr/>
        </p:nvSpPr>
        <p:spPr>
          <a:xfrm>
            <a:off x="12009134" y="2669480"/>
            <a:ext cx="6056201" cy="7069455"/>
          </a:xfrm>
          <a:prstGeom prst="rect">
            <a:avLst/>
          </a:prstGeom>
        </p:spPr>
        <p:txBody>
          <a:bodyPr lIns="0" tIns="0" rIns="0" bIns="0" rtlCol="0" anchor="t">
            <a:spAutoFit/>
          </a:bodyPr>
          <a:lstStyle/>
          <a:p>
            <a:pPr algn="l">
              <a:lnSpc>
                <a:spcPts val="6240"/>
              </a:lnSpc>
              <a:spcBef>
                <a:spcPct val="0"/>
              </a:spcBef>
            </a:pPr>
            <a:r>
              <a:rPr lang="en-US" sz="3900">
                <a:solidFill>
                  <a:srgbClr val="000000"/>
                </a:solidFill>
                <a:latin typeface="Literata"/>
                <a:ea typeface="Literata"/>
                <a:cs typeface="Literata"/>
                <a:sym typeface="Literata"/>
              </a:rPr>
              <a:t>Kết hợp Boundary Representation với các mô hình hình học và học sâu để mô tả đối tượng chính xác hơn; áp dụng cho ảnh 3D, ảnh y tế, và thị giác máy nhằm nhận dạng hình dạng phức tạp và tái tạo vật thể.</a:t>
            </a:r>
          </a:p>
        </p:txBody>
      </p:sp>
      <p:sp>
        <p:nvSpPr>
          <p:cNvPr id="14" name="TextBox 14"/>
          <p:cNvSpPr txBox="1"/>
          <p:nvPr/>
        </p:nvSpPr>
        <p:spPr>
          <a:xfrm>
            <a:off x="9322683" y="413384"/>
            <a:ext cx="7798919" cy="1154431"/>
          </a:xfrm>
          <a:prstGeom prst="rect">
            <a:avLst/>
          </a:prstGeom>
        </p:spPr>
        <p:txBody>
          <a:bodyPr lIns="0" tIns="0" rIns="0" bIns="0" rtlCol="0" anchor="t">
            <a:spAutoFit/>
          </a:bodyPr>
          <a:lstStyle/>
          <a:p>
            <a:pPr algn="ctr">
              <a:lnSpc>
                <a:spcPts val="4619"/>
              </a:lnSpc>
              <a:spcBef>
                <a:spcPct val="0"/>
              </a:spcBef>
            </a:pPr>
            <a:r>
              <a:rPr lang="en-US" sz="3299" b="1" spc="329">
                <a:solidFill>
                  <a:srgbClr val="000000"/>
                </a:solidFill>
                <a:latin typeface="Arial" pitchFamily="34" charset="0"/>
                <a:ea typeface="Open Sauce Bold"/>
                <a:cs typeface="Arial" pitchFamily="34" charset="0"/>
                <a:sym typeface="Open Sauce Bold"/>
              </a:rPr>
              <a:t>BIỂU DIỄN BIÊN – BOUNDARY REPRESENTATION</a:t>
            </a:r>
          </a:p>
        </p:txBody>
      </p:sp>
    </p:spTree>
  </p:cSld>
  <p:clrMapOvr>
    <a:masterClrMapping/>
  </p:clrMapOvr>
  <p:transition/>
  <p:timing/>
</p:sld>
</file>

<file path=ppt/slides/slide6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287014"/>
            <a:ext cx="9926914" cy="596901"/>
          </a:xfrm>
          <a:prstGeom prst="rect">
            <a:avLst/>
          </a:prstGeom>
        </p:spPr>
        <p:txBody>
          <a:bodyPr lIns="0" tIns="0" rIns="0" bIns="0" rtlCol="0" anchor="t">
            <a:spAutoFit/>
          </a:bodyPr>
          <a:lstStyle/>
          <a:p>
            <a:pPr algn="ctr">
              <a:lnSpc>
                <a:spcPts val="4899"/>
              </a:lnSpc>
              <a:spcBef>
                <a:spcPct val="0"/>
              </a:spcBef>
            </a:pPr>
            <a:r>
              <a:rPr lang="en-US" sz="3499" spc="349">
                <a:solidFill>
                  <a:srgbClr val="000000"/>
                </a:solidFill>
                <a:latin typeface="Calistoga"/>
                <a:ea typeface="Calistoga"/>
                <a:cs typeface="Calistoga"/>
                <a:sym typeface="Calistoga"/>
              </a:rPr>
              <a:t>THANK YOU FOR LISTENING</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Custom</PresentationFormat>
  <Paragraphs>630</Paragraphs>
  <Slides>68</Slides>
  <Notes>0</Notes>
  <TotalTime>61</TotalTime>
  <HiddenSlides>0</HiddenSlides>
  <MMClips>0</MMClips>
  <ScaleCrop>0</ScaleCrop>
  <HeadingPairs>
    <vt:vector baseType="variant" size="6">
      <vt:variant>
        <vt:lpstr>Fonts used</vt:lpstr>
      </vt:variant>
      <vt:variant>
        <vt:i4>9</vt:i4>
      </vt:variant>
      <vt:variant>
        <vt:lpstr>Theme</vt:lpstr>
      </vt:variant>
      <vt:variant>
        <vt:i4>1</vt:i4>
      </vt:variant>
      <vt:variant>
        <vt:lpstr>Slide Titles</vt:lpstr>
      </vt:variant>
      <vt:variant>
        <vt:i4>68</vt:i4>
      </vt:variant>
    </vt:vector>
  </HeadingPairs>
  <TitlesOfParts>
    <vt:vector baseType="lpstr" size="78">
      <vt:lpstr>Arial</vt:lpstr>
      <vt:lpstr>Calibri</vt:lpstr>
      <vt:lpstr>Literata</vt:lpstr>
      <vt:lpstr>Open Sauce</vt:lpstr>
      <vt:lpstr>DM Serif Display</vt:lpstr>
      <vt:lpstr>Calistoga</vt:lpstr>
      <vt:lpstr>Literata Bold</vt:lpstr>
      <vt:lpstr>Literata Italics</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19.1200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Black and White Simple Minimalist Pitch Deck Marketing Presentation</dc:title>
  <cp:lastModifiedBy>Lê Hoàng Anh</cp:lastModifiedBy>
  <cp:revision>5</cp:revision>
  <dcterms:created xsi:type="dcterms:W3CDTF">2006-08-16T00:00:00Z</dcterms:created>
  <dcterms:modified xsi:type="dcterms:W3CDTF">2025-11-18T04:45:37Z</dcterms:modified>
</cp:coreProperties>
</file>